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011680" y="-2560320"/>
            <a:ext cx="7132320" cy="7132320"/>
          </a:xfrm>
          <a:prstGeom prst="ellipse">
            <a:avLst/>
          </a:prstGeom>
          <a:solidFill>
            <a:srgbClr val="1A1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4480560"/>
            <a:ext cx="4754880" cy="4754880"/>
          </a:xfrm>
          <a:prstGeom prst="ellipse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CC2FF"/>
                </a:solidFill>
                <a:latin typeface="Segoe UI"/>
              </a:rPr>
              <a:t>CASE STUDY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96012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 i="0">
                <a:solidFill>
                  <a:srgbClr val="4CC2FF"/>
                </a:solidFill>
                <a:latin typeface="Segoe UI"/>
              </a:rPr>
              <a:t>Hydro-Québec.</a:t>
            </a:r>
          </a:p>
          <a:p>
            <a:pPr algn="l"/>
            <a:r>
              <a:rPr sz="9600" b="1" i="0">
                <a:solidFill>
                  <a:srgbClr val="7C5CFF"/>
                </a:solidFill>
                <a:latin typeface="Segoe UI"/>
              </a:rPr>
              <a:t>CTEM in practice.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3891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1">
                <a:solidFill>
                  <a:srgbClr val="4CC2FF"/>
                </a:solidFill>
                <a:latin typeface="Segoe UI"/>
              </a:rPr>
              <a:t>One customer, two conversations.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74920"/>
            <a:ext cx="8961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E6ECF5"/>
                </a:solidFill>
                <a:latin typeface="Segoe UI"/>
              </a:rPr>
              <a:t>From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posture dashboards for ITDMs</a:t>
            </a:r>
            <a:r>
              <a:rPr sz="1600" b="0" i="0">
                <a:solidFill>
                  <a:srgbClr val="E6ECF5"/>
                </a:solidFill>
                <a:latin typeface="Segoe UI"/>
              </a:rPr>
              <a:t> to </a:t>
            </a:r>
            <a:r>
              <a:rPr sz="1600" b="0" i="1">
                <a:solidFill>
                  <a:srgbClr val="4CC2FF"/>
                </a:solidFill>
                <a:latin typeface="Segoe UI"/>
              </a:rPr>
              <a:t>attack-path triage for the SOC</a:t>
            </a:r>
            <a:r>
              <a:rPr sz="1600" b="0" i="0">
                <a:solidFill>
                  <a:srgbClr val="E6ECF5"/>
                </a:solidFill>
                <a:latin typeface="Segoe UI"/>
              </a:rPr>
              <a:t> — powered by the same data, translated by agents.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6364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7BD"/>
                </a:solidFill>
                <a:latin typeface="Segoe UI"/>
              </a:rPr>
              <a:t>CyberProbe — open-source security investigation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