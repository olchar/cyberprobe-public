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calmly. This is not a product pitch. The title is the thesis: the SOC is being rewired, and the fabric is starting to matter more than any individual console. Two lines to land: 'consoles are still relevant, but for how long?' and 'from tools you operate to agents that investigate.' Signal the audience that the next 20 minutes will alternate between mindset slides, one customer case, and a live demo. Invite skepticism — this talk assumes a technical and commercial audience.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 the tension honestly. SaaS, dashboards and consoles still work — and for many controls they still should. The question is not 'are they useful?' but 'are they the right primary interface for the next ten years?' Land the pull quote: the adversary isn't manually opening fifteen browser tabs. Why are we structuring our defenders' day around doing exactly that? Pause. Let the room answer in their heads.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a correction of a lazy framing: the '15 consoles' critique is a 2020 story. Defender XDR already consolidated identity, endpoint, email, cloud apps and cloud into one portal, with correlated incidents, a unified entity page, one hunting surface, and Copilot-in-portal assistance. Credit that honestly — the room is full of people who shipped it. Then land the real 2026 gap. Four points: (1) the unified console is still a GUI — expertise lives in analysts' heads, not in reusable code; (2) the workload is bounded by what the vendor ingests — third parties need connectors or stay invisible; (3) a great investigation ends when the tab closes — nothing becomes a playbook, nothing becomes a regression test; (4) reasoning is per-incident, not campaign-wide across 90 days and multiple workspaces. Punch line: the real differentiator is not single pane of glass. It's whether expertise compounds into code or evaporates into a UI session. Lead into slide 4, where the three postures (SaaS-only, SaaS+Copilot, Agentic) make this operational.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Position three postures the room will recognize themselves in. SaaS-only: click-through, tribal knowledge in analysts' heads. SaaS + Copilot bolt-on: chat inside one console, context still stops at the vendor's API. Agentic fabric: natural language across all data, tools chained via MCP, expertise encoded as skills. Emphasize the middle option — it's where most serious buyers are today. The talk is about why the middle is a stepping stone, not a destination. Close with: the senior analysts — the ones who already know where to look — are the first to feel the friction.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 story. At the Cloud Security SE Training in NYC, the content that caught my attention wasn't a product feature — it was the Sentinel platform framing and the MCP servers. Sentinel stopped being 'the SIEM' for me and became the data plane; MCP stopped being a protocol and became the operating model. Name Chris's Security Investigator as an independent confirmation from another practitioner. Two builders, same insight, zero coordination. Land the pull quote: stop asking which console, start asking which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from customers is never 'which product.' It's 'how can Microsoft help in this context?' Answer honestly: not just Defender, not just Sentinel — a combination orchestrated by agents. This is the bridge slide between 'mindset' and 'evidence.' From here on we show how the pieces actually talk to each other. Optional transition: 'I'll make this concrete with a real customer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customer, same data, very different expectations depending on the audience. The ITDM wants residual risk, invest direction, reconciled posture across Azure + on-prem + third parties. The SOC analyst wants the attack path, the choke point, and blast radius — right now. The point isn't that one side is right. The point is that a single dashboard can't serve both conversations. Land the pull quote: 'the data was already there. What was missing was the translation layer.' That translation layer is where agents earn their keep.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layers, bottom up. Data/graph: the signals — Defender XDR, Sentinel Data Lake, Defender for Cloud, Exposure Graph, third-party connectors. Agent/skill: orchestration via MCP — GitHub Copilot, Security Copilot, CyberProbe skills, custom agents. Persona: CISO, ITDM, architect, SOC, Ops — same fabric, different conversations. Close with the CTEM reframe: CTEM isn't a dashboard, it's an ongoing dialogue. Dashboards take a snapshot; dialogues stay current.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Change the register — we stop talking about mindset and start showing proof. Frame CyberProbe honestly: it is my open-source answer to 'how do we actually have this conversation?'. Not a commercial product, not a vendor play — an MIT-licensed reference implementation that anyone can fork. Keep this slide short; it's a breath before the demo.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every card. Scan and call out the three differentiators: (1) 13 agent skills that encode practitioner expertise, (2) 50+ MCP tools including a custom Exposure server, and (3) the mandatory Methodology section on every report — every finding cites the query that produced it, every tool that was used, every fallback that was triggered. If asked: yes, it runs today against Microsoft demo tenants and real customer tenants. The query library has schema pitfalls baked in so users don't re-learn the hard lessons.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Hand-off slide to the live demo. Set expectations: one prompt in VS Code, three phases of investigation, a full report, then a production playbook — all inside a single conversation. Call out portability explicitly: I'm demoing in VS Code with GitHub Copilot because that's where I build, but the exact same skills in .github/skills/, the same MCP servers in .vscode/mcp.json, and the same query library work from the GitHub CLI, Claude Code (if you have an Anthropic subscription — see CLAUDE.md in the repo), or any other MCP-aware agent. The choice of chair is a preference, not a lock-in. That portability is a feature of the fabric, not of CyberProbe. Before switching to VS Code, make the contract with the room: 'if the demo breaks, that's the most honest moment of the talk — because the fallback story is part of the point.'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Narrate the demo while VS Code is live. One prompt identifies the top user with AI-attack alerts in the last 7 days — Bashir Bouttavong, a Critical asset, 36 alerts, 2.5x baseline rate. Phase 2 adds the 141 sign-ins, the 3 Microsoft-owned London IPs, the clean AbuseIPDB score, zero risky sign-ins. Phase 3 reveals 15+ co-actors in the same multi-stage incident. Emphasize what the skill concluded: this is an insider-risk / risky-AI-usage pattern, not an account compromise. No isolation, no reset — IRM triage, policy tuning, manager review. If the demo fails: show the pre-run HTML report instead, and tell the room which three API fallbacks the skill walked through to get the result. That story is the whole 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codification. The narrative becomes a report (HTML + JSON, dark theme, Methodology section, attack-path graph), and the report becomes a Sentinel Playbook via the Preview Playbook Generator. The AI writes Python that reproduces the investigation on every future alert of the same type. Critical frame: response is gated. Auto-comments and triage are safe. One-way doors — isolate a device, reset a password, block a user — stay human-approved. Land the pull quote: 'full circle — an afternoon of natural language became a codified, reusable SOC capability.'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aperture. Investigating faster is the obvious win and the one every vendor demos. The real leverage is in everything we still move slowly on: patching, hardening, reporting, building, collaborating. Emphasize patching and hardening — that's where agentic reaches Change Management, Vuln Management, Detection Engineering. Reporting persona-specific outputs is where the ITDM vs SOC conversation from the Hydro-Québec slide becomes operational. Say clearly: agentic has to be part of every step, not just triage.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urgency without fear-mongering. The offensive side has purpose-built models — Claude Mythos-class, GPT-5.4-Cyber — automating recon, exploit chaining, and phishing at machine speed. If we match that only in Phase 1 triage and leave the rest manual, the asymmetry wins. The defensive answer isn't more tools. It's agentic coverage end-to-end: gather faster, prioritize faster, patch and contain faster. Pull quote to land: 'if the offense is agentic end-to-end, a defense that's agentic only in Phase 1 is already losing.'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the talk. CyberProbe and the demo answered one half of the question: how do agents investigate. This slide answers the other half: in a world of humans and agents, what's the operating layer? Name it: Microsoft Agent 365. It treats agents as first-class identities in Entra, with the same controls, governance, and lifecycle we already apply to employees — access reviews, conditional access, monitoring, compliance, offboarding. The fabric CyberProbe rides on is the same fabric Agent 365 governs. Key line to land: 'we've spent 20 years building identity, security, and governance for humans. Agents need all of it — on day one.' If the room wants depth, point them at the Microsoft Agent 365 customer pitch deck for the product view; CyberProbe is a practitioner view of why it matters. Transition to CTA: the muscle we're building this week, this month, this quarter — is exactly the muscle that scales when agents become as numerous as people.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action, not applause. This week: pick one investigation you hate and automate it with an agent plus one MCP server. This month: route a third-party signal into the lake and let the graph connect it. This quarter: extend agentic beyond triage — patching, hardening, reporting. Always: humans on the one-way doors. Agents propose, humans dispose. The repo is MIT-licensed. Fork it, break it, make it yours. Invite the room to a short Q&amp;A and point to the two LinkedIn articles as further reading — 'The security-posture question nobody can answer in one sentence' and 'Why I built CyberProbe.' Both are on-thesis with this talk.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Oval 1"/>
          <p:cNvSpPr/>
          <p:nvPr/>
        </p:nvSpPr>
        <p:spPr>
          <a:xfrm>
            <a:off x="-1828800" y="-1828800"/>
            <a:ext cx="6400800" cy="6400800"/>
          </a:xfrm>
          <a:prstGeom prst="ellipse">
            <a:avLst/>
          </a:prstGeom>
          <a:solidFill>
            <a:srgbClr val="7C5CFF">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657600"/>
            <a:ext cx="6400800" cy="6400800"/>
          </a:xfrm>
          <a:prstGeom prst="ellipse">
            <a:avLst/>
          </a:prstGeom>
          <a:solidFill>
            <a:srgbClr val="4CC2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10972800" cy="365760"/>
          </a:xfrm>
          <a:prstGeom prst="rect">
            <a:avLst/>
          </a:prstGeom>
          <a:noFill/>
        </p:spPr>
        <p:txBody>
          <a:bodyPr wrap="square" anchor="t" lIns="73152" rIns="73152" tIns="36576" bIns="36576">
            <a:spAutoFit/>
          </a:bodyPr>
          <a:lstStyle/>
          <a:p>
            <a:pPr algn="l">
              <a:lnSpc>
                <a:spcPct val="115000"/>
              </a:lnSpc>
            </a:pPr>
            <a:r>
              <a:rPr sz="1200" b="1" i="0">
                <a:solidFill>
                  <a:srgbClr val="4CC2FF"/>
                </a:solidFill>
                <a:latin typeface="Segoe UI"/>
              </a:rPr>
              <a:t>CYBERPROBE · 2026</a:t>
            </a:r>
          </a:p>
        </p:txBody>
      </p:sp>
      <p:sp>
        <p:nvSpPr>
          <p:cNvPr id="5" name="TextBox 4"/>
          <p:cNvSpPr txBox="1"/>
          <p:nvPr/>
        </p:nvSpPr>
        <p:spPr>
          <a:xfrm>
            <a:off x="640080" y="1005840"/>
            <a:ext cx="10972800" cy="2560320"/>
          </a:xfrm>
          <a:prstGeom prst="rect">
            <a:avLst/>
          </a:prstGeom>
          <a:noFill/>
        </p:spPr>
        <p:txBody>
          <a:bodyPr wrap="square" anchor="t" lIns="73152" rIns="73152" tIns="36576" bIns="36576">
            <a:spAutoFit/>
          </a:bodyPr>
          <a:lstStyle/>
          <a:p>
            <a:pPr algn="l">
              <a:lnSpc>
                <a:spcPct val="100000"/>
              </a:lnSpc>
            </a:pPr>
            <a:r>
              <a:rPr sz="9000" b="1" i="0">
                <a:solidFill>
                  <a:srgbClr val="4CC2FF"/>
                </a:solidFill>
                <a:latin typeface="Segoe UI"/>
              </a:rPr>
              <a:t>Rewiring
</a:t>
            </a:r>
            <a:r>
              <a:rPr sz="9000" b="1" i="0">
                <a:solidFill>
                  <a:srgbClr val="7C5CFF"/>
                </a:solidFill>
                <a:latin typeface="Segoe UI"/>
              </a:rPr>
              <a:t>the SOC.</a:t>
            </a:r>
          </a:p>
        </p:txBody>
      </p:sp>
      <p:sp>
        <p:nvSpPr>
          <p:cNvPr id="6" name="TextBox 5"/>
          <p:cNvSpPr txBox="1"/>
          <p:nvPr/>
        </p:nvSpPr>
        <p:spPr>
          <a:xfrm>
            <a:off x="640080" y="3749039"/>
            <a:ext cx="10058400" cy="548640"/>
          </a:xfrm>
          <a:prstGeom prst="rect">
            <a:avLst/>
          </a:prstGeom>
          <a:noFill/>
        </p:spPr>
        <p:txBody>
          <a:bodyPr wrap="square" anchor="t" lIns="73152" rIns="73152" tIns="36576" bIns="36576">
            <a:spAutoFit/>
          </a:bodyPr>
          <a:lstStyle/>
          <a:p>
            <a:pPr algn="l">
              <a:lnSpc>
                <a:spcPct val="115000"/>
              </a:lnSpc>
            </a:pPr>
            <a:r>
              <a:rPr sz="2600" b="0" i="1">
                <a:solidFill>
                  <a:srgbClr val="4CC2FF"/>
                </a:solidFill>
                <a:latin typeface="Segoe UI"/>
              </a:rPr>
              <a:t>Fabric over consoles.</a:t>
            </a:r>
          </a:p>
        </p:txBody>
      </p:sp>
      <p:sp>
        <p:nvSpPr>
          <p:cNvPr id="7" name="TextBox 6"/>
          <p:cNvSpPr txBox="1"/>
          <p:nvPr/>
        </p:nvSpPr>
        <p:spPr>
          <a:xfrm>
            <a:off x="640080" y="4480560"/>
            <a:ext cx="10058400" cy="1097280"/>
          </a:xfrm>
          <a:prstGeom prst="rect">
            <a:avLst/>
          </a:prstGeom>
          <a:noFill/>
        </p:spPr>
        <p:txBody>
          <a:bodyPr wrap="square" anchor="t" lIns="73152" rIns="73152" tIns="36576" bIns="36576">
            <a:spAutoFit/>
          </a:bodyPr>
          <a:lstStyle/>
          <a:p>
            <a:pPr algn="l">
              <a:lnSpc>
                <a:spcPct val="130000"/>
              </a:lnSpc>
            </a:pPr>
            <a:r>
              <a:rPr sz="2200" b="0" i="0">
                <a:solidFill>
                  <a:srgbClr val="E6ECF5"/>
                </a:solidFill>
                <a:latin typeface="Segoe UI"/>
              </a:rPr>
              <a:t>The shift from </a:t>
            </a:r>
            <a:r>
              <a:rPr sz="2200" b="1" i="0">
                <a:solidFill>
                  <a:srgbClr val="FFFFFF"/>
                </a:solidFill>
                <a:latin typeface="Segoe UI"/>
              </a:rPr>
              <a:t>tools you operate</a:t>
            </a:r>
            <a:r>
              <a:rPr sz="2200" b="0" i="0">
                <a:solidFill>
                  <a:srgbClr val="E6ECF5"/>
                </a:solidFill>
                <a:latin typeface="Segoe UI"/>
              </a:rPr>
              <a:t> to </a:t>
            </a:r>
            <a:r>
              <a:rPr sz="2200" b="0" i="1">
                <a:solidFill>
                  <a:srgbClr val="4CC2FF"/>
                </a:solidFill>
                <a:latin typeface="Segoe UI"/>
              </a:rPr>
              <a:t>agents that investigate</a:t>
            </a:r>
            <a:r>
              <a:rPr sz="2200" b="0" i="0">
                <a:solidFill>
                  <a:srgbClr val="E6ECF5"/>
                </a:solidFill>
                <a:latin typeface="Segoe UI"/>
              </a:rPr>
              <a:t>.</a:t>
            </a:r>
          </a:p>
        </p:txBody>
      </p:sp>
      <p:sp>
        <p:nvSpPr>
          <p:cNvPr id="8" name="TextBox 7"/>
          <p:cNvSpPr txBox="1"/>
          <p:nvPr/>
        </p:nvSpPr>
        <p:spPr>
          <a:xfrm>
            <a:off x="640080" y="6126480"/>
            <a:ext cx="10972800" cy="365760"/>
          </a:xfrm>
          <a:prstGeom prst="rect">
            <a:avLst/>
          </a:prstGeom>
          <a:noFill/>
        </p:spPr>
        <p:txBody>
          <a:bodyPr wrap="square" anchor="t" lIns="73152" rIns="73152" tIns="36576" bIns="36576">
            <a:spAutoFit/>
          </a:bodyPr>
          <a:lstStyle/>
          <a:p>
            <a:pPr algn="l">
              <a:lnSpc>
                <a:spcPct val="115000"/>
              </a:lnSpc>
            </a:pPr>
            <a:r>
              <a:rPr sz="1200" b="0" i="0">
                <a:solidFill>
                  <a:srgbClr val="9AA7BD"/>
                </a:solidFill>
                <a:latin typeface="Segoe UI"/>
              </a:rPr>
              <a:t>Olivier Charron · CyberProbe — open-source security investigation platform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11A33"/>
        </a:solidFill>
        <a:effectLst/>
      </p:bgPr>
    </p:bg>
    <p:spTree>
      <p:nvGrpSpPr>
        <p:cNvPr id="1" name=""/>
        <p:cNvGrpSpPr/>
        <p:nvPr/>
      </p:nvGrpSpPr>
      <p:grpSpPr/>
      <p:sp>
        <p:nvSpPr>
          <p:cNvPr id="2" name="TextBox 1"/>
          <p:cNvSpPr txBox="1"/>
          <p:nvPr/>
        </p:nvSpPr>
        <p:spPr>
          <a:xfrm>
            <a:off x="640080" y="1828800"/>
            <a:ext cx="10972800" cy="1463040"/>
          </a:xfrm>
          <a:prstGeom prst="rect">
            <a:avLst/>
          </a:prstGeom>
          <a:noFill/>
        </p:spPr>
        <p:txBody>
          <a:bodyPr wrap="square" anchor="t" lIns="73152" rIns="73152" tIns="36576" bIns="36576">
            <a:spAutoFit/>
          </a:bodyPr>
          <a:lstStyle/>
          <a:p>
            <a:pPr algn="l">
              <a:lnSpc>
                <a:spcPct val="115000"/>
              </a:lnSpc>
            </a:pPr>
            <a:r>
              <a:rPr sz="6000" b="1" i="0">
                <a:solidFill>
                  <a:srgbClr val="4CC2FF"/>
                </a:solidFill>
                <a:latin typeface="Segoe UI"/>
              </a:rPr>
              <a:t>This is a moment of truth.</a:t>
            </a:r>
          </a:p>
        </p:txBody>
      </p:sp>
      <p:sp>
        <p:nvSpPr>
          <p:cNvPr id="3" name="TextBox 2"/>
          <p:cNvSpPr txBox="1"/>
          <p:nvPr/>
        </p:nvSpPr>
        <p:spPr>
          <a:xfrm>
            <a:off x="640080" y="3474720"/>
            <a:ext cx="10058400" cy="1280160"/>
          </a:xfrm>
          <a:prstGeom prst="rect">
            <a:avLst/>
          </a:prstGeom>
          <a:noFill/>
        </p:spPr>
        <p:txBody>
          <a:bodyPr wrap="square" anchor="t" lIns="73152" rIns="73152" tIns="36576" bIns="36576">
            <a:spAutoFit/>
          </a:bodyPr>
          <a:lstStyle/>
          <a:p>
            <a:pPr algn="l">
              <a:lnSpc>
                <a:spcPct val="130000"/>
              </a:lnSpc>
            </a:pPr>
            <a:r>
              <a:rPr sz="2200" b="0" i="0">
                <a:solidFill>
                  <a:srgbClr val="E6ECF5"/>
                </a:solidFill>
                <a:latin typeface="Segoe UI"/>
              </a:rPr>
              <a:t>Consoles, SaaS, and dashboards are still relevant.
</a:t>
            </a:r>
          </a:p>
          <a:p>
            <a:pPr algn="l">
              <a:lnSpc>
                <a:spcPct val="130000"/>
              </a:lnSpc>
            </a:pPr>
            <a:r>
              <a:rPr sz="2200" b="0" i="1">
                <a:solidFill>
                  <a:srgbClr val="7C5CFF"/>
                </a:solidFill>
                <a:latin typeface="Segoe UI"/>
              </a:rPr>
              <a:t>For how long?</a:t>
            </a:r>
          </a:p>
        </p:txBody>
      </p:sp>
      <p:sp>
        <p:nvSpPr>
          <p:cNvPr id="4" name="TextBox 3"/>
          <p:cNvSpPr txBox="1"/>
          <p:nvPr/>
        </p:nvSpPr>
        <p:spPr>
          <a:xfrm>
            <a:off x="640080" y="5486400"/>
            <a:ext cx="10972800" cy="457200"/>
          </a:xfrm>
          <a:prstGeom prst="rect">
            <a:avLst/>
          </a:prstGeom>
          <a:noFill/>
        </p:spPr>
        <p:txBody>
          <a:bodyPr wrap="square" anchor="t" lIns="73152" rIns="73152" tIns="36576" bIns="36576">
            <a:spAutoFit/>
          </a:bodyPr>
          <a:lstStyle/>
          <a:p>
            <a:pPr algn="l">
              <a:lnSpc>
                <a:spcPct val="115000"/>
              </a:lnSpc>
            </a:pPr>
            <a:r>
              <a:rPr sz="1400" b="0" i="1">
                <a:solidFill>
                  <a:srgbClr val="9AA7BD"/>
                </a:solidFill>
                <a:latin typeface="Segoe UI"/>
              </a:rPr>
              <a:t>The adversary isn't opening 15 tabs. Neither should we.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73152" rIns="73152" tIns="36576" bIns="36576">
            <a:spAutoFit/>
          </a:bodyPr>
          <a:lstStyle/>
          <a:p>
            <a:pPr algn="l">
              <a:lnSpc>
                <a:spcPct val="115000"/>
              </a:lnSpc>
            </a:pPr>
            <a:r>
              <a:rPr sz="2800" b="1" i="0">
                <a:solidFill>
                  <a:srgbClr val="FFFFFF"/>
                </a:solidFill>
                <a:latin typeface="Segoe UI"/>
              </a:rPr>
              <a:t>The shift: from unified console to investigation fabric</a:t>
            </a:r>
          </a:p>
        </p:txBody>
      </p:sp>
      <p:sp>
        <p:nvSpPr>
          <p:cNvPr id="3" name="Rounded Rectangle 2"/>
          <p:cNvSpPr/>
          <p:nvPr/>
        </p:nvSpPr>
        <p:spPr>
          <a:xfrm>
            <a:off x="640080" y="1371600"/>
            <a:ext cx="5394960" cy="4297680"/>
          </a:xfrm>
          <a:prstGeom prst="roundRect">
            <a:avLst>
              <a:gd name="adj" fmla="val 8000"/>
            </a:avLst>
          </a:prstGeom>
          <a:solidFill>
            <a:srgbClr val="2E2310"/>
          </a:solidFill>
          <a:ln w="15875">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81328"/>
            <a:ext cx="5120640" cy="365760"/>
          </a:xfrm>
          <a:prstGeom prst="rect">
            <a:avLst/>
          </a:prstGeom>
          <a:noFill/>
        </p:spPr>
        <p:txBody>
          <a:bodyPr wrap="square" anchor="t" lIns="73152" rIns="73152" tIns="36576" bIns="36576">
            <a:spAutoFit/>
          </a:bodyPr>
          <a:lstStyle/>
          <a:p>
            <a:pPr algn="l">
              <a:lnSpc>
                <a:spcPct val="115000"/>
              </a:lnSpc>
            </a:pPr>
            <a:r>
              <a:rPr sz="1800" b="1" i="0">
                <a:solidFill>
                  <a:srgbClr val="FFB454"/>
                </a:solidFill>
                <a:latin typeface="Segoe UI"/>
              </a:rPr>
              <a:t>Today — Unified XDR console</a:t>
            </a:r>
          </a:p>
        </p:txBody>
      </p:sp>
      <p:sp>
        <p:nvSpPr>
          <p:cNvPr id="5" name="TextBox 4"/>
          <p:cNvSpPr txBox="1"/>
          <p:nvPr/>
        </p:nvSpPr>
        <p:spPr>
          <a:xfrm>
            <a:off x="777240" y="1874519"/>
            <a:ext cx="5120640" cy="3703320"/>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Identity + endpoint + email + cloud correlated in one portal</a:t>
            </a:r>
          </a:p>
          <a:p>
            <a:pPr algn="l">
              <a:lnSpc>
                <a:spcPct val="120000"/>
              </a:lnSpc>
            </a:pPr>
            <a:r>
              <a:rPr sz="1300">
                <a:solidFill>
                  <a:srgbClr val="E6ECF5"/>
                </a:solidFill>
                <a:latin typeface="Segoe UI"/>
              </a:rPr>
              <a:t>• Copilot-in-portal assists on the current incident</a:t>
            </a:r>
          </a:p>
          <a:p>
            <a:pPr algn="l">
              <a:lnSpc>
                <a:spcPct val="120000"/>
              </a:lnSpc>
            </a:pPr>
            <a:r>
              <a:rPr sz="1300">
                <a:solidFill>
                  <a:srgbClr val="E6ECF5"/>
                </a:solidFill>
                <a:latin typeface="Segoe UI"/>
              </a:rPr>
              <a:t>• Reasoning scoped to what the vendor ingests</a:t>
            </a:r>
          </a:p>
          <a:p>
            <a:pPr algn="l">
              <a:lnSpc>
                <a:spcPct val="120000"/>
              </a:lnSpc>
            </a:pPr>
            <a:r>
              <a:rPr sz="1300">
                <a:solidFill>
                  <a:srgbClr val="E6ECF5"/>
                </a:solidFill>
                <a:latin typeface="Segoe UI"/>
              </a:rPr>
              <a:t>• Third-party signals need a connector — or don't show up</a:t>
            </a:r>
          </a:p>
          <a:p>
            <a:pPr algn="l">
              <a:lnSpc>
                <a:spcPct val="120000"/>
              </a:lnSpc>
            </a:pPr>
            <a:r>
              <a:rPr sz="1300">
                <a:solidFill>
                  <a:srgbClr val="E6ECF5"/>
                </a:solidFill>
                <a:latin typeface="Segoe UI"/>
              </a:rPr>
              <a:t>• Expertise lives in the analyst's head, dies when the tab closes</a:t>
            </a:r>
          </a:p>
        </p:txBody>
      </p:sp>
      <p:sp>
        <p:nvSpPr>
          <p:cNvPr id="6" name="Rounded Rectangle 5"/>
          <p:cNvSpPr/>
          <p:nvPr/>
        </p:nvSpPr>
        <p:spPr>
          <a:xfrm>
            <a:off x="6217920" y="1371600"/>
            <a:ext cx="5394960" cy="4297680"/>
          </a:xfrm>
          <a:prstGeom prst="roundRect">
            <a:avLst>
              <a:gd name="adj" fmla="val 8000"/>
            </a:avLst>
          </a:prstGeom>
          <a:solidFill>
            <a:srgbClr val="102B22"/>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481328"/>
            <a:ext cx="5120640" cy="365760"/>
          </a:xfrm>
          <a:prstGeom prst="rect">
            <a:avLst/>
          </a:prstGeom>
          <a:noFill/>
        </p:spPr>
        <p:txBody>
          <a:bodyPr wrap="square" anchor="t" lIns="73152" rIns="73152" tIns="36576" bIns="36576">
            <a:spAutoFit/>
          </a:bodyPr>
          <a:lstStyle/>
          <a:p>
            <a:pPr algn="l">
              <a:lnSpc>
                <a:spcPct val="115000"/>
              </a:lnSpc>
            </a:pPr>
            <a:r>
              <a:rPr sz="1800" b="1" i="0">
                <a:solidFill>
                  <a:srgbClr val="3DDC97"/>
                </a:solidFill>
                <a:latin typeface="Segoe UI"/>
              </a:rPr>
              <a:t>Tomorrow — Agentic fabric</a:t>
            </a:r>
          </a:p>
        </p:txBody>
      </p:sp>
      <p:sp>
        <p:nvSpPr>
          <p:cNvPr id="8" name="TextBox 7"/>
          <p:cNvSpPr txBox="1"/>
          <p:nvPr/>
        </p:nvSpPr>
        <p:spPr>
          <a:xfrm>
            <a:off x="6355080" y="1874519"/>
            <a:ext cx="5120640" cy="3703320"/>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One prompt orchestrates XDR, Sentinel, Graph, third-party MCPs as peers</a:t>
            </a:r>
          </a:p>
          <a:p>
            <a:pPr algn="l">
              <a:lnSpc>
                <a:spcPct val="120000"/>
              </a:lnSpc>
            </a:pPr>
            <a:r>
              <a:rPr sz="1300">
                <a:solidFill>
                  <a:srgbClr val="E6ECF5"/>
                </a:solidFill>
                <a:latin typeface="Segoe UI"/>
              </a:rPr>
              <a:t>• Context, queries, and IOCs travel across products</a:t>
            </a:r>
          </a:p>
          <a:p>
            <a:pPr algn="l">
              <a:lnSpc>
                <a:spcPct val="120000"/>
              </a:lnSpc>
            </a:pPr>
            <a:r>
              <a:rPr sz="1300">
                <a:solidFill>
                  <a:srgbClr val="E6ECF5"/>
                </a:solidFill>
                <a:latin typeface="Segoe UI"/>
              </a:rPr>
              <a:t>• Campaign correlation across 90 days and multiple workspaces</a:t>
            </a:r>
          </a:p>
          <a:p>
            <a:pPr algn="l">
              <a:lnSpc>
                <a:spcPct val="120000"/>
              </a:lnSpc>
            </a:pPr>
            <a:r>
              <a:rPr sz="1300">
                <a:solidFill>
                  <a:srgbClr val="E6ECF5"/>
                </a:solidFill>
                <a:latin typeface="Segoe UI"/>
              </a:rPr>
              <a:t>• Every investigation compounds into reports, playbooks, detections</a:t>
            </a:r>
          </a:p>
          <a:p>
            <a:pPr algn="l">
              <a:lnSpc>
                <a:spcPct val="120000"/>
              </a:lnSpc>
            </a:pPr>
            <a:r>
              <a:rPr sz="1300">
                <a:solidFill>
                  <a:srgbClr val="E6ECF5"/>
                </a:solidFill>
                <a:latin typeface="Segoe UI"/>
              </a:rPr>
              <a:t>• Humans on the one-way doors; agents do the heavy lifting</a:t>
            </a:r>
          </a:p>
        </p:txBody>
      </p:sp>
      <p:sp>
        <p:nvSpPr>
          <p:cNvPr id="9" name="TextBox 8"/>
          <p:cNvSpPr txBox="1"/>
          <p:nvPr/>
        </p:nvSpPr>
        <p:spPr>
          <a:xfrm>
            <a:off x="640080" y="5760720"/>
            <a:ext cx="10972800" cy="731520"/>
          </a:xfrm>
          <a:prstGeom prst="rect">
            <a:avLst/>
          </a:prstGeom>
          <a:noFill/>
        </p:spPr>
        <p:txBody>
          <a:bodyPr wrap="square" anchor="t" lIns="73152" rIns="73152" tIns="36576" bIns="36576">
            <a:spAutoFit/>
          </a:bodyPr>
          <a:lstStyle/>
          <a:p>
            <a:pPr algn="l">
              <a:lnSpc>
                <a:spcPct val="115000"/>
              </a:lnSpc>
            </a:pPr>
            <a:r>
              <a:rPr sz="1300" b="0" i="1">
                <a:solidFill>
                  <a:srgbClr val="9AA7BD"/>
                </a:solidFill>
                <a:latin typeface="Segoe UI"/>
              </a:rPr>
              <a:t>The real differentiator isn't single pane of glass. It's whether expertise compounds into code or evaporates into a UI session.</a:t>
            </a:r>
          </a:p>
        </p:txBody>
      </p:sp>
      <p:sp>
        <p:nvSpPr>
          <p:cNvPr id="10" name="TextBox 9"/>
          <p:cNvSpPr txBox="1"/>
          <p:nvPr/>
        </p:nvSpPr>
        <p:spPr>
          <a:xfrm>
            <a:off x="9144000" y="6492240"/>
            <a:ext cx="2743200" cy="274320"/>
          </a:xfrm>
          <a:prstGeom prst="rect">
            <a:avLst/>
          </a:prstGeom>
          <a:noFill/>
        </p:spPr>
        <p:txBody>
          <a:bodyPr wrap="square" anchor="t" lIns="73152" rIns="73152" tIns="36576" bIns="36576">
            <a:spAutoFit/>
          </a:bodyPr>
          <a:lstStyle/>
          <a:p>
            <a:pPr algn="r">
              <a:lnSpc>
                <a:spcPct val="115000"/>
              </a:lnSpc>
            </a:pPr>
            <a:r>
              <a:rPr sz="1000" b="0" i="0">
                <a:solidFill>
                  <a:srgbClr val="9AA7BD"/>
                </a:solidFill>
                <a:latin typeface="Segoe UI"/>
              </a:rPr>
              <a:t>01 · The shift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73152" rIns="73152" tIns="36576" bIns="36576">
            <a:spAutoFit/>
          </a:bodyPr>
          <a:lstStyle/>
          <a:p>
            <a:pPr algn="l">
              <a:lnSpc>
                <a:spcPct val="115000"/>
              </a:lnSpc>
            </a:pPr>
            <a:r>
              <a:rPr sz="2800" b="1" i="0">
                <a:solidFill>
                  <a:srgbClr val="FFFFFF"/>
                </a:solidFill>
                <a:latin typeface="Segoe UI"/>
              </a:rPr>
              <a:t>Prep yourself for the agentic conversation</a:t>
            </a:r>
          </a:p>
        </p:txBody>
      </p:sp>
      <p:sp>
        <p:nvSpPr>
          <p:cNvPr id="3" name="TextBox 2"/>
          <p:cNvSpPr txBox="1"/>
          <p:nvPr/>
        </p:nvSpPr>
        <p:spPr>
          <a:xfrm>
            <a:off x="640080" y="960120"/>
            <a:ext cx="10972800" cy="457200"/>
          </a:xfrm>
          <a:prstGeom prst="rect">
            <a:avLst/>
          </a:prstGeom>
          <a:noFill/>
        </p:spPr>
        <p:txBody>
          <a:bodyPr wrap="square" anchor="t" lIns="73152" rIns="73152" tIns="36576" bIns="36576">
            <a:spAutoFit/>
          </a:bodyPr>
          <a:lstStyle/>
          <a:p>
            <a:pPr algn="l">
              <a:lnSpc>
                <a:spcPct val="115000"/>
              </a:lnSpc>
            </a:pPr>
            <a:r>
              <a:rPr sz="1300" b="0" i="1">
                <a:solidFill>
                  <a:srgbClr val="9AA7BD"/>
                </a:solidFill>
                <a:latin typeface="Segoe UI"/>
              </a:rPr>
              <a:t>SaaS will still be useful. But will it be the only way the SOC works?</a:t>
            </a:r>
          </a:p>
        </p:txBody>
      </p:sp>
      <p:sp>
        <p:nvSpPr>
          <p:cNvPr id="4" name="Rounded Rectangle 3"/>
          <p:cNvSpPr/>
          <p:nvPr/>
        </p:nvSpPr>
        <p:spPr>
          <a:xfrm>
            <a:off x="640080" y="1645920"/>
            <a:ext cx="3657600" cy="3931920"/>
          </a:xfrm>
          <a:prstGeom prst="roundRect">
            <a:avLst>
              <a:gd name="adj" fmla="val 8000"/>
            </a:avLst>
          </a:prstGeom>
          <a:solidFill>
            <a:srgbClr val="2E131C"/>
          </a:solidFill>
          <a:ln w="15875">
            <a:solidFill>
              <a:srgbClr val="FF5C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55648"/>
            <a:ext cx="3383280" cy="365760"/>
          </a:xfrm>
          <a:prstGeom prst="rect">
            <a:avLst/>
          </a:prstGeom>
          <a:noFill/>
        </p:spPr>
        <p:txBody>
          <a:bodyPr wrap="square" anchor="t" lIns="73152" rIns="73152" tIns="36576" bIns="36576">
            <a:spAutoFit/>
          </a:bodyPr>
          <a:lstStyle/>
          <a:p>
            <a:pPr algn="l">
              <a:lnSpc>
                <a:spcPct val="115000"/>
              </a:lnSpc>
            </a:pPr>
            <a:r>
              <a:rPr sz="1700" b="1" i="0">
                <a:solidFill>
                  <a:srgbClr val="FF5C7A"/>
                </a:solidFill>
                <a:latin typeface="Segoe UI"/>
              </a:rPr>
              <a:t>SaaS-only SOC</a:t>
            </a:r>
          </a:p>
        </p:txBody>
      </p:sp>
      <p:sp>
        <p:nvSpPr>
          <p:cNvPr id="6" name="TextBox 5"/>
          <p:cNvSpPr txBox="1"/>
          <p:nvPr/>
        </p:nvSpPr>
        <p:spPr>
          <a:xfrm>
            <a:off x="777240" y="2148840"/>
            <a:ext cx="3383280" cy="3337560"/>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Click-through workflows</a:t>
            </a:r>
          </a:p>
          <a:p>
            <a:pPr algn="l">
              <a:lnSpc>
                <a:spcPct val="120000"/>
              </a:lnSpc>
            </a:pPr>
            <a:r>
              <a:rPr sz="1300">
                <a:solidFill>
                  <a:srgbClr val="E6ECF5"/>
                </a:solidFill>
                <a:latin typeface="Segoe UI"/>
              </a:rPr>
              <a:t>• Vendor-defined pivots</a:t>
            </a:r>
          </a:p>
          <a:p>
            <a:pPr algn="l">
              <a:lnSpc>
                <a:spcPct val="120000"/>
              </a:lnSpc>
            </a:pPr>
            <a:r>
              <a:rPr sz="1300">
                <a:solidFill>
                  <a:srgbClr val="E6ECF5"/>
                </a:solidFill>
                <a:latin typeface="Segoe UI"/>
              </a:rPr>
              <a:t>• Tribal knowledge in analysts' heads</a:t>
            </a:r>
          </a:p>
        </p:txBody>
      </p:sp>
      <p:sp>
        <p:nvSpPr>
          <p:cNvPr id="7" name="Rounded Rectangle 6"/>
          <p:cNvSpPr/>
          <p:nvPr/>
        </p:nvSpPr>
        <p:spPr>
          <a:xfrm>
            <a:off x="4389120" y="1645920"/>
            <a:ext cx="3657600" cy="3931920"/>
          </a:xfrm>
          <a:prstGeom prst="roundRect">
            <a:avLst>
              <a:gd name="adj" fmla="val 8000"/>
            </a:avLst>
          </a:prstGeom>
          <a:solidFill>
            <a:srgbClr val="2E2310"/>
          </a:solidFill>
          <a:ln w="15875">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755648"/>
            <a:ext cx="3383280" cy="365760"/>
          </a:xfrm>
          <a:prstGeom prst="rect">
            <a:avLst/>
          </a:prstGeom>
          <a:noFill/>
        </p:spPr>
        <p:txBody>
          <a:bodyPr wrap="square" anchor="t" lIns="73152" rIns="73152" tIns="36576" bIns="36576">
            <a:spAutoFit/>
          </a:bodyPr>
          <a:lstStyle/>
          <a:p>
            <a:pPr algn="l">
              <a:lnSpc>
                <a:spcPct val="115000"/>
              </a:lnSpc>
            </a:pPr>
            <a:r>
              <a:rPr sz="1700" b="1" i="0">
                <a:solidFill>
                  <a:srgbClr val="FFB454"/>
                </a:solidFill>
                <a:latin typeface="Segoe UI"/>
              </a:rPr>
              <a:t>SaaS + Copilot bolt-on</a:t>
            </a:r>
          </a:p>
        </p:txBody>
      </p:sp>
      <p:sp>
        <p:nvSpPr>
          <p:cNvPr id="9" name="TextBox 8"/>
          <p:cNvSpPr txBox="1"/>
          <p:nvPr/>
        </p:nvSpPr>
        <p:spPr>
          <a:xfrm>
            <a:off x="4526280" y="2148840"/>
            <a:ext cx="3383280" cy="3337560"/>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Chat inside one console</a:t>
            </a:r>
          </a:p>
          <a:p>
            <a:pPr algn="l">
              <a:lnSpc>
                <a:spcPct val="120000"/>
              </a:lnSpc>
            </a:pPr>
            <a:r>
              <a:rPr sz="1300">
                <a:solidFill>
                  <a:srgbClr val="E6ECF5"/>
                </a:solidFill>
                <a:latin typeface="Segoe UI"/>
              </a:rPr>
              <a:t>• Context stops at the vendor's API</a:t>
            </a:r>
          </a:p>
          <a:p>
            <a:pPr algn="l">
              <a:lnSpc>
                <a:spcPct val="120000"/>
              </a:lnSpc>
            </a:pPr>
            <a:r>
              <a:rPr sz="1300">
                <a:solidFill>
                  <a:srgbClr val="E6ECF5"/>
                </a:solidFill>
                <a:latin typeface="Segoe UI"/>
              </a:rPr>
              <a:t>• Still siloed</a:t>
            </a:r>
          </a:p>
        </p:txBody>
      </p:sp>
      <p:sp>
        <p:nvSpPr>
          <p:cNvPr id="10" name="Rounded Rectangle 9"/>
          <p:cNvSpPr/>
          <p:nvPr/>
        </p:nvSpPr>
        <p:spPr>
          <a:xfrm>
            <a:off x="8138160" y="1645920"/>
            <a:ext cx="3657600" cy="3931920"/>
          </a:xfrm>
          <a:prstGeom prst="roundRect">
            <a:avLst>
              <a:gd name="adj" fmla="val 8000"/>
            </a:avLst>
          </a:prstGeom>
          <a:solidFill>
            <a:srgbClr val="102B22"/>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755648"/>
            <a:ext cx="3383280" cy="365760"/>
          </a:xfrm>
          <a:prstGeom prst="rect">
            <a:avLst/>
          </a:prstGeom>
          <a:noFill/>
        </p:spPr>
        <p:txBody>
          <a:bodyPr wrap="square" anchor="t" lIns="73152" rIns="73152" tIns="36576" bIns="36576">
            <a:spAutoFit/>
          </a:bodyPr>
          <a:lstStyle/>
          <a:p>
            <a:pPr algn="l">
              <a:lnSpc>
                <a:spcPct val="115000"/>
              </a:lnSpc>
            </a:pPr>
            <a:r>
              <a:rPr sz="1700" b="1" i="0">
                <a:solidFill>
                  <a:srgbClr val="3DDC97"/>
                </a:solidFill>
                <a:latin typeface="Segoe UI"/>
              </a:rPr>
              <a:t>Agentic SOC fabric</a:t>
            </a:r>
          </a:p>
        </p:txBody>
      </p:sp>
      <p:sp>
        <p:nvSpPr>
          <p:cNvPr id="12" name="TextBox 11"/>
          <p:cNvSpPr txBox="1"/>
          <p:nvPr/>
        </p:nvSpPr>
        <p:spPr>
          <a:xfrm>
            <a:off x="8275320" y="2148840"/>
            <a:ext cx="3383280" cy="3337560"/>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Natural-language across all data</a:t>
            </a:r>
          </a:p>
          <a:p>
            <a:pPr algn="l">
              <a:lnSpc>
                <a:spcPct val="120000"/>
              </a:lnSpc>
            </a:pPr>
            <a:r>
              <a:rPr sz="1300">
                <a:solidFill>
                  <a:srgbClr val="E6ECF5"/>
                </a:solidFill>
                <a:latin typeface="Segoe UI"/>
              </a:rPr>
              <a:t>• Tools chained via MCP</a:t>
            </a:r>
          </a:p>
          <a:p>
            <a:pPr algn="l">
              <a:lnSpc>
                <a:spcPct val="120000"/>
              </a:lnSpc>
            </a:pPr>
            <a:r>
              <a:rPr sz="1300">
                <a:solidFill>
                  <a:srgbClr val="E6ECF5"/>
                </a:solidFill>
                <a:latin typeface="Segoe UI"/>
              </a:rPr>
              <a:t>• Expertise encoded as skills</a:t>
            </a:r>
          </a:p>
        </p:txBody>
      </p:sp>
      <p:sp>
        <p:nvSpPr>
          <p:cNvPr id="13" name="TextBox 12"/>
          <p:cNvSpPr txBox="1"/>
          <p:nvPr/>
        </p:nvSpPr>
        <p:spPr>
          <a:xfrm>
            <a:off x="640080" y="5852160"/>
            <a:ext cx="10972800" cy="731520"/>
          </a:xfrm>
          <a:prstGeom prst="rect">
            <a:avLst/>
          </a:prstGeom>
          <a:noFill/>
        </p:spPr>
        <p:txBody>
          <a:bodyPr wrap="square" anchor="t" lIns="73152" rIns="73152" tIns="36576" bIns="36576">
            <a:spAutoFit/>
          </a:bodyPr>
          <a:lstStyle/>
          <a:p>
            <a:pPr algn="l">
              <a:lnSpc>
                <a:spcPct val="115000"/>
              </a:lnSpc>
            </a:pPr>
            <a:r>
              <a:rPr sz="1300" b="0" i="0">
                <a:solidFill>
                  <a:srgbClr val="E6ECF5"/>
                </a:solidFill>
                <a:latin typeface="Segoe UI"/>
              </a:rPr>
              <a:t>Experienced analysts — the ones who know where to look — already feel the friction of the SaaS-only model.</a:t>
            </a:r>
          </a:p>
        </p:txBody>
      </p:sp>
      <p:sp>
        <p:nvSpPr>
          <p:cNvPr id="14" name="TextBox 13"/>
          <p:cNvSpPr txBox="1"/>
          <p:nvPr/>
        </p:nvSpPr>
        <p:spPr>
          <a:xfrm>
            <a:off x="9144000" y="6492240"/>
            <a:ext cx="2743200" cy="274320"/>
          </a:xfrm>
          <a:prstGeom prst="rect">
            <a:avLst/>
          </a:prstGeom>
          <a:noFill/>
        </p:spPr>
        <p:txBody>
          <a:bodyPr wrap="square" anchor="t" lIns="73152" rIns="73152" tIns="36576" bIns="36576">
            <a:spAutoFit/>
          </a:bodyPr>
          <a:lstStyle/>
          <a:p>
            <a:pPr algn="r">
              <a:lnSpc>
                <a:spcPct val="115000"/>
              </a:lnSpc>
            </a:pPr>
            <a:r>
              <a:rPr sz="1000" b="0" i="0">
                <a:solidFill>
                  <a:srgbClr val="9AA7BD"/>
                </a:solidFill>
                <a:latin typeface="Segoe UI"/>
              </a:rPr>
              <a:t>02 · The agentic conversation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73152" rIns="73152" tIns="36576" bIns="36576">
            <a:spAutoFit/>
          </a:bodyPr>
          <a:lstStyle/>
          <a:p>
            <a:pPr algn="l">
              <a:lnSpc>
                <a:spcPct val="115000"/>
              </a:lnSpc>
            </a:pPr>
            <a:r>
              <a:rPr sz="2800" b="1" i="0">
                <a:solidFill>
                  <a:srgbClr val="FFFFFF"/>
                </a:solidFill>
                <a:latin typeface="Segoe UI"/>
              </a:rPr>
              <a:t>The moment it clicked — NYC, Cloud Security SE Training</a:t>
            </a:r>
          </a:p>
        </p:txBody>
      </p:sp>
      <p:sp>
        <p:nvSpPr>
          <p:cNvPr id="3" name="Rectangle 2"/>
          <p:cNvSpPr/>
          <p:nvPr/>
        </p:nvSpPr>
        <p:spPr>
          <a:xfrm>
            <a:off x="640080" y="1188720"/>
            <a:ext cx="64008" cy="1280160"/>
          </a:xfrm>
          <a:prstGeom prst="rect">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04088" y="1188720"/>
            <a:ext cx="10908792" cy="1280160"/>
          </a:xfrm>
          <a:prstGeom prst="roundRect">
            <a:avLst>
              <a:gd name="adj" fmla="val 5000"/>
            </a:avLst>
          </a:prstGeom>
          <a:solidFill>
            <a:srgbClr val="141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280160"/>
            <a:ext cx="10607040" cy="1097280"/>
          </a:xfrm>
          <a:prstGeom prst="rect">
            <a:avLst/>
          </a:prstGeom>
          <a:noFill/>
        </p:spPr>
        <p:txBody>
          <a:bodyPr wrap="square" anchor="ctr" lIns="73152" rIns="73152" tIns="36576" bIns="36576">
            <a:spAutoFit/>
          </a:bodyPr>
          <a:lstStyle/>
          <a:p>
            <a:pPr algn="l">
              <a:lnSpc>
                <a:spcPct val="115000"/>
              </a:lnSpc>
            </a:pPr>
            <a:r>
              <a:rPr sz="1800" b="0" i="0">
                <a:solidFill>
                  <a:srgbClr val="E6ECF5"/>
                </a:solidFill>
                <a:latin typeface="Segoe UI"/>
              </a:rPr>
              <a:t>The training covered the Sentinel platform and MCP servers.  That's what caught my attention — and reframed everything.</a:t>
            </a:r>
          </a:p>
        </p:txBody>
      </p:sp>
      <p:sp>
        <p:nvSpPr>
          <p:cNvPr id="6" name="TextBox 5"/>
          <p:cNvSpPr txBox="1"/>
          <p:nvPr/>
        </p:nvSpPr>
        <p:spPr>
          <a:xfrm>
            <a:off x="640080" y="2651760"/>
            <a:ext cx="10972800" cy="822960"/>
          </a:xfrm>
          <a:prstGeom prst="rect">
            <a:avLst/>
          </a:prstGeom>
          <a:noFill/>
        </p:spPr>
        <p:txBody>
          <a:bodyPr wrap="square" anchor="t" lIns="73152" rIns="73152" tIns="36576" bIns="36576">
            <a:spAutoFit/>
          </a:bodyPr>
          <a:lstStyle/>
          <a:p>
            <a:pPr algn="l">
              <a:lnSpc>
                <a:spcPct val="115000"/>
              </a:lnSpc>
            </a:pPr>
            <a:r>
              <a:rPr sz="1400" b="0" i="0">
                <a:solidFill>
                  <a:srgbClr val="E6ECF5"/>
                </a:solidFill>
                <a:latin typeface="Segoe UI"/>
              </a:rPr>
              <a:t>Sentinel stopped being "the SIEM" in my head and became the </a:t>
            </a:r>
            <a:r>
              <a:rPr sz="1400" b="0" i="1">
                <a:solidFill>
                  <a:srgbClr val="4CC2FF"/>
                </a:solidFill>
                <a:latin typeface="Segoe UI"/>
              </a:rPr>
              <a:t>data plane</a:t>
            </a:r>
            <a:r>
              <a:rPr sz="1400" b="0" i="0">
                <a:solidFill>
                  <a:srgbClr val="E6ECF5"/>
                </a:solidFill>
                <a:latin typeface="Segoe UI"/>
              </a:rPr>
              <a:t>. MCP stopped being a protocol detail and became the </a:t>
            </a:r>
            <a:r>
              <a:rPr sz="1400" b="0" i="1">
                <a:solidFill>
                  <a:srgbClr val="4CC2FF"/>
                </a:solidFill>
                <a:latin typeface="Segoe UI"/>
              </a:rPr>
              <a:t>operating model</a:t>
            </a:r>
            <a:r>
              <a:rPr sz="1400" b="0" i="0">
                <a:solidFill>
                  <a:srgbClr val="E6ECF5"/>
                </a:solidFill>
                <a:latin typeface="Segoe UI"/>
              </a:rPr>
              <a:t>.</a:t>
            </a:r>
          </a:p>
        </p:txBody>
      </p:sp>
      <p:sp>
        <p:nvSpPr>
          <p:cNvPr id="7" name="Rounded Rectangle 6"/>
          <p:cNvSpPr/>
          <p:nvPr/>
        </p:nvSpPr>
        <p:spPr>
          <a:xfrm>
            <a:off x="640080" y="3657600"/>
            <a:ext cx="5394960" cy="2194560"/>
          </a:xfrm>
          <a:prstGeom prst="roundRect">
            <a:avLst>
              <a:gd name="adj" fmla="val 8000"/>
            </a:avLst>
          </a:prstGeom>
          <a:solidFill>
            <a:srgbClr val="1A1536"/>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767328"/>
            <a:ext cx="5120640" cy="365760"/>
          </a:xfrm>
          <a:prstGeom prst="rect">
            <a:avLst/>
          </a:prstGeom>
          <a:noFill/>
        </p:spPr>
        <p:txBody>
          <a:bodyPr wrap="square" anchor="t" lIns="73152" rIns="73152" tIns="36576" bIns="36576">
            <a:spAutoFit/>
          </a:bodyPr>
          <a:lstStyle/>
          <a:p>
            <a:pPr algn="l">
              <a:lnSpc>
                <a:spcPct val="115000"/>
              </a:lnSpc>
            </a:pPr>
            <a:r>
              <a:rPr sz="1600" b="1" i="0">
                <a:solidFill>
                  <a:srgbClr val="7C5CFF"/>
                </a:solidFill>
                <a:latin typeface="Segoe UI"/>
              </a:rPr>
              <a:t>🧑‍💻  Chris's Security Investigator</a:t>
            </a:r>
          </a:p>
        </p:txBody>
      </p:sp>
      <p:sp>
        <p:nvSpPr>
          <p:cNvPr id="9" name="TextBox 8"/>
          <p:cNvSpPr txBox="1"/>
          <p:nvPr/>
        </p:nvSpPr>
        <p:spPr>
          <a:xfrm>
            <a:off x="777240" y="4160520"/>
            <a:ext cx="5120640" cy="1600200"/>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Another practitioner-built initiative — same insight.</a:t>
            </a:r>
          </a:p>
          <a:p>
            <a:pPr algn="l">
              <a:lnSpc>
                <a:spcPct val="120000"/>
              </a:lnSpc>
            </a:pPr>
            <a:r>
              <a:rPr sz="1300">
                <a:solidFill>
                  <a:srgbClr val="E6ECF5"/>
                </a:solidFill>
                <a:latin typeface="Segoe UI"/>
              </a:rPr>
              <a:t>• Analyst in the driver's seat with agents + MCP, not another dashboard.</a:t>
            </a:r>
          </a:p>
        </p:txBody>
      </p:sp>
      <p:sp>
        <p:nvSpPr>
          <p:cNvPr id="10" name="Rounded Rectangle 9"/>
          <p:cNvSpPr/>
          <p:nvPr/>
        </p:nvSpPr>
        <p:spPr>
          <a:xfrm>
            <a:off x="6217920" y="3657600"/>
            <a:ext cx="5394960" cy="2194560"/>
          </a:xfrm>
          <a:prstGeom prst="roundRect">
            <a:avLst>
              <a:gd name="adj" fmla="val 8000"/>
            </a:avLst>
          </a:prstGeom>
          <a:solidFill>
            <a:srgbClr val="1A1536"/>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3767328"/>
            <a:ext cx="5120640" cy="365760"/>
          </a:xfrm>
          <a:prstGeom prst="rect">
            <a:avLst/>
          </a:prstGeom>
          <a:noFill/>
        </p:spPr>
        <p:txBody>
          <a:bodyPr wrap="square" anchor="t" lIns="73152" rIns="73152" tIns="36576" bIns="36576">
            <a:spAutoFit/>
          </a:bodyPr>
          <a:lstStyle/>
          <a:p>
            <a:pPr algn="l">
              <a:lnSpc>
                <a:spcPct val="115000"/>
              </a:lnSpc>
            </a:pPr>
            <a:r>
              <a:rPr sz="1600" b="1" i="0">
                <a:solidFill>
                  <a:srgbClr val="7C5CFF"/>
                </a:solidFill>
                <a:latin typeface="Segoe UI"/>
              </a:rPr>
              <a:t>🔍  My own CyberProbe</a:t>
            </a:r>
          </a:p>
        </p:txBody>
      </p:sp>
      <p:sp>
        <p:nvSpPr>
          <p:cNvPr id="12" name="TextBox 11"/>
          <p:cNvSpPr txBox="1"/>
          <p:nvPr/>
        </p:nvSpPr>
        <p:spPr>
          <a:xfrm>
            <a:off x="6355080" y="4160520"/>
            <a:ext cx="5120640" cy="1600200"/>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Open-source proof that one senior analyst + the right AI fabric…</a:t>
            </a:r>
          </a:p>
          <a:p>
            <a:pPr algn="l">
              <a:lnSpc>
                <a:spcPct val="120000"/>
              </a:lnSpc>
            </a:pPr>
            <a:r>
              <a:rPr sz="1300">
                <a:solidFill>
                  <a:srgbClr val="E6ECF5"/>
                </a:solidFill>
                <a:latin typeface="Segoe UI"/>
              </a:rPr>
              <a:t>• …can do the work of a five-person SOC team.</a:t>
            </a:r>
          </a:p>
        </p:txBody>
      </p:sp>
      <p:sp>
        <p:nvSpPr>
          <p:cNvPr id="13" name="TextBox 12"/>
          <p:cNvSpPr txBox="1"/>
          <p:nvPr/>
        </p:nvSpPr>
        <p:spPr>
          <a:xfrm>
            <a:off x="640080" y="6035040"/>
            <a:ext cx="10972800" cy="457200"/>
          </a:xfrm>
          <a:prstGeom prst="rect">
            <a:avLst/>
          </a:prstGeom>
          <a:noFill/>
        </p:spPr>
        <p:txBody>
          <a:bodyPr wrap="square" anchor="t" lIns="73152" rIns="73152" tIns="36576" bIns="36576">
            <a:spAutoFit/>
          </a:bodyPr>
          <a:lstStyle/>
          <a:p>
            <a:pPr algn="l">
              <a:lnSpc>
                <a:spcPct val="115000"/>
              </a:lnSpc>
            </a:pPr>
            <a:r>
              <a:rPr sz="1200" b="0" i="1">
                <a:solidFill>
                  <a:srgbClr val="9AA7BD"/>
                </a:solidFill>
                <a:latin typeface="Segoe UI"/>
              </a:rPr>
              <a:t>Both start from the same premise: stop asking which console, start asking which conversation.</a:t>
            </a:r>
          </a:p>
        </p:txBody>
      </p:sp>
      <p:sp>
        <p:nvSpPr>
          <p:cNvPr id="14" name="TextBox 13"/>
          <p:cNvSpPr txBox="1"/>
          <p:nvPr/>
        </p:nvSpPr>
        <p:spPr>
          <a:xfrm>
            <a:off x="9144000" y="6492240"/>
            <a:ext cx="2743200" cy="274320"/>
          </a:xfrm>
          <a:prstGeom prst="rect">
            <a:avLst/>
          </a:prstGeom>
          <a:noFill/>
        </p:spPr>
        <p:txBody>
          <a:bodyPr wrap="square" anchor="t" lIns="73152" rIns="73152" tIns="36576" bIns="36576">
            <a:spAutoFit/>
          </a:bodyPr>
          <a:lstStyle/>
          <a:p>
            <a:pPr algn="r">
              <a:lnSpc>
                <a:spcPct val="115000"/>
              </a:lnSpc>
            </a:pPr>
            <a:r>
              <a:rPr sz="1000" b="0" i="0">
                <a:solidFill>
                  <a:srgbClr val="9AA7BD"/>
                </a:solidFill>
                <a:latin typeface="Segoe UI"/>
              </a:rPr>
              <a:t>03 · The revealing moment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73152" rIns="73152" tIns="36576" bIns="36576">
            <a:spAutoFit/>
          </a:bodyPr>
          <a:lstStyle/>
          <a:p>
            <a:pPr algn="l">
              <a:lnSpc>
                <a:spcPct val="115000"/>
              </a:lnSpc>
            </a:pPr>
            <a:r>
              <a:rPr sz="2800" b="1" i="0">
                <a:solidFill>
                  <a:srgbClr val="FFFFFF"/>
                </a:solidFill>
                <a:latin typeface="Segoe UI"/>
              </a:rPr>
              <a:t>Then the customer questions started coming in</a:t>
            </a:r>
          </a:p>
        </p:txBody>
      </p:sp>
      <p:sp>
        <p:nvSpPr>
          <p:cNvPr id="3" name="TextBox 2"/>
          <p:cNvSpPr txBox="1"/>
          <p:nvPr/>
        </p:nvSpPr>
        <p:spPr>
          <a:xfrm>
            <a:off x="640080" y="1005840"/>
            <a:ext cx="10972800" cy="731520"/>
          </a:xfrm>
          <a:prstGeom prst="rect">
            <a:avLst/>
          </a:prstGeom>
          <a:noFill/>
        </p:spPr>
        <p:txBody>
          <a:bodyPr wrap="square" anchor="t" lIns="73152" rIns="73152" tIns="36576" bIns="36576">
            <a:spAutoFit/>
          </a:bodyPr>
          <a:lstStyle/>
          <a:p>
            <a:pPr algn="l">
              <a:lnSpc>
                <a:spcPct val="115000"/>
              </a:lnSpc>
            </a:pPr>
            <a:r>
              <a:rPr sz="1400" b="0" i="0">
                <a:solidFill>
                  <a:srgbClr val="E6ECF5"/>
                </a:solidFill>
                <a:latin typeface="Segoe UI"/>
              </a:rPr>
              <a:t>After building CyberProbe, the pattern was unmistakable.
</a:t>
            </a:r>
            <a:r>
              <a:rPr sz="1400" b="0" i="0">
                <a:solidFill>
                  <a:srgbClr val="E6ECF5"/>
                </a:solidFill>
                <a:latin typeface="Segoe UI"/>
              </a:rPr>
              <a:t>The question wasn't </a:t>
            </a:r>
            <a:r>
              <a:rPr sz="1400" b="0" i="1">
                <a:solidFill>
                  <a:srgbClr val="E6ECF5"/>
                </a:solidFill>
                <a:latin typeface="Segoe UI"/>
              </a:rPr>
              <a:t>"which product?"</a:t>
            </a:r>
            <a:r>
              <a:rPr sz="1400" b="0" i="0">
                <a:solidFill>
                  <a:srgbClr val="E6ECF5"/>
                </a:solidFill>
                <a:latin typeface="Segoe UI"/>
              </a:rPr>
              <a:t> — it was:</a:t>
            </a:r>
          </a:p>
        </p:txBody>
      </p:sp>
      <p:sp>
        <p:nvSpPr>
          <p:cNvPr id="4" name="Rectangle 3"/>
          <p:cNvSpPr/>
          <p:nvPr/>
        </p:nvSpPr>
        <p:spPr>
          <a:xfrm>
            <a:off x="640080" y="2103120"/>
            <a:ext cx="64008" cy="914400"/>
          </a:xfrm>
          <a:prstGeom prst="rect">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04088" y="2103120"/>
            <a:ext cx="10908792" cy="914400"/>
          </a:xfrm>
          <a:prstGeom prst="roundRect">
            <a:avLst>
              <a:gd name="adj" fmla="val 5000"/>
            </a:avLst>
          </a:prstGeom>
          <a:solidFill>
            <a:srgbClr val="141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94560"/>
            <a:ext cx="10607040" cy="731520"/>
          </a:xfrm>
          <a:prstGeom prst="rect">
            <a:avLst/>
          </a:prstGeom>
          <a:noFill/>
        </p:spPr>
        <p:txBody>
          <a:bodyPr wrap="square" anchor="ctr" lIns="73152" rIns="73152" tIns="36576" bIns="36576">
            <a:spAutoFit/>
          </a:bodyPr>
          <a:lstStyle/>
          <a:p>
            <a:pPr algn="l">
              <a:lnSpc>
                <a:spcPct val="115000"/>
              </a:lnSpc>
            </a:pPr>
            <a:r>
              <a:rPr sz="2200" b="0" i="0">
                <a:solidFill>
                  <a:srgbClr val="E6ECF5"/>
                </a:solidFill>
                <a:latin typeface="Segoe UI"/>
              </a:rPr>
              <a:t>"How can Microsoft help us in this context?"</a:t>
            </a:r>
          </a:p>
        </p:txBody>
      </p:sp>
      <p:sp>
        <p:nvSpPr>
          <p:cNvPr id="7" name="Rounded Rectangle 6"/>
          <p:cNvSpPr/>
          <p:nvPr/>
        </p:nvSpPr>
        <p:spPr>
          <a:xfrm>
            <a:off x="640080" y="3383280"/>
            <a:ext cx="3657600" cy="256032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493008"/>
            <a:ext cx="3383280" cy="365760"/>
          </a:xfrm>
          <a:prstGeom prst="rect">
            <a:avLst/>
          </a:prstGeom>
          <a:noFill/>
        </p:spPr>
        <p:txBody>
          <a:bodyPr wrap="square" anchor="t" lIns="73152" rIns="73152" tIns="36576" bIns="36576">
            <a:spAutoFit/>
          </a:bodyPr>
          <a:lstStyle/>
          <a:p>
            <a:pPr algn="l">
              <a:lnSpc>
                <a:spcPct val="115000"/>
              </a:lnSpc>
            </a:pPr>
            <a:r>
              <a:rPr sz="1600" b="1" i="0">
                <a:solidFill>
                  <a:srgbClr val="4CC2FF"/>
                </a:solidFill>
                <a:latin typeface="Segoe UI"/>
              </a:rPr>
              <a:t>Not just Defender</a:t>
            </a:r>
          </a:p>
        </p:txBody>
      </p:sp>
      <p:sp>
        <p:nvSpPr>
          <p:cNvPr id="9" name="TextBox 8"/>
          <p:cNvSpPr txBox="1"/>
          <p:nvPr/>
        </p:nvSpPr>
        <p:spPr>
          <a:xfrm>
            <a:off x="777240" y="3886200"/>
            <a:ext cx="3383280" cy="1965960"/>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Great for endpoint, identity, email — but doesn't answer posture on its own.</a:t>
            </a:r>
          </a:p>
        </p:txBody>
      </p:sp>
      <p:sp>
        <p:nvSpPr>
          <p:cNvPr id="10" name="Rounded Rectangle 9"/>
          <p:cNvSpPr/>
          <p:nvPr/>
        </p:nvSpPr>
        <p:spPr>
          <a:xfrm>
            <a:off x="4389120" y="3383280"/>
            <a:ext cx="3657600" cy="256032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3493008"/>
            <a:ext cx="3383280" cy="365760"/>
          </a:xfrm>
          <a:prstGeom prst="rect">
            <a:avLst/>
          </a:prstGeom>
          <a:noFill/>
        </p:spPr>
        <p:txBody>
          <a:bodyPr wrap="square" anchor="t" lIns="73152" rIns="73152" tIns="36576" bIns="36576">
            <a:spAutoFit/>
          </a:bodyPr>
          <a:lstStyle/>
          <a:p>
            <a:pPr algn="l">
              <a:lnSpc>
                <a:spcPct val="115000"/>
              </a:lnSpc>
            </a:pPr>
            <a:r>
              <a:rPr sz="1600" b="1" i="0">
                <a:solidFill>
                  <a:srgbClr val="4CC2FF"/>
                </a:solidFill>
                <a:latin typeface="Segoe UI"/>
              </a:rPr>
              <a:t>Not just Sentinel</a:t>
            </a:r>
          </a:p>
        </p:txBody>
      </p:sp>
      <p:sp>
        <p:nvSpPr>
          <p:cNvPr id="12" name="TextBox 11"/>
          <p:cNvSpPr txBox="1"/>
          <p:nvPr/>
        </p:nvSpPr>
        <p:spPr>
          <a:xfrm>
            <a:off x="4526280" y="3886200"/>
            <a:ext cx="3383280" cy="1965960"/>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The data lake matters, but the lake alone isn't a conversation.</a:t>
            </a:r>
          </a:p>
        </p:txBody>
      </p:sp>
      <p:sp>
        <p:nvSpPr>
          <p:cNvPr id="13" name="Rounded Rectangle 12"/>
          <p:cNvSpPr/>
          <p:nvPr/>
        </p:nvSpPr>
        <p:spPr>
          <a:xfrm>
            <a:off x="8138160" y="3383280"/>
            <a:ext cx="3657600" cy="2560320"/>
          </a:xfrm>
          <a:prstGeom prst="roundRect">
            <a:avLst>
              <a:gd name="adj" fmla="val 8000"/>
            </a:avLst>
          </a:prstGeom>
          <a:solidFill>
            <a:srgbClr val="102B22"/>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3493008"/>
            <a:ext cx="3383280" cy="365760"/>
          </a:xfrm>
          <a:prstGeom prst="rect">
            <a:avLst/>
          </a:prstGeom>
          <a:noFill/>
        </p:spPr>
        <p:txBody>
          <a:bodyPr wrap="square" anchor="t" lIns="73152" rIns="73152" tIns="36576" bIns="36576">
            <a:spAutoFit/>
          </a:bodyPr>
          <a:lstStyle/>
          <a:p>
            <a:pPr algn="l">
              <a:lnSpc>
                <a:spcPct val="115000"/>
              </a:lnSpc>
            </a:pPr>
            <a:r>
              <a:rPr sz="1600" b="1" i="0">
                <a:solidFill>
                  <a:srgbClr val="3DDC97"/>
                </a:solidFill>
                <a:latin typeface="Segoe UI"/>
              </a:rPr>
              <a:t>A combination</a:t>
            </a:r>
          </a:p>
        </p:txBody>
      </p:sp>
      <p:sp>
        <p:nvSpPr>
          <p:cNvPr id="15" name="TextBox 14"/>
          <p:cNvSpPr txBox="1"/>
          <p:nvPr/>
        </p:nvSpPr>
        <p:spPr>
          <a:xfrm>
            <a:off x="8275320" y="3886200"/>
            <a:ext cx="3383280" cy="1965960"/>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Defender XDR + Sentinel + Defender for Cloud + Exposure Management + Copilot — orchestrated.</a:t>
            </a:r>
          </a:p>
        </p:txBody>
      </p:sp>
      <p:sp>
        <p:nvSpPr>
          <p:cNvPr id="16" name="TextBox 15"/>
          <p:cNvSpPr txBox="1"/>
          <p:nvPr/>
        </p:nvSpPr>
        <p:spPr>
          <a:xfrm>
            <a:off x="640080" y="6126480"/>
            <a:ext cx="10972800" cy="457200"/>
          </a:xfrm>
          <a:prstGeom prst="rect">
            <a:avLst/>
          </a:prstGeom>
          <a:noFill/>
        </p:spPr>
        <p:txBody>
          <a:bodyPr wrap="square" anchor="t" lIns="73152" rIns="73152" tIns="36576" bIns="36576">
            <a:spAutoFit/>
          </a:bodyPr>
          <a:lstStyle/>
          <a:p>
            <a:pPr algn="l">
              <a:lnSpc>
                <a:spcPct val="115000"/>
              </a:lnSpc>
            </a:pPr>
            <a:r>
              <a:rPr sz="1200" b="0" i="1">
                <a:solidFill>
                  <a:srgbClr val="9AA7BD"/>
                </a:solidFill>
                <a:latin typeface="Segoe UI"/>
              </a:rPr>
              <a:t>The answer is never one product. It's how the pieces talk to each other — through agents.</a:t>
            </a:r>
          </a:p>
        </p:txBody>
      </p:sp>
      <p:sp>
        <p:nvSpPr>
          <p:cNvPr id="17" name="TextBox 16"/>
          <p:cNvSpPr txBox="1"/>
          <p:nvPr/>
        </p:nvSpPr>
        <p:spPr>
          <a:xfrm>
            <a:off x="9144000" y="6492240"/>
            <a:ext cx="2743200" cy="274320"/>
          </a:xfrm>
          <a:prstGeom prst="rect">
            <a:avLst/>
          </a:prstGeom>
          <a:noFill/>
        </p:spPr>
        <p:txBody>
          <a:bodyPr wrap="square" anchor="t" lIns="73152" rIns="73152" tIns="36576" bIns="36576">
            <a:spAutoFit/>
          </a:bodyPr>
          <a:lstStyle/>
          <a:p>
            <a:pPr algn="r">
              <a:lnSpc>
                <a:spcPct val="115000"/>
              </a:lnSpc>
            </a:pPr>
            <a:r>
              <a:rPr sz="1000" b="0" i="0">
                <a:solidFill>
                  <a:srgbClr val="9AA7BD"/>
                </a:solidFill>
                <a:latin typeface="Segoe UI"/>
              </a:rPr>
              <a:t>04 · Customer questions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73152" rIns="73152" tIns="36576" bIns="36576">
            <a:spAutoFit/>
          </a:bodyPr>
          <a:lstStyle/>
          <a:p>
            <a:pPr algn="l">
              <a:lnSpc>
                <a:spcPct val="115000"/>
              </a:lnSpc>
            </a:pPr>
            <a:r>
              <a:rPr sz="2800" b="1" i="0">
                <a:solidFill>
                  <a:srgbClr val="FFFFFF"/>
                </a:solidFill>
                <a:latin typeface="Segoe UI"/>
              </a:rPr>
              <a:t>Hydro-Québec — one customer, diverse needs</a:t>
            </a:r>
          </a:p>
        </p:txBody>
      </p:sp>
      <p:sp>
        <p:nvSpPr>
          <p:cNvPr id="3" name="TextBox 2"/>
          <p:cNvSpPr txBox="1"/>
          <p:nvPr/>
        </p:nvSpPr>
        <p:spPr>
          <a:xfrm>
            <a:off x="640080" y="960120"/>
            <a:ext cx="10972800" cy="457200"/>
          </a:xfrm>
          <a:prstGeom prst="rect">
            <a:avLst/>
          </a:prstGeom>
          <a:noFill/>
        </p:spPr>
        <p:txBody>
          <a:bodyPr wrap="square" anchor="t" lIns="73152" rIns="73152" tIns="36576" bIns="36576">
            <a:spAutoFit/>
          </a:bodyPr>
          <a:lstStyle/>
          <a:p>
            <a:pPr algn="l">
              <a:lnSpc>
                <a:spcPct val="115000"/>
              </a:lnSpc>
            </a:pPr>
            <a:r>
              <a:rPr sz="1300" b="0" i="1">
                <a:solidFill>
                  <a:srgbClr val="9AA7BD"/>
                </a:solidFill>
                <a:latin typeface="Segoe UI"/>
              </a:rPr>
              <a:t>CTEM framing. Same data. Very different expectations depending on the audience.</a:t>
            </a:r>
          </a:p>
        </p:txBody>
      </p:sp>
      <p:sp>
        <p:nvSpPr>
          <p:cNvPr id="4" name="Rounded Rectangle 3"/>
          <p:cNvSpPr/>
          <p:nvPr/>
        </p:nvSpPr>
        <p:spPr>
          <a:xfrm>
            <a:off x="640080" y="1645920"/>
            <a:ext cx="5394960" cy="3749039"/>
          </a:xfrm>
          <a:prstGeom prst="roundRect">
            <a:avLst>
              <a:gd name="adj" fmla="val 8000"/>
            </a:avLst>
          </a:prstGeom>
          <a:solidFill>
            <a:srgbClr val="1A1536"/>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55648"/>
            <a:ext cx="5120640" cy="365760"/>
          </a:xfrm>
          <a:prstGeom prst="rect">
            <a:avLst/>
          </a:prstGeom>
          <a:noFill/>
        </p:spPr>
        <p:txBody>
          <a:bodyPr wrap="square" anchor="t" lIns="73152" rIns="73152" tIns="36576" bIns="36576">
            <a:spAutoFit/>
          </a:bodyPr>
          <a:lstStyle/>
          <a:p>
            <a:pPr algn="l">
              <a:lnSpc>
                <a:spcPct val="115000"/>
              </a:lnSpc>
            </a:pPr>
            <a:r>
              <a:rPr sz="1700" b="1" i="0">
                <a:solidFill>
                  <a:srgbClr val="7C5CFF"/>
                </a:solidFill>
                <a:latin typeface="Segoe UI"/>
              </a:rPr>
              <a:t>🏢  ITDM perspective</a:t>
            </a:r>
          </a:p>
        </p:txBody>
      </p:sp>
      <p:sp>
        <p:nvSpPr>
          <p:cNvPr id="6" name="TextBox 5"/>
          <p:cNvSpPr txBox="1"/>
          <p:nvPr/>
        </p:nvSpPr>
        <p:spPr>
          <a:xfrm>
            <a:off x="777240" y="2148840"/>
            <a:ext cx="5120640" cy="3154679"/>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"What's my residual risk this quarter?"</a:t>
            </a:r>
          </a:p>
          <a:p>
            <a:pPr algn="l">
              <a:lnSpc>
                <a:spcPct val="120000"/>
              </a:lnSpc>
            </a:pPr>
            <a:r>
              <a:rPr sz="1300">
                <a:solidFill>
                  <a:srgbClr val="E6ECF5"/>
                </a:solidFill>
                <a:latin typeface="Segoe UI"/>
              </a:rPr>
              <a:t>• "Where should I invest — remediation or detection?"</a:t>
            </a:r>
          </a:p>
          <a:p>
            <a:pPr algn="l">
              <a:lnSpc>
                <a:spcPct val="120000"/>
              </a:lnSpc>
            </a:pPr>
            <a:r>
              <a:rPr sz="1300">
                <a:solidFill>
                  <a:srgbClr val="E6ECF5"/>
                </a:solidFill>
                <a:latin typeface="Segoe UI"/>
              </a:rPr>
              <a:t>• "Can I reconcile posture across Azure + on-prem + third parties?"</a:t>
            </a:r>
          </a:p>
        </p:txBody>
      </p:sp>
      <p:sp>
        <p:nvSpPr>
          <p:cNvPr id="7" name="Rounded Rectangle 6"/>
          <p:cNvSpPr/>
          <p:nvPr/>
        </p:nvSpPr>
        <p:spPr>
          <a:xfrm>
            <a:off x="6217920" y="1645920"/>
            <a:ext cx="5394960" cy="3749039"/>
          </a:xfrm>
          <a:prstGeom prst="roundRect">
            <a:avLst>
              <a:gd name="adj" fmla="val 8000"/>
            </a:avLst>
          </a:prstGeom>
          <a:solidFill>
            <a:srgbClr val="1A1536"/>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755648"/>
            <a:ext cx="5120640" cy="365760"/>
          </a:xfrm>
          <a:prstGeom prst="rect">
            <a:avLst/>
          </a:prstGeom>
          <a:noFill/>
        </p:spPr>
        <p:txBody>
          <a:bodyPr wrap="square" anchor="t" lIns="73152" rIns="73152" tIns="36576" bIns="36576">
            <a:spAutoFit/>
          </a:bodyPr>
          <a:lstStyle/>
          <a:p>
            <a:pPr algn="l">
              <a:lnSpc>
                <a:spcPct val="115000"/>
              </a:lnSpc>
            </a:pPr>
            <a:r>
              <a:rPr sz="1700" b="1" i="0">
                <a:solidFill>
                  <a:srgbClr val="7C5CFF"/>
                </a:solidFill>
                <a:latin typeface="Segoe UI"/>
              </a:rPr>
              <a:t>🛡️  SOC analyst perspective</a:t>
            </a:r>
          </a:p>
        </p:txBody>
      </p:sp>
      <p:sp>
        <p:nvSpPr>
          <p:cNvPr id="9" name="TextBox 8"/>
          <p:cNvSpPr txBox="1"/>
          <p:nvPr/>
        </p:nvSpPr>
        <p:spPr>
          <a:xfrm>
            <a:off x="6355080" y="2148840"/>
            <a:ext cx="5120640" cy="3154679"/>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"Is this alert on a real attack path?"</a:t>
            </a:r>
          </a:p>
          <a:p>
            <a:pPr algn="l">
              <a:lnSpc>
                <a:spcPct val="120000"/>
              </a:lnSpc>
            </a:pPr>
            <a:r>
              <a:rPr sz="1300">
                <a:solidFill>
                  <a:srgbClr val="E6ECF5"/>
                </a:solidFill>
                <a:latin typeface="Segoe UI"/>
              </a:rPr>
              <a:t>• "Which choke point would break the kill chain?"</a:t>
            </a:r>
          </a:p>
          <a:p>
            <a:pPr algn="l">
              <a:lnSpc>
                <a:spcPct val="120000"/>
              </a:lnSpc>
            </a:pPr>
            <a:r>
              <a:rPr sz="1300">
                <a:solidFill>
                  <a:srgbClr val="E6ECF5"/>
                </a:solidFill>
                <a:latin typeface="Segoe UI"/>
              </a:rPr>
              <a:t>• "Who else is affected — blast radius, now."</a:t>
            </a:r>
          </a:p>
        </p:txBody>
      </p:sp>
      <p:sp>
        <p:nvSpPr>
          <p:cNvPr id="10" name="Rectangle 9"/>
          <p:cNvSpPr/>
          <p:nvPr/>
        </p:nvSpPr>
        <p:spPr>
          <a:xfrm>
            <a:off x="640080" y="5623560"/>
            <a:ext cx="64008" cy="822960"/>
          </a:xfrm>
          <a:prstGeom prst="rect">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4088" y="5623560"/>
            <a:ext cx="10908792" cy="822960"/>
          </a:xfrm>
          <a:prstGeom prst="roundRect">
            <a:avLst>
              <a:gd name="adj" fmla="val 5000"/>
            </a:avLst>
          </a:prstGeom>
          <a:solidFill>
            <a:srgbClr val="141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715000"/>
            <a:ext cx="10607040" cy="640080"/>
          </a:xfrm>
          <a:prstGeom prst="rect">
            <a:avLst/>
          </a:prstGeom>
          <a:noFill/>
        </p:spPr>
        <p:txBody>
          <a:bodyPr wrap="square" anchor="ctr" lIns="73152" rIns="73152" tIns="36576" bIns="36576">
            <a:spAutoFit/>
          </a:bodyPr>
          <a:lstStyle/>
          <a:p>
            <a:pPr algn="l">
              <a:lnSpc>
                <a:spcPct val="115000"/>
              </a:lnSpc>
            </a:pPr>
            <a:r>
              <a:rPr sz="1600" b="0" i="0">
                <a:solidFill>
                  <a:srgbClr val="E6ECF5"/>
                </a:solidFill>
                <a:latin typeface="Segoe UI"/>
              </a:rPr>
              <a:t>The data was already there. What was missing was the translation layer.</a:t>
            </a:r>
          </a:p>
        </p:txBody>
      </p:sp>
      <p:sp>
        <p:nvSpPr>
          <p:cNvPr id="13" name="TextBox 12"/>
          <p:cNvSpPr txBox="1"/>
          <p:nvPr/>
        </p:nvSpPr>
        <p:spPr>
          <a:xfrm>
            <a:off x="9144000" y="6492240"/>
            <a:ext cx="2743200" cy="274320"/>
          </a:xfrm>
          <a:prstGeom prst="rect">
            <a:avLst/>
          </a:prstGeom>
          <a:noFill/>
        </p:spPr>
        <p:txBody>
          <a:bodyPr wrap="square" anchor="t" lIns="73152" rIns="73152" tIns="36576" bIns="36576">
            <a:spAutoFit/>
          </a:bodyPr>
          <a:lstStyle/>
          <a:p>
            <a:pPr algn="r">
              <a:lnSpc>
                <a:spcPct val="115000"/>
              </a:lnSpc>
            </a:pPr>
            <a:r>
              <a:rPr sz="1000" b="0" i="0">
                <a:solidFill>
                  <a:srgbClr val="9AA7BD"/>
                </a:solidFill>
                <a:latin typeface="Segoe UI"/>
              </a:rPr>
              <a:t>05 · Hydro-Québec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73152" rIns="73152" tIns="36576" bIns="36576">
            <a:spAutoFit/>
          </a:bodyPr>
          <a:lstStyle/>
          <a:p>
            <a:pPr algn="l">
              <a:lnSpc>
                <a:spcPct val="115000"/>
              </a:lnSpc>
            </a:pPr>
            <a:r>
              <a:rPr sz="2400" b="1" i="0">
                <a:solidFill>
                  <a:srgbClr val="FFFFFF"/>
                </a:solidFill>
                <a:latin typeface="Segoe UI"/>
              </a:rPr>
              <a:t>Curve the toolset to the customer — don't force-fit the customer to the tool</a:t>
            </a:r>
          </a:p>
        </p:txBody>
      </p:sp>
      <p:sp>
        <p:nvSpPr>
          <p:cNvPr id="3" name="Rectangle 2"/>
          <p:cNvSpPr/>
          <p:nvPr/>
        </p:nvSpPr>
        <p:spPr>
          <a:xfrm>
            <a:off x="640080" y="1371600"/>
            <a:ext cx="64008" cy="1280160"/>
          </a:xfrm>
          <a:prstGeom prst="rect">
            <a:avLst/>
          </a:prstGeom>
          <a:solidFill>
            <a:srgbClr val="3DDC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04088" y="1371600"/>
            <a:ext cx="10908792" cy="1280160"/>
          </a:xfrm>
          <a:prstGeom prst="roundRect">
            <a:avLst>
              <a:gd name="adj" fmla="val 4000"/>
            </a:avLst>
          </a:prstGeom>
          <a:solidFill>
            <a:srgbClr val="12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44752"/>
            <a:ext cx="10607040" cy="411480"/>
          </a:xfrm>
          <a:prstGeom prst="rect">
            <a:avLst/>
          </a:prstGeom>
          <a:noFill/>
        </p:spPr>
        <p:txBody>
          <a:bodyPr wrap="square" anchor="t" lIns="73152" rIns="73152" tIns="36576" bIns="36576">
            <a:spAutoFit/>
          </a:bodyPr>
          <a:lstStyle/>
          <a:p>
            <a:pPr algn="l">
              <a:lnSpc>
                <a:spcPct val="115000"/>
              </a:lnSpc>
            </a:pPr>
            <a:r>
              <a:rPr sz="1500" b="1" i="0">
                <a:solidFill>
                  <a:srgbClr val="3DDC97"/>
                </a:solidFill>
                <a:latin typeface="Segoe UI"/>
              </a:rPr>
              <a:t>Persona layer — CISO · ITDM · Architect · SOC · Ops</a:t>
            </a:r>
          </a:p>
        </p:txBody>
      </p:sp>
      <p:sp>
        <p:nvSpPr>
          <p:cNvPr id="6" name="TextBox 5"/>
          <p:cNvSpPr txBox="1"/>
          <p:nvPr/>
        </p:nvSpPr>
        <p:spPr>
          <a:xfrm>
            <a:off x="868680" y="1874519"/>
            <a:ext cx="10607040" cy="731519"/>
          </a:xfrm>
          <a:prstGeom prst="rect">
            <a:avLst/>
          </a:prstGeom>
          <a:noFill/>
        </p:spPr>
        <p:txBody>
          <a:bodyPr wrap="square" anchor="t" lIns="73152" rIns="73152" tIns="36576" bIns="36576">
            <a:spAutoFit/>
          </a:bodyPr>
          <a:lstStyle/>
          <a:p>
            <a:pPr algn="l">
              <a:lnSpc>
                <a:spcPct val="115000"/>
              </a:lnSpc>
            </a:pPr>
            <a:r>
              <a:rPr sz="1100" b="0" i="0">
                <a:solidFill>
                  <a:srgbClr val="E6ECF5"/>
                </a:solidFill>
                <a:latin typeface="Segoe UI"/>
              </a:rPr>
              <a:t>Different questions, different outputs, same agent fabric.</a:t>
            </a:r>
          </a:p>
        </p:txBody>
      </p:sp>
      <p:sp>
        <p:nvSpPr>
          <p:cNvPr id="7" name="Rectangle 6"/>
          <p:cNvSpPr/>
          <p:nvPr/>
        </p:nvSpPr>
        <p:spPr>
          <a:xfrm>
            <a:off x="640080" y="2743200"/>
            <a:ext cx="64008" cy="1463040"/>
          </a:xfrm>
          <a:prstGeom prst="rect">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04088" y="2743200"/>
            <a:ext cx="10908792" cy="1463040"/>
          </a:xfrm>
          <a:prstGeom prst="roundRect">
            <a:avLst>
              <a:gd name="adj" fmla="val 4000"/>
            </a:avLst>
          </a:prstGeom>
          <a:solidFill>
            <a:srgbClr val="12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16352"/>
            <a:ext cx="10607040" cy="411480"/>
          </a:xfrm>
          <a:prstGeom prst="rect">
            <a:avLst/>
          </a:prstGeom>
          <a:noFill/>
        </p:spPr>
        <p:txBody>
          <a:bodyPr wrap="square" anchor="t" lIns="73152" rIns="73152" tIns="36576" bIns="36576">
            <a:spAutoFit/>
          </a:bodyPr>
          <a:lstStyle/>
          <a:p>
            <a:pPr algn="l">
              <a:lnSpc>
                <a:spcPct val="115000"/>
              </a:lnSpc>
            </a:pPr>
            <a:r>
              <a:rPr sz="1500" b="1" i="0">
                <a:solidFill>
                  <a:srgbClr val="7C5CFF"/>
                </a:solidFill>
                <a:latin typeface="Segoe UI"/>
              </a:rPr>
              <a:t>Agent &amp; skill layer — orchestration via MCP</a:t>
            </a:r>
          </a:p>
        </p:txBody>
      </p:sp>
      <p:sp>
        <p:nvSpPr>
          <p:cNvPr id="10" name="TextBox 9"/>
          <p:cNvSpPr txBox="1"/>
          <p:nvPr/>
        </p:nvSpPr>
        <p:spPr>
          <a:xfrm>
            <a:off x="868680" y="3246120"/>
            <a:ext cx="10607040" cy="914400"/>
          </a:xfrm>
          <a:prstGeom prst="rect">
            <a:avLst/>
          </a:prstGeom>
          <a:noFill/>
        </p:spPr>
        <p:txBody>
          <a:bodyPr wrap="square" anchor="t" lIns="73152" rIns="73152" tIns="36576" bIns="36576">
            <a:spAutoFit/>
          </a:bodyPr>
          <a:lstStyle/>
          <a:p>
            <a:pPr algn="l">
              <a:lnSpc>
                <a:spcPct val="115000"/>
              </a:lnSpc>
            </a:pPr>
            <a:r>
              <a:rPr sz="1100" b="0" i="0">
                <a:solidFill>
                  <a:srgbClr val="E6ECF5"/>
                </a:solidFill>
                <a:latin typeface="Segoe UI"/>
              </a:rPr>
              <a:t/>
            </a:r>
          </a:p>
        </p:txBody>
      </p:sp>
      <p:sp>
        <p:nvSpPr>
          <p:cNvPr id="11" name="Rounded Rectangle 10"/>
          <p:cNvSpPr/>
          <p:nvPr/>
        </p:nvSpPr>
        <p:spPr>
          <a:xfrm>
            <a:off x="914400" y="3749039"/>
            <a:ext cx="1901952" cy="274320"/>
          </a:xfrm>
          <a:prstGeom prst="roundRect">
            <a:avLst>
              <a:gd name="adj" fmla="val 50000"/>
            </a:avLst>
          </a:prstGeom>
          <a:solidFill>
            <a:srgbClr val="102B22"/>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767327"/>
            <a:ext cx="1901952" cy="256032"/>
          </a:xfrm>
          <a:prstGeom prst="rect">
            <a:avLst/>
          </a:prstGeom>
          <a:noFill/>
        </p:spPr>
        <p:txBody>
          <a:bodyPr wrap="square" anchor="ctr" lIns="73152" rIns="73152" tIns="36576" bIns="36576">
            <a:spAutoFit/>
          </a:bodyPr>
          <a:lstStyle/>
          <a:p>
            <a:pPr algn="ctr">
              <a:lnSpc>
                <a:spcPct val="115000"/>
              </a:lnSpc>
            </a:pPr>
            <a:r>
              <a:rPr sz="950" b="1" i="0">
                <a:solidFill>
                  <a:srgbClr val="3DDC97"/>
                </a:solidFill>
                <a:latin typeface="Segoe UI"/>
              </a:rPr>
              <a:t>GitHub Copilot</a:t>
            </a:r>
          </a:p>
        </p:txBody>
      </p:sp>
      <p:sp>
        <p:nvSpPr>
          <p:cNvPr id="13" name="Rounded Rectangle 12"/>
          <p:cNvSpPr/>
          <p:nvPr/>
        </p:nvSpPr>
        <p:spPr>
          <a:xfrm>
            <a:off x="2907792" y="3749039"/>
            <a:ext cx="2121408" cy="274320"/>
          </a:xfrm>
          <a:prstGeom prst="roundRect">
            <a:avLst>
              <a:gd name="adj" fmla="val 50000"/>
            </a:avLst>
          </a:prstGeom>
          <a:solidFill>
            <a:srgbClr val="102B22"/>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07792" y="3767327"/>
            <a:ext cx="2121408" cy="256032"/>
          </a:xfrm>
          <a:prstGeom prst="rect">
            <a:avLst/>
          </a:prstGeom>
          <a:noFill/>
        </p:spPr>
        <p:txBody>
          <a:bodyPr wrap="square" anchor="ctr" lIns="73152" rIns="73152" tIns="36576" bIns="36576">
            <a:spAutoFit/>
          </a:bodyPr>
          <a:lstStyle/>
          <a:p>
            <a:pPr algn="ctr">
              <a:lnSpc>
                <a:spcPct val="115000"/>
              </a:lnSpc>
            </a:pPr>
            <a:r>
              <a:rPr sz="950" b="1" i="0">
                <a:solidFill>
                  <a:srgbClr val="3DDC97"/>
                </a:solidFill>
                <a:latin typeface="Segoe UI"/>
              </a:rPr>
              <a:t>Security Copilot</a:t>
            </a:r>
          </a:p>
        </p:txBody>
      </p:sp>
      <p:sp>
        <p:nvSpPr>
          <p:cNvPr id="15" name="Rounded Rectangle 14"/>
          <p:cNvSpPr/>
          <p:nvPr/>
        </p:nvSpPr>
        <p:spPr>
          <a:xfrm>
            <a:off x="5120640" y="3749039"/>
            <a:ext cx="2231136" cy="274320"/>
          </a:xfrm>
          <a:prstGeom prst="roundRect">
            <a:avLst>
              <a:gd name="adj" fmla="val 50000"/>
            </a:avLst>
          </a:prstGeom>
          <a:solidFill>
            <a:srgbClr val="102B22"/>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0" y="3767327"/>
            <a:ext cx="2231136" cy="256032"/>
          </a:xfrm>
          <a:prstGeom prst="rect">
            <a:avLst/>
          </a:prstGeom>
          <a:noFill/>
        </p:spPr>
        <p:txBody>
          <a:bodyPr wrap="square" anchor="ctr" lIns="73152" rIns="73152" tIns="36576" bIns="36576">
            <a:spAutoFit/>
          </a:bodyPr>
          <a:lstStyle/>
          <a:p>
            <a:pPr algn="ctr">
              <a:lnSpc>
                <a:spcPct val="115000"/>
              </a:lnSpc>
            </a:pPr>
            <a:r>
              <a:rPr sz="950" b="1" i="0">
                <a:solidFill>
                  <a:srgbClr val="3DDC97"/>
                </a:solidFill>
                <a:latin typeface="Segoe UI"/>
              </a:rPr>
              <a:t>CyberProbe skills</a:t>
            </a:r>
          </a:p>
        </p:txBody>
      </p:sp>
      <p:sp>
        <p:nvSpPr>
          <p:cNvPr id="17" name="Rounded Rectangle 16"/>
          <p:cNvSpPr/>
          <p:nvPr/>
        </p:nvSpPr>
        <p:spPr>
          <a:xfrm>
            <a:off x="7443215" y="3749039"/>
            <a:ext cx="1792224" cy="274320"/>
          </a:xfrm>
          <a:prstGeom prst="roundRect">
            <a:avLst>
              <a:gd name="adj" fmla="val 50000"/>
            </a:avLst>
          </a:prstGeom>
          <a:solidFill>
            <a:srgbClr val="102B22"/>
          </a:solidFill>
          <a:ln w="952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43215" y="3767327"/>
            <a:ext cx="1792224" cy="256032"/>
          </a:xfrm>
          <a:prstGeom prst="rect">
            <a:avLst/>
          </a:prstGeom>
          <a:noFill/>
        </p:spPr>
        <p:txBody>
          <a:bodyPr wrap="square" anchor="ctr" lIns="73152" rIns="73152" tIns="36576" bIns="36576">
            <a:spAutoFit/>
          </a:bodyPr>
          <a:lstStyle/>
          <a:p>
            <a:pPr algn="ctr">
              <a:lnSpc>
                <a:spcPct val="115000"/>
              </a:lnSpc>
            </a:pPr>
            <a:r>
              <a:rPr sz="950" b="1" i="0">
                <a:solidFill>
                  <a:srgbClr val="3DDC97"/>
                </a:solidFill>
                <a:latin typeface="Segoe UI"/>
              </a:rPr>
              <a:t>Custom agents</a:t>
            </a:r>
          </a:p>
        </p:txBody>
      </p:sp>
      <p:sp>
        <p:nvSpPr>
          <p:cNvPr id="19" name="Rectangle 18"/>
          <p:cNvSpPr/>
          <p:nvPr/>
        </p:nvSpPr>
        <p:spPr>
          <a:xfrm>
            <a:off x="640080" y="4297680"/>
            <a:ext cx="64008" cy="1554480"/>
          </a:xfrm>
          <a:prstGeom prst="rect">
            <a:avLst/>
          </a:prstGeom>
          <a:solidFill>
            <a:srgbClr val="4C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04088" y="4297680"/>
            <a:ext cx="10908792" cy="1554480"/>
          </a:xfrm>
          <a:prstGeom prst="roundRect">
            <a:avLst>
              <a:gd name="adj" fmla="val 4000"/>
            </a:avLst>
          </a:prstGeom>
          <a:solidFill>
            <a:srgbClr val="12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370832"/>
            <a:ext cx="10607040" cy="411480"/>
          </a:xfrm>
          <a:prstGeom prst="rect">
            <a:avLst/>
          </a:prstGeom>
          <a:noFill/>
        </p:spPr>
        <p:txBody>
          <a:bodyPr wrap="square" anchor="t" lIns="73152" rIns="73152" tIns="36576" bIns="36576">
            <a:spAutoFit/>
          </a:bodyPr>
          <a:lstStyle/>
          <a:p>
            <a:pPr algn="l">
              <a:lnSpc>
                <a:spcPct val="115000"/>
              </a:lnSpc>
            </a:pPr>
            <a:r>
              <a:rPr sz="1500" b="1" i="0">
                <a:solidFill>
                  <a:srgbClr val="4CC2FF"/>
                </a:solidFill>
                <a:latin typeface="Segoe UI"/>
              </a:rPr>
              <a:t>Data &amp; graph layer — Microsoft &amp; partner signals</a:t>
            </a:r>
          </a:p>
        </p:txBody>
      </p:sp>
      <p:sp>
        <p:nvSpPr>
          <p:cNvPr id="22" name="TextBox 21"/>
          <p:cNvSpPr txBox="1"/>
          <p:nvPr/>
        </p:nvSpPr>
        <p:spPr>
          <a:xfrm>
            <a:off x="868680" y="4800600"/>
            <a:ext cx="10607040" cy="1005840"/>
          </a:xfrm>
          <a:prstGeom prst="rect">
            <a:avLst/>
          </a:prstGeom>
          <a:noFill/>
        </p:spPr>
        <p:txBody>
          <a:bodyPr wrap="square" anchor="t" lIns="73152" rIns="73152" tIns="36576" bIns="36576">
            <a:spAutoFit/>
          </a:bodyPr>
          <a:lstStyle/>
          <a:p>
            <a:pPr algn="l">
              <a:lnSpc>
                <a:spcPct val="115000"/>
              </a:lnSpc>
            </a:pPr>
            <a:r>
              <a:rPr sz="1100" b="0" i="0">
                <a:solidFill>
                  <a:srgbClr val="E6ECF5"/>
                </a:solidFill>
                <a:latin typeface="Segoe UI"/>
              </a:rPr>
              <a:t/>
            </a:r>
          </a:p>
        </p:txBody>
      </p:sp>
      <p:sp>
        <p:nvSpPr>
          <p:cNvPr id="23" name="Rounded Rectangle 22"/>
          <p:cNvSpPr/>
          <p:nvPr/>
        </p:nvSpPr>
        <p:spPr>
          <a:xfrm>
            <a:off x="914400" y="5394960"/>
            <a:ext cx="1682495" cy="274320"/>
          </a:xfrm>
          <a:prstGeom prst="roundRect">
            <a:avLst>
              <a:gd name="adj" fmla="val 50000"/>
            </a:avLst>
          </a:prstGeom>
          <a:solidFill>
            <a:srgbClr val="0F2033"/>
          </a:solidFill>
          <a:ln w="9525">
            <a:solidFill>
              <a:srgbClr val="4CC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413248"/>
            <a:ext cx="1682495" cy="256032"/>
          </a:xfrm>
          <a:prstGeom prst="rect">
            <a:avLst/>
          </a:prstGeom>
          <a:noFill/>
        </p:spPr>
        <p:txBody>
          <a:bodyPr wrap="square" anchor="ctr" lIns="73152" rIns="73152" tIns="36576" bIns="36576">
            <a:spAutoFit/>
          </a:bodyPr>
          <a:lstStyle/>
          <a:p>
            <a:pPr algn="ctr">
              <a:lnSpc>
                <a:spcPct val="115000"/>
              </a:lnSpc>
            </a:pPr>
            <a:r>
              <a:rPr sz="950" b="1" i="0">
                <a:solidFill>
                  <a:srgbClr val="4CC2FF"/>
                </a:solidFill>
                <a:latin typeface="Segoe UI"/>
              </a:rPr>
              <a:t>Defender XDR</a:t>
            </a:r>
          </a:p>
        </p:txBody>
      </p:sp>
      <p:sp>
        <p:nvSpPr>
          <p:cNvPr id="25" name="Rounded Rectangle 24"/>
          <p:cNvSpPr/>
          <p:nvPr/>
        </p:nvSpPr>
        <p:spPr>
          <a:xfrm>
            <a:off x="2688336" y="5394960"/>
            <a:ext cx="2340864" cy="274320"/>
          </a:xfrm>
          <a:prstGeom prst="roundRect">
            <a:avLst>
              <a:gd name="adj" fmla="val 50000"/>
            </a:avLst>
          </a:prstGeom>
          <a:solidFill>
            <a:srgbClr val="0F2033"/>
          </a:solidFill>
          <a:ln w="9525">
            <a:solidFill>
              <a:srgbClr val="4CC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88336" y="5413248"/>
            <a:ext cx="2340864" cy="256032"/>
          </a:xfrm>
          <a:prstGeom prst="rect">
            <a:avLst/>
          </a:prstGeom>
          <a:noFill/>
        </p:spPr>
        <p:txBody>
          <a:bodyPr wrap="square" anchor="ctr" lIns="73152" rIns="73152" tIns="36576" bIns="36576">
            <a:spAutoFit/>
          </a:bodyPr>
          <a:lstStyle/>
          <a:p>
            <a:pPr algn="ctr">
              <a:lnSpc>
                <a:spcPct val="115000"/>
              </a:lnSpc>
            </a:pPr>
            <a:r>
              <a:rPr sz="950" b="1" i="0">
                <a:solidFill>
                  <a:srgbClr val="4CC2FF"/>
                </a:solidFill>
                <a:latin typeface="Segoe UI"/>
              </a:rPr>
              <a:t>Sentinel Data Lake</a:t>
            </a:r>
          </a:p>
        </p:txBody>
      </p:sp>
      <p:sp>
        <p:nvSpPr>
          <p:cNvPr id="27" name="Rounded Rectangle 26"/>
          <p:cNvSpPr/>
          <p:nvPr/>
        </p:nvSpPr>
        <p:spPr>
          <a:xfrm>
            <a:off x="5120640" y="5394960"/>
            <a:ext cx="2340864" cy="274320"/>
          </a:xfrm>
          <a:prstGeom prst="roundRect">
            <a:avLst>
              <a:gd name="adj" fmla="val 50000"/>
            </a:avLst>
          </a:prstGeom>
          <a:solidFill>
            <a:srgbClr val="0F2033"/>
          </a:solidFill>
          <a:ln w="9525">
            <a:solidFill>
              <a:srgbClr val="4CC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120640" y="5413248"/>
            <a:ext cx="2340864" cy="256032"/>
          </a:xfrm>
          <a:prstGeom prst="rect">
            <a:avLst/>
          </a:prstGeom>
          <a:noFill/>
        </p:spPr>
        <p:txBody>
          <a:bodyPr wrap="square" anchor="ctr" lIns="73152" rIns="73152" tIns="36576" bIns="36576">
            <a:spAutoFit/>
          </a:bodyPr>
          <a:lstStyle/>
          <a:p>
            <a:pPr algn="ctr">
              <a:lnSpc>
                <a:spcPct val="115000"/>
              </a:lnSpc>
            </a:pPr>
            <a:r>
              <a:rPr sz="950" b="1" i="0">
                <a:solidFill>
                  <a:srgbClr val="4CC2FF"/>
                </a:solidFill>
                <a:latin typeface="Segoe UI"/>
              </a:rPr>
              <a:t>Defender for Cloud</a:t>
            </a:r>
          </a:p>
        </p:txBody>
      </p:sp>
      <p:sp>
        <p:nvSpPr>
          <p:cNvPr id="29" name="Rounded Rectangle 28"/>
          <p:cNvSpPr/>
          <p:nvPr/>
        </p:nvSpPr>
        <p:spPr>
          <a:xfrm>
            <a:off x="7552944" y="5394960"/>
            <a:ext cx="1901952" cy="274320"/>
          </a:xfrm>
          <a:prstGeom prst="roundRect">
            <a:avLst>
              <a:gd name="adj" fmla="val 50000"/>
            </a:avLst>
          </a:prstGeom>
          <a:solidFill>
            <a:srgbClr val="0F2033"/>
          </a:solidFill>
          <a:ln w="9525">
            <a:solidFill>
              <a:srgbClr val="4CC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52944" y="5413248"/>
            <a:ext cx="1901952" cy="256032"/>
          </a:xfrm>
          <a:prstGeom prst="rect">
            <a:avLst/>
          </a:prstGeom>
          <a:noFill/>
        </p:spPr>
        <p:txBody>
          <a:bodyPr wrap="square" anchor="ctr" lIns="73152" rIns="73152" tIns="36576" bIns="36576">
            <a:spAutoFit/>
          </a:bodyPr>
          <a:lstStyle/>
          <a:p>
            <a:pPr algn="ctr">
              <a:lnSpc>
                <a:spcPct val="115000"/>
              </a:lnSpc>
            </a:pPr>
            <a:r>
              <a:rPr sz="950" b="1" i="0">
                <a:solidFill>
                  <a:srgbClr val="4CC2FF"/>
                </a:solidFill>
                <a:latin typeface="Segoe UI"/>
              </a:rPr>
              <a:t>Exposure Graph</a:t>
            </a:r>
          </a:p>
        </p:txBody>
      </p:sp>
      <p:sp>
        <p:nvSpPr>
          <p:cNvPr id="31" name="Rounded Rectangle 30"/>
          <p:cNvSpPr/>
          <p:nvPr/>
        </p:nvSpPr>
        <p:spPr>
          <a:xfrm>
            <a:off x="9546336" y="5394960"/>
            <a:ext cx="2560320" cy="274320"/>
          </a:xfrm>
          <a:prstGeom prst="roundRect">
            <a:avLst>
              <a:gd name="adj" fmla="val 50000"/>
            </a:avLst>
          </a:prstGeom>
          <a:solidFill>
            <a:srgbClr val="0F2033"/>
          </a:solidFill>
          <a:ln w="9525">
            <a:solidFill>
              <a:srgbClr val="4CC2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46336" y="5413248"/>
            <a:ext cx="2560320" cy="256032"/>
          </a:xfrm>
          <a:prstGeom prst="rect">
            <a:avLst/>
          </a:prstGeom>
          <a:noFill/>
        </p:spPr>
        <p:txBody>
          <a:bodyPr wrap="square" anchor="ctr" lIns="73152" rIns="73152" tIns="36576" bIns="36576">
            <a:spAutoFit/>
          </a:bodyPr>
          <a:lstStyle/>
          <a:p>
            <a:pPr algn="ctr">
              <a:lnSpc>
                <a:spcPct val="115000"/>
              </a:lnSpc>
            </a:pPr>
            <a:r>
              <a:rPr sz="950" b="1" i="0">
                <a:solidFill>
                  <a:srgbClr val="4CC2FF"/>
                </a:solidFill>
                <a:latin typeface="Segoe UI"/>
              </a:rPr>
              <a:t>3rd-party connectors</a:t>
            </a:r>
          </a:p>
        </p:txBody>
      </p:sp>
      <p:sp>
        <p:nvSpPr>
          <p:cNvPr id="33" name="TextBox 32"/>
          <p:cNvSpPr txBox="1"/>
          <p:nvPr/>
        </p:nvSpPr>
        <p:spPr>
          <a:xfrm>
            <a:off x="640080" y="6035040"/>
            <a:ext cx="10972800" cy="548640"/>
          </a:xfrm>
          <a:prstGeom prst="rect">
            <a:avLst/>
          </a:prstGeom>
          <a:noFill/>
        </p:spPr>
        <p:txBody>
          <a:bodyPr wrap="square" anchor="t" lIns="73152" rIns="73152" tIns="36576" bIns="36576">
            <a:spAutoFit/>
          </a:bodyPr>
          <a:lstStyle/>
          <a:p>
            <a:pPr algn="l">
              <a:lnSpc>
                <a:spcPct val="115000"/>
              </a:lnSpc>
            </a:pPr>
            <a:r>
              <a:rPr sz="1200" b="0" i="1">
                <a:solidFill>
                  <a:srgbClr val="9AA7BD"/>
                </a:solidFill>
                <a:latin typeface="Segoe UI"/>
              </a:rPr>
              <a:t>One fabric, many conversations. That's how CTEM becomes operational — not a dashboard, but an ongoing dialogue.</a:t>
            </a:r>
          </a:p>
        </p:txBody>
      </p:sp>
      <p:sp>
        <p:nvSpPr>
          <p:cNvPr id="34" name="TextBox 33"/>
          <p:cNvSpPr txBox="1"/>
          <p:nvPr/>
        </p:nvSpPr>
        <p:spPr>
          <a:xfrm>
            <a:off x="9144000" y="6492240"/>
            <a:ext cx="2743200" cy="274320"/>
          </a:xfrm>
          <a:prstGeom prst="rect">
            <a:avLst/>
          </a:prstGeom>
          <a:noFill/>
        </p:spPr>
        <p:txBody>
          <a:bodyPr wrap="square" anchor="t" lIns="73152" rIns="73152" tIns="36576" bIns="36576">
            <a:spAutoFit/>
          </a:bodyPr>
          <a:lstStyle/>
          <a:p>
            <a:pPr algn="r">
              <a:lnSpc>
                <a:spcPct val="115000"/>
              </a:lnSpc>
            </a:pPr>
            <a:r>
              <a:rPr sz="1000" b="0" i="0">
                <a:solidFill>
                  <a:srgbClr val="9AA7BD"/>
                </a:solidFill>
                <a:latin typeface="Segoe UI"/>
              </a:rPr>
              <a:t>06 · Curving the toolset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A33"/>
        </a:solidFill>
        <a:effectLst/>
      </p:bgPr>
    </p:bg>
    <p:spTree>
      <p:nvGrpSpPr>
        <p:cNvPr id="1" name=""/>
        <p:cNvGrpSpPr/>
        <p:nvPr/>
      </p:nvGrpSpPr>
      <p:grpSpPr/>
      <p:sp>
        <p:nvSpPr>
          <p:cNvPr id="2" name="TextBox 1"/>
          <p:cNvSpPr txBox="1"/>
          <p:nvPr/>
        </p:nvSpPr>
        <p:spPr>
          <a:xfrm>
            <a:off x="640080" y="2194560"/>
            <a:ext cx="10972800" cy="1371600"/>
          </a:xfrm>
          <a:prstGeom prst="rect">
            <a:avLst/>
          </a:prstGeom>
          <a:noFill/>
        </p:spPr>
        <p:txBody>
          <a:bodyPr wrap="square" anchor="t" lIns="73152" rIns="73152" tIns="36576" bIns="36576">
            <a:spAutoFit/>
          </a:bodyPr>
          <a:lstStyle/>
          <a:p>
            <a:pPr algn="l">
              <a:lnSpc>
                <a:spcPct val="115000"/>
              </a:lnSpc>
            </a:pPr>
            <a:r>
              <a:rPr sz="7200" b="1" i="0">
                <a:solidFill>
                  <a:srgbClr val="4CC2FF"/>
                </a:solidFill>
                <a:latin typeface="Segoe UI"/>
              </a:rPr>
              <a:t>CyberProbe</a:t>
            </a:r>
          </a:p>
        </p:txBody>
      </p:sp>
      <p:sp>
        <p:nvSpPr>
          <p:cNvPr id="3" name="TextBox 2"/>
          <p:cNvSpPr txBox="1"/>
          <p:nvPr/>
        </p:nvSpPr>
        <p:spPr>
          <a:xfrm>
            <a:off x="640080" y="3657600"/>
            <a:ext cx="10515600" cy="1463040"/>
          </a:xfrm>
          <a:prstGeom prst="rect">
            <a:avLst/>
          </a:prstGeom>
          <a:noFill/>
        </p:spPr>
        <p:txBody>
          <a:bodyPr wrap="square" anchor="t" lIns="73152" rIns="73152" tIns="36576" bIns="36576">
            <a:spAutoFit/>
          </a:bodyPr>
          <a:lstStyle/>
          <a:p>
            <a:pPr algn="l">
              <a:lnSpc>
                <a:spcPct val="130000"/>
              </a:lnSpc>
            </a:pPr>
            <a:r>
              <a:rPr sz="2000" b="0" i="0">
                <a:solidFill>
                  <a:srgbClr val="E6ECF5"/>
                </a:solidFill>
                <a:latin typeface="Segoe UI"/>
              </a:rPr>
              <a:t>My open-source answer to the question </a:t>
            </a:r>
            <a:r>
              <a:rPr sz="2000" b="0" i="1">
                <a:solidFill>
                  <a:srgbClr val="4CC2FF"/>
                </a:solidFill>
                <a:latin typeface="Segoe UI"/>
              </a:rPr>
              <a:t>"how do we actually have this conversation?"</a:t>
            </a:r>
          </a:p>
        </p:txBody>
      </p:sp>
      <p:sp>
        <p:nvSpPr>
          <p:cNvPr id="4" name="TextBox 3"/>
          <p:cNvSpPr txBox="1"/>
          <p:nvPr/>
        </p:nvSpPr>
        <p:spPr>
          <a:xfrm>
            <a:off x="640080" y="5669280"/>
            <a:ext cx="10972800" cy="457200"/>
          </a:xfrm>
          <a:prstGeom prst="rect">
            <a:avLst/>
          </a:prstGeom>
          <a:noFill/>
        </p:spPr>
        <p:txBody>
          <a:bodyPr wrap="square" anchor="t" lIns="73152" rIns="73152" tIns="36576" bIns="36576">
            <a:spAutoFit/>
          </a:bodyPr>
          <a:lstStyle/>
          <a:p>
            <a:pPr algn="l">
              <a:lnSpc>
                <a:spcPct val="115000"/>
              </a:lnSpc>
            </a:pPr>
            <a:r>
              <a:rPr sz="1300" b="0" i="1">
                <a:solidFill>
                  <a:srgbClr val="9AA7BD"/>
                </a:solidFill>
                <a:latin typeface="Segoe UI"/>
              </a:rPr>
              <a:t>Built on Defender XDR, Sentinel, Defender for Cloud, Exposure Management, GitHub Copilot, and MCP. MIT licensed.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73152" rIns="73152" tIns="36576" bIns="36576">
            <a:spAutoFit/>
          </a:bodyPr>
          <a:lstStyle/>
          <a:p>
            <a:pPr algn="l">
              <a:lnSpc>
                <a:spcPct val="115000"/>
              </a:lnSpc>
            </a:pPr>
            <a:r>
              <a:rPr sz="2800" b="1" i="0">
                <a:solidFill>
                  <a:srgbClr val="FFFFFF"/>
                </a:solidFill>
                <a:latin typeface="Segoe UI"/>
              </a:rPr>
              <a:t>What's in the box</a:t>
            </a:r>
          </a:p>
        </p:txBody>
      </p:sp>
      <p:sp>
        <p:nvSpPr>
          <p:cNvPr id="3" name="Rounded Rectangle 2"/>
          <p:cNvSpPr/>
          <p:nvPr/>
        </p:nvSpPr>
        <p:spPr>
          <a:xfrm>
            <a:off x="640080" y="1371600"/>
            <a:ext cx="3657600" cy="237744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81328"/>
            <a:ext cx="3383280" cy="365760"/>
          </a:xfrm>
          <a:prstGeom prst="rect">
            <a:avLst/>
          </a:prstGeom>
          <a:noFill/>
        </p:spPr>
        <p:txBody>
          <a:bodyPr wrap="square" anchor="t" lIns="73152" rIns="73152" tIns="36576" bIns="36576">
            <a:spAutoFit/>
          </a:bodyPr>
          <a:lstStyle/>
          <a:p>
            <a:pPr algn="l">
              <a:lnSpc>
                <a:spcPct val="115000"/>
              </a:lnSpc>
            </a:pPr>
            <a:r>
              <a:rPr sz="1500" b="1" i="0">
                <a:solidFill>
                  <a:srgbClr val="4CC2FF"/>
                </a:solidFill>
                <a:latin typeface="Segoe UI"/>
              </a:rPr>
              <a:t>13 Agent Skills</a:t>
            </a:r>
          </a:p>
        </p:txBody>
      </p:sp>
      <p:sp>
        <p:nvSpPr>
          <p:cNvPr id="5" name="TextBox 4"/>
          <p:cNvSpPr txBox="1"/>
          <p:nvPr/>
        </p:nvSpPr>
        <p:spPr>
          <a:xfrm>
            <a:off x="777240" y="1874519"/>
            <a:ext cx="3383280" cy="1783080"/>
          </a:xfrm>
          <a:prstGeom prst="rect">
            <a:avLst/>
          </a:prstGeom>
          <a:noFill/>
        </p:spPr>
        <p:txBody>
          <a:bodyPr wrap="square" lIns="45720" rIns="45720" tIns="27432" bIns="27432">
            <a:spAutoFit/>
          </a:bodyPr>
          <a:lstStyle/>
          <a:p>
            <a:pPr algn="l">
              <a:lnSpc>
                <a:spcPct val="120000"/>
              </a:lnSpc>
            </a:pPr>
            <a:r>
              <a:rPr sz="1200">
                <a:solidFill>
                  <a:srgbClr val="E6ECF5"/>
                </a:solidFill>
                <a:latin typeface="Segoe UI"/>
              </a:rPr>
              <a:t>incident-investigation · threat-enrichment · endpoint-device · exposure-management · defender-response · detection-engineering · report-generation · …</a:t>
            </a:r>
          </a:p>
        </p:txBody>
      </p:sp>
      <p:sp>
        <p:nvSpPr>
          <p:cNvPr id="6" name="Rounded Rectangle 5"/>
          <p:cNvSpPr/>
          <p:nvPr/>
        </p:nvSpPr>
        <p:spPr>
          <a:xfrm>
            <a:off x="4434840" y="1371600"/>
            <a:ext cx="3657600" cy="237744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481328"/>
            <a:ext cx="3383280" cy="365760"/>
          </a:xfrm>
          <a:prstGeom prst="rect">
            <a:avLst/>
          </a:prstGeom>
          <a:noFill/>
        </p:spPr>
        <p:txBody>
          <a:bodyPr wrap="square" anchor="t" lIns="73152" rIns="73152" tIns="36576" bIns="36576">
            <a:spAutoFit/>
          </a:bodyPr>
          <a:lstStyle/>
          <a:p>
            <a:pPr algn="l">
              <a:lnSpc>
                <a:spcPct val="115000"/>
              </a:lnSpc>
            </a:pPr>
            <a:r>
              <a:rPr sz="1500" b="1" i="0">
                <a:solidFill>
                  <a:srgbClr val="4CC2FF"/>
                </a:solidFill>
                <a:latin typeface="Segoe UI"/>
              </a:rPr>
              <a:t>50+ MCP Tools</a:t>
            </a:r>
          </a:p>
        </p:txBody>
      </p:sp>
      <p:sp>
        <p:nvSpPr>
          <p:cNvPr id="8" name="TextBox 7"/>
          <p:cNvSpPr txBox="1"/>
          <p:nvPr/>
        </p:nvSpPr>
        <p:spPr>
          <a:xfrm>
            <a:off x="4572000" y="1874519"/>
            <a:ext cx="3383280" cy="1783080"/>
          </a:xfrm>
          <a:prstGeom prst="rect">
            <a:avLst/>
          </a:prstGeom>
          <a:noFill/>
        </p:spPr>
        <p:txBody>
          <a:bodyPr wrap="square" lIns="45720" rIns="45720" tIns="27432" bIns="27432">
            <a:spAutoFit/>
          </a:bodyPr>
          <a:lstStyle/>
          <a:p>
            <a:pPr algn="l">
              <a:lnSpc>
                <a:spcPct val="120000"/>
              </a:lnSpc>
            </a:pPr>
            <a:r>
              <a:rPr sz="1200">
                <a:solidFill>
                  <a:srgbClr val="E6ECF5"/>
                </a:solidFill>
                <a:latin typeface="Segoe UI"/>
              </a:rPr>
              <a:t>Sentinel Data Lake · Defender XDR Triage · Microsoft Graph · Sentinel Graph · Azure · Microsoft Learn · custom Exposure server</a:t>
            </a:r>
          </a:p>
        </p:txBody>
      </p:sp>
      <p:sp>
        <p:nvSpPr>
          <p:cNvPr id="9" name="Rounded Rectangle 8"/>
          <p:cNvSpPr/>
          <p:nvPr/>
        </p:nvSpPr>
        <p:spPr>
          <a:xfrm>
            <a:off x="8229600" y="1371600"/>
            <a:ext cx="3657600" cy="237744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66760" y="1481328"/>
            <a:ext cx="3383280" cy="365760"/>
          </a:xfrm>
          <a:prstGeom prst="rect">
            <a:avLst/>
          </a:prstGeom>
          <a:noFill/>
        </p:spPr>
        <p:txBody>
          <a:bodyPr wrap="square" anchor="t" lIns="73152" rIns="73152" tIns="36576" bIns="36576">
            <a:spAutoFit/>
          </a:bodyPr>
          <a:lstStyle/>
          <a:p>
            <a:pPr algn="l">
              <a:lnSpc>
                <a:spcPct val="115000"/>
              </a:lnSpc>
            </a:pPr>
            <a:r>
              <a:rPr sz="1500" b="1" i="0">
                <a:solidFill>
                  <a:srgbClr val="4CC2FF"/>
                </a:solidFill>
                <a:latin typeface="Segoe UI"/>
              </a:rPr>
              <a:t>Verified KQL Library</a:t>
            </a:r>
          </a:p>
        </p:txBody>
      </p:sp>
      <p:sp>
        <p:nvSpPr>
          <p:cNvPr id="11" name="TextBox 10"/>
          <p:cNvSpPr txBox="1"/>
          <p:nvPr/>
        </p:nvSpPr>
        <p:spPr>
          <a:xfrm>
            <a:off x="8366760" y="1874519"/>
            <a:ext cx="3383280" cy="1783080"/>
          </a:xfrm>
          <a:prstGeom prst="rect">
            <a:avLst/>
          </a:prstGeom>
          <a:noFill/>
        </p:spPr>
        <p:txBody>
          <a:bodyPr wrap="square" lIns="45720" rIns="45720" tIns="27432" bIns="27432">
            <a:spAutoFit/>
          </a:bodyPr>
          <a:lstStyle/>
          <a:p>
            <a:pPr algn="l">
              <a:lnSpc>
                <a:spcPct val="120000"/>
              </a:lnSpc>
            </a:pPr>
            <a:r>
              <a:rPr sz="1200">
                <a:solidFill>
                  <a:srgbClr val="E6ECF5"/>
                </a:solidFill>
                <a:latin typeface="Segoe UI"/>
              </a:rPr>
              <a:t>40+ hunting queries across identity · endpoint · email · network · cloud · SOC metrics — with schema pitfalls baked in.</a:t>
            </a:r>
          </a:p>
        </p:txBody>
      </p:sp>
      <p:sp>
        <p:nvSpPr>
          <p:cNvPr id="12" name="Rounded Rectangle 11"/>
          <p:cNvSpPr/>
          <p:nvPr/>
        </p:nvSpPr>
        <p:spPr>
          <a:xfrm>
            <a:off x="640080" y="3977639"/>
            <a:ext cx="3657600" cy="237744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087368"/>
            <a:ext cx="3383280" cy="365760"/>
          </a:xfrm>
          <a:prstGeom prst="rect">
            <a:avLst/>
          </a:prstGeom>
          <a:noFill/>
        </p:spPr>
        <p:txBody>
          <a:bodyPr wrap="square" anchor="t" lIns="73152" rIns="73152" tIns="36576" bIns="36576">
            <a:spAutoFit/>
          </a:bodyPr>
          <a:lstStyle/>
          <a:p>
            <a:pPr algn="l">
              <a:lnSpc>
                <a:spcPct val="115000"/>
              </a:lnSpc>
            </a:pPr>
            <a:r>
              <a:rPr sz="1500" b="1" i="0">
                <a:solidFill>
                  <a:srgbClr val="4CC2FF"/>
                </a:solidFill>
                <a:latin typeface="Segoe UI"/>
              </a:rPr>
              <a:t>Multi-source Enrichment</a:t>
            </a:r>
          </a:p>
        </p:txBody>
      </p:sp>
      <p:sp>
        <p:nvSpPr>
          <p:cNvPr id="14" name="TextBox 13"/>
          <p:cNvSpPr txBox="1"/>
          <p:nvPr/>
        </p:nvSpPr>
        <p:spPr>
          <a:xfrm>
            <a:off x="777240" y="4480559"/>
            <a:ext cx="3383280" cy="1783080"/>
          </a:xfrm>
          <a:prstGeom prst="rect">
            <a:avLst/>
          </a:prstGeom>
          <a:noFill/>
        </p:spPr>
        <p:txBody>
          <a:bodyPr wrap="square" lIns="45720" rIns="45720" tIns="27432" bIns="27432">
            <a:spAutoFit/>
          </a:bodyPr>
          <a:lstStyle/>
          <a:p>
            <a:pPr algn="l">
              <a:lnSpc>
                <a:spcPct val="120000"/>
              </a:lnSpc>
            </a:pPr>
            <a:r>
              <a:rPr sz="1200">
                <a:solidFill>
                  <a:srgbClr val="E6ECF5"/>
                </a:solidFill>
                <a:latin typeface="Segoe UI"/>
              </a:rPr>
              <a:t>AbuseIPDB · IPInfo · VPNapi · Shodan · VirusTotal — parallelized, cached, reused across investigations.</a:t>
            </a:r>
          </a:p>
        </p:txBody>
      </p:sp>
      <p:sp>
        <p:nvSpPr>
          <p:cNvPr id="15" name="Rounded Rectangle 14"/>
          <p:cNvSpPr/>
          <p:nvPr/>
        </p:nvSpPr>
        <p:spPr>
          <a:xfrm>
            <a:off x="4434840" y="3977639"/>
            <a:ext cx="3657600" cy="237744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4087368"/>
            <a:ext cx="3383280" cy="365760"/>
          </a:xfrm>
          <a:prstGeom prst="rect">
            <a:avLst/>
          </a:prstGeom>
          <a:noFill/>
        </p:spPr>
        <p:txBody>
          <a:bodyPr wrap="square" anchor="t" lIns="73152" rIns="73152" tIns="36576" bIns="36576">
            <a:spAutoFit/>
          </a:bodyPr>
          <a:lstStyle/>
          <a:p>
            <a:pPr algn="l">
              <a:lnSpc>
                <a:spcPct val="115000"/>
              </a:lnSpc>
            </a:pPr>
            <a:r>
              <a:rPr sz="1500" b="1" i="0">
                <a:solidFill>
                  <a:srgbClr val="4CC2FF"/>
                </a:solidFill>
                <a:latin typeface="Segoe UI"/>
              </a:rPr>
              <a:t>Reports with Methodology</a:t>
            </a:r>
          </a:p>
        </p:txBody>
      </p:sp>
      <p:sp>
        <p:nvSpPr>
          <p:cNvPr id="17" name="TextBox 16"/>
          <p:cNvSpPr txBox="1"/>
          <p:nvPr/>
        </p:nvSpPr>
        <p:spPr>
          <a:xfrm>
            <a:off x="4572000" y="4480559"/>
            <a:ext cx="3383280" cy="1783080"/>
          </a:xfrm>
          <a:prstGeom prst="rect">
            <a:avLst/>
          </a:prstGeom>
          <a:noFill/>
        </p:spPr>
        <p:txBody>
          <a:bodyPr wrap="square" lIns="45720" rIns="45720" tIns="27432" bIns="27432">
            <a:spAutoFit/>
          </a:bodyPr>
          <a:lstStyle/>
          <a:p>
            <a:pPr algn="l">
              <a:lnSpc>
                <a:spcPct val="120000"/>
              </a:lnSpc>
            </a:pPr>
            <a:r>
              <a:rPr sz="1200">
                <a:solidFill>
                  <a:srgbClr val="E6ECF5"/>
                </a:solidFill>
                <a:latin typeface="Segoe UI"/>
              </a:rPr>
              <a:t>HTML + JSON, dark theme, MITRE ATT&amp;CK, attack-path graphs. Every finding cites its query.</a:t>
            </a:r>
          </a:p>
        </p:txBody>
      </p:sp>
      <p:sp>
        <p:nvSpPr>
          <p:cNvPr id="18" name="Rounded Rectangle 17"/>
          <p:cNvSpPr/>
          <p:nvPr/>
        </p:nvSpPr>
        <p:spPr>
          <a:xfrm>
            <a:off x="8229600" y="3977639"/>
            <a:ext cx="3657600" cy="237744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4087368"/>
            <a:ext cx="3383280" cy="365760"/>
          </a:xfrm>
          <a:prstGeom prst="rect">
            <a:avLst/>
          </a:prstGeom>
          <a:noFill/>
        </p:spPr>
        <p:txBody>
          <a:bodyPr wrap="square" anchor="t" lIns="73152" rIns="73152" tIns="36576" bIns="36576">
            <a:spAutoFit/>
          </a:bodyPr>
          <a:lstStyle/>
          <a:p>
            <a:pPr algn="l">
              <a:lnSpc>
                <a:spcPct val="115000"/>
              </a:lnSpc>
            </a:pPr>
            <a:r>
              <a:rPr sz="1500" b="1" i="0">
                <a:solidFill>
                  <a:srgbClr val="4CC2FF"/>
                </a:solidFill>
                <a:latin typeface="Segoe UI"/>
              </a:rPr>
              <a:t>Response &amp; Detection-as-Code</a:t>
            </a:r>
          </a:p>
        </p:txBody>
      </p:sp>
      <p:sp>
        <p:nvSpPr>
          <p:cNvPr id="20" name="TextBox 19"/>
          <p:cNvSpPr txBox="1"/>
          <p:nvPr/>
        </p:nvSpPr>
        <p:spPr>
          <a:xfrm>
            <a:off x="8366760" y="4480559"/>
            <a:ext cx="3383280" cy="1783080"/>
          </a:xfrm>
          <a:prstGeom prst="rect">
            <a:avLst/>
          </a:prstGeom>
          <a:noFill/>
        </p:spPr>
        <p:txBody>
          <a:bodyPr wrap="square" lIns="45720" rIns="45720" tIns="27432" bIns="27432">
            <a:spAutoFit/>
          </a:bodyPr>
          <a:lstStyle/>
          <a:p>
            <a:pPr algn="l">
              <a:lnSpc>
                <a:spcPct val="120000"/>
              </a:lnSpc>
            </a:pPr>
            <a:r>
              <a:rPr sz="1200">
                <a:solidFill>
                  <a:srgbClr val="E6ECF5"/>
                </a:solidFill>
                <a:latin typeface="Segoe UI"/>
              </a:rPr>
              <a:t>Isolate devices · revoke sessions · block IPs. Convert Sigma YAML → Sentinel analytics rules.</a:t>
            </a:r>
          </a:p>
        </p:txBody>
      </p:sp>
      <p:sp>
        <p:nvSpPr>
          <p:cNvPr id="21" name="TextBox 20"/>
          <p:cNvSpPr txBox="1"/>
          <p:nvPr/>
        </p:nvSpPr>
        <p:spPr>
          <a:xfrm>
            <a:off x="9144000" y="6492240"/>
            <a:ext cx="2743200" cy="274320"/>
          </a:xfrm>
          <a:prstGeom prst="rect">
            <a:avLst/>
          </a:prstGeom>
          <a:noFill/>
        </p:spPr>
        <p:txBody>
          <a:bodyPr wrap="square" anchor="t" lIns="73152" rIns="73152" tIns="36576" bIns="36576">
            <a:spAutoFit/>
          </a:bodyPr>
          <a:lstStyle/>
          <a:p>
            <a:pPr algn="r">
              <a:lnSpc>
                <a:spcPct val="115000"/>
              </a:lnSpc>
            </a:pPr>
            <a:r>
              <a:rPr sz="1000" b="0" i="0">
                <a:solidFill>
                  <a:srgbClr val="9AA7BD"/>
                </a:solidFill>
                <a:latin typeface="Segoe UI"/>
              </a:rPr>
              <a:t>07 · CyberProbe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A33"/>
        </a:solidFill>
        <a:effectLst/>
      </p:bgPr>
    </p:bg>
    <p:spTree>
      <p:nvGrpSpPr>
        <p:cNvPr id="1" name=""/>
        <p:cNvGrpSpPr/>
        <p:nvPr/>
      </p:nvGrpSpPr>
      <p:grpSpPr/>
      <p:sp>
        <p:nvSpPr>
          <p:cNvPr id="2" name="TextBox 1"/>
          <p:cNvSpPr txBox="1"/>
          <p:nvPr/>
        </p:nvSpPr>
        <p:spPr>
          <a:xfrm>
            <a:off x="640080" y="2011680"/>
            <a:ext cx="10972800" cy="1188720"/>
          </a:xfrm>
          <a:prstGeom prst="rect">
            <a:avLst/>
          </a:prstGeom>
          <a:noFill/>
        </p:spPr>
        <p:txBody>
          <a:bodyPr wrap="square" anchor="t" lIns="73152" rIns="73152" tIns="36576" bIns="36576">
            <a:spAutoFit/>
          </a:bodyPr>
          <a:lstStyle/>
          <a:p>
            <a:pPr algn="l">
              <a:lnSpc>
                <a:spcPct val="115000"/>
              </a:lnSpc>
            </a:pPr>
            <a:r>
              <a:rPr sz="7200" b="1" i="0">
                <a:solidFill>
                  <a:srgbClr val="4CC2FF"/>
                </a:solidFill>
                <a:latin typeface="Segoe UI"/>
              </a:rPr>
              <a:t>Demo</a:t>
            </a:r>
          </a:p>
        </p:txBody>
      </p:sp>
      <p:sp>
        <p:nvSpPr>
          <p:cNvPr id="3" name="TextBox 2"/>
          <p:cNvSpPr txBox="1"/>
          <p:nvPr/>
        </p:nvSpPr>
        <p:spPr>
          <a:xfrm>
            <a:off x="640080" y="3291840"/>
            <a:ext cx="10972800" cy="731520"/>
          </a:xfrm>
          <a:prstGeom prst="rect">
            <a:avLst/>
          </a:prstGeom>
          <a:noFill/>
        </p:spPr>
        <p:txBody>
          <a:bodyPr wrap="square" anchor="t" lIns="73152" rIns="73152" tIns="36576" bIns="36576">
            <a:spAutoFit/>
          </a:bodyPr>
          <a:lstStyle/>
          <a:p>
            <a:pPr algn="l">
              <a:lnSpc>
                <a:spcPct val="115000"/>
              </a:lnSpc>
            </a:pPr>
            <a:r>
              <a:rPr sz="2200" b="0" i="1">
                <a:solidFill>
                  <a:srgbClr val="9AA7BD"/>
                </a:solidFill>
                <a:latin typeface="Segoe UI"/>
              </a:rPr>
              <a:t>Incident → Investigation → Report → Playbook.</a:t>
            </a:r>
          </a:p>
        </p:txBody>
      </p:sp>
      <p:sp>
        <p:nvSpPr>
          <p:cNvPr id="4" name="TextBox 3"/>
          <p:cNvSpPr txBox="1"/>
          <p:nvPr/>
        </p:nvSpPr>
        <p:spPr>
          <a:xfrm>
            <a:off x="640080" y="4572000"/>
            <a:ext cx="10972800" cy="640080"/>
          </a:xfrm>
          <a:prstGeom prst="rect">
            <a:avLst/>
          </a:prstGeom>
          <a:noFill/>
        </p:spPr>
        <p:txBody>
          <a:bodyPr wrap="square" anchor="t" lIns="73152" rIns="73152" tIns="36576" bIns="36576">
            <a:spAutoFit/>
          </a:bodyPr>
          <a:lstStyle/>
          <a:p>
            <a:pPr algn="l">
              <a:lnSpc>
                <a:spcPct val="115000"/>
              </a:lnSpc>
            </a:pPr>
            <a:r>
              <a:rPr sz="2000" b="0" i="0">
                <a:solidFill>
                  <a:srgbClr val="E6ECF5"/>
                </a:solidFill>
                <a:latin typeface="Segoe UI"/>
              </a:rPr>
              <a:t>One analyst. Natural language. Full SOC lifecycle.</a:t>
            </a:r>
          </a:p>
        </p:txBody>
      </p:sp>
      <p:sp>
        <p:nvSpPr>
          <p:cNvPr id="5" name="TextBox 4"/>
          <p:cNvSpPr txBox="1"/>
          <p:nvPr/>
        </p:nvSpPr>
        <p:spPr>
          <a:xfrm>
            <a:off x="640080" y="5669280"/>
            <a:ext cx="10972800" cy="914400"/>
          </a:xfrm>
          <a:prstGeom prst="rect">
            <a:avLst/>
          </a:prstGeom>
          <a:noFill/>
        </p:spPr>
        <p:txBody>
          <a:bodyPr wrap="square" anchor="t" lIns="73152" rIns="73152" tIns="36576" bIns="36576">
            <a:spAutoFit/>
          </a:bodyPr>
          <a:lstStyle/>
          <a:p>
            <a:pPr algn="l">
              <a:lnSpc>
                <a:spcPct val="115000"/>
              </a:lnSpc>
            </a:pPr>
            <a:r>
              <a:rPr sz="1300" b="0" i="1">
                <a:solidFill>
                  <a:srgbClr val="9AA7BD"/>
                </a:solidFill>
                <a:latin typeface="Segoe UI"/>
              </a:rPr>
              <a:t>Shown in VS Code with GitHub Copilot — same skills, MCP servers, and query library also run from the GitHub CLI, Claude Code, or any MCP-aware client. The fabric doesn't care which chair you sit 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73152" rIns="73152" tIns="36576" bIns="36576">
            <a:spAutoFit/>
          </a:bodyPr>
          <a:lstStyle/>
          <a:p>
            <a:pPr algn="l">
              <a:lnSpc>
                <a:spcPct val="115000"/>
              </a:lnSpc>
            </a:pPr>
            <a:r>
              <a:rPr sz="2800" b="1" i="0">
                <a:solidFill>
                  <a:srgbClr val="FFFFFF"/>
                </a:solidFill>
                <a:latin typeface="Segoe UI"/>
              </a:rPr>
              <a:t>Demo · Part 1 — Investigate from VS Code</a:t>
            </a:r>
          </a:p>
        </p:txBody>
      </p:sp>
      <p:sp>
        <p:nvSpPr>
          <p:cNvPr id="3" name="TextBox 2"/>
          <p:cNvSpPr txBox="1"/>
          <p:nvPr/>
        </p:nvSpPr>
        <p:spPr>
          <a:xfrm>
            <a:off x="640080" y="1097280"/>
            <a:ext cx="10972800" cy="274320"/>
          </a:xfrm>
          <a:prstGeom prst="rect">
            <a:avLst/>
          </a:prstGeom>
          <a:noFill/>
        </p:spPr>
        <p:txBody>
          <a:bodyPr wrap="square" anchor="t" lIns="73152" rIns="73152" tIns="36576" bIns="36576">
            <a:spAutoFit/>
          </a:bodyPr>
          <a:lstStyle/>
          <a:p>
            <a:pPr algn="l">
              <a:lnSpc>
                <a:spcPct val="115000"/>
              </a:lnSpc>
            </a:pPr>
            <a:r>
              <a:rPr sz="1100" b="0" i="1">
                <a:solidFill>
                  <a:srgbClr val="9AA7BD"/>
                </a:solidFill>
                <a:latin typeface="Segoe UI"/>
              </a:rPr>
              <a:t>Prompt:</a:t>
            </a:r>
          </a:p>
        </p:txBody>
      </p:sp>
      <p:sp>
        <p:nvSpPr>
          <p:cNvPr id="4" name="Rounded Rectangle 3"/>
          <p:cNvSpPr/>
          <p:nvPr/>
        </p:nvSpPr>
        <p:spPr>
          <a:xfrm>
            <a:off x="640080" y="1417320"/>
            <a:ext cx="10972800" cy="685800"/>
          </a:xfrm>
          <a:prstGeom prst="roundRect">
            <a:avLst>
              <a:gd name="adj" fmla="val 6000"/>
            </a:avLst>
          </a:prstGeom>
          <a:solidFill>
            <a:srgbClr val="0A0F1F"/>
          </a:solidFill>
          <a:ln w="952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08760"/>
            <a:ext cx="10607040" cy="502920"/>
          </a:xfrm>
          <a:prstGeom prst="rect">
            <a:avLst/>
          </a:prstGeom>
          <a:noFill/>
        </p:spPr>
        <p:txBody>
          <a:bodyPr wrap="square" anchor="ctr" lIns="73152" rIns="73152" tIns="36576" bIns="36576">
            <a:spAutoFit/>
          </a:bodyPr>
          <a:lstStyle/>
          <a:p>
            <a:pPr algn="l">
              <a:lnSpc>
                <a:spcPct val="115000"/>
              </a:lnSpc>
            </a:pPr>
            <a:r>
              <a:rPr sz="1600" b="0" i="0">
                <a:solidFill>
                  <a:srgbClr val="4CC2FF"/>
                </a:solidFill>
                <a:latin typeface="Cascadia Code"/>
              </a:rPr>
              <a:t>Auto-investigate the user with the most AI-attack alerts in the last 7 days.</a:t>
            </a:r>
          </a:p>
        </p:txBody>
      </p:sp>
      <p:sp>
        <p:nvSpPr>
          <p:cNvPr id="6" name="Oval 5"/>
          <p:cNvSpPr/>
          <p:nvPr/>
        </p:nvSpPr>
        <p:spPr>
          <a:xfrm>
            <a:off x="731520" y="2377440"/>
            <a:ext cx="502920" cy="502920"/>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23160"/>
            <a:ext cx="502920" cy="411480"/>
          </a:xfrm>
          <a:prstGeom prst="rect">
            <a:avLst/>
          </a:prstGeom>
          <a:noFill/>
        </p:spPr>
        <p:txBody>
          <a:bodyPr wrap="square" anchor="ctr" lIns="73152" rIns="73152" tIns="36576" bIns="36576">
            <a:spAutoFit/>
          </a:bodyPr>
          <a:lstStyle/>
          <a:p>
            <a:pPr algn="ctr">
              <a:lnSpc>
                <a:spcPct val="115000"/>
              </a:lnSpc>
            </a:pPr>
            <a:r>
              <a:rPr sz="1600" b="1" i="0">
                <a:solidFill>
                  <a:srgbClr val="FFFFFF"/>
                </a:solidFill>
                <a:latin typeface="Segoe UI"/>
              </a:rPr>
              <a:t>1</a:t>
            </a:r>
          </a:p>
        </p:txBody>
      </p:sp>
      <p:sp>
        <p:nvSpPr>
          <p:cNvPr id="8" name="TextBox 7"/>
          <p:cNvSpPr txBox="1"/>
          <p:nvPr/>
        </p:nvSpPr>
        <p:spPr>
          <a:xfrm>
            <a:off x="1417320" y="2423160"/>
            <a:ext cx="10332720" cy="548640"/>
          </a:xfrm>
          <a:prstGeom prst="rect">
            <a:avLst/>
          </a:prstGeom>
          <a:noFill/>
        </p:spPr>
        <p:txBody>
          <a:bodyPr wrap="square" anchor="t" lIns="73152" rIns="73152" tIns="36576" bIns="36576">
            <a:spAutoFit/>
          </a:bodyPr>
          <a:lstStyle/>
          <a:p>
            <a:pPr algn="l">
              <a:lnSpc>
                <a:spcPct val="115000"/>
              </a:lnSpc>
            </a:pPr>
            <a:r>
              <a:rPr sz="1400" b="1" i="0">
                <a:solidFill>
                  <a:srgbClr val="FFFFFF"/>
                </a:solidFill>
                <a:latin typeface="Segoe UI"/>
              </a:rPr>
              <a:t>Classify entity — </a:t>
            </a:r>
            <a:r>
              <a:rPr sz="1300" b="0" i="0">
                <a:solidFill>
                  <a:srgbClr val="E6ECF5"/>
                </a:solidFill>
                <a:latin typeface="Segoe UI"/>
              </a:rPr>
              <a:t>UPN, last-30d baseline via SigninLogs (473 sign-ins, 1 IP).</a:t>
            </a:r>
          </a:p>
        </p:txBody>
      </p:sp>
      <p:sp>
        <p:nvSpPr>
          <p:cNvPr id="9" name="Oval 8"/>
          <p:cNvSpPr/>
          <p:nvPr/>
        </p:nvSpPr>
        <p:spPr>
          <a:xfrm>
            <a:off x="731520" y="3063240"/>
            <a:ext cx="502920" cy="502920"/>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108960"/>
            <a:ext cx="502920" cy="411480"/>
          </a:xfrm>
          <a:prstGeom prst="rect">
            <a:avLst/>
          </a:prstGeom>
          <a:noFill/>
        </p:spPr>
        <p:txBody>
          <a:bodyPr wrap="square" anchor="ctr" lIns="73152" rIns="73152" tIns="36576" bIns="36576">
            <a:spAutoFit/>
          </a:bodyPr>
          <a:lstStyle/>
          <a:p>
            <a:pPr algn="ctr">
              <a:lnSpc>
                <a:spcPct val="115000"/>
              </a:lnSpc>
            </a:pPr>
            <a:r>
              <a:rPr sz="1600" b="1" i="0">
                <a:solidFill>
                  <a:srgbClr val="FFFFFF"/>
                </a:solidFill>
                <a:latin typeface="Segoe UI"/>
              </a:rPr>
              <a:t>2</a:t>
            </a:r>
          </a:p>
        </p:txBody>
      </p:sp>
      <p:sp>
        <p:nvSpPr>
          <p:cNvPr id="11" name="TextBox 10"/>
          <p:cNvSpPr txBox="1"/>
          <p:nvPr/>
        </p:nvSpPr>
        <p:spPr>
          <a:xfrm>
            <a:off x="1417320" y="3108960"/>
            <a:ext cx="10332720" cy="548640"/>
          </a:xfrm>
          <a:prstGeom prst="rect">
            <a:avLst/>
          </a:prstGeom>
          <a:noFill/>
        </p:spPr>
        <p:txBody>
          <a:bodyPr wrap="square" anchor="t" lIns="73152" rIns="73152" tIns="36576" bIns="36576">
            <a:spAutoFit/>
          </a:bodyPr>
          <a:lstStyle/>
          <a:p>
            <a:pPr algn="l">
              <a:lnSpc>
                <a:spcPct val="115000"/>
              </a:lnSpc>
            </a:pPr>
            <a:r>
              <a:rPr sz="1400" b="1" i="0">
                <a:solidFill>
                  <a:srgbClr val="FFFFFF"/>
                </a:solidFill>
                <a:latin typeface="Segoe UI"/>
              </a:rPr>
              <a:t>Pull incidents &amp; alerts — </a:t>
            </a:r>
            <a:r>
              <a:rPr sz="1300" b="0" i="0">
                <a:solidFill>
                  <a:srgbClr val="E6ECF5"/>
                </a:solidFill>
                <a:latin typeface="Segoe UI"/>
              </a:rPr>
              <a:t>Defender XDR Triage MCP: 8 AI-targeted alerts, 3 attack vectors.</a:t>
            </a:r>
          </a:p>
        </p:txBody>
      </p:sp>
      <p:sp>
        <p:nvSpPr>
          <p:cNvPr id="12" name="Oval 11"/>
          <p:cNvSpPr/>
          <p:nvPr/>
        </p:nvSpPr>
        <p:spPr>
          <a:xfrm>
            <a:off x="731520" y="3749039"/>
            <a:ext cx="502920" cy="502920"/>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794759"/>
            <a:ext cx="502920" cy="411480"/>
          </a:xfrm>
          <a:prstGeom prst="rect">
            <a:avLst/>
          </a:prstGeom>
          <a:noFill/>
        </p:spPr>
        <p:txBody>
          <a:bodyPr wrap="square" anchor="ctr" lIns="73152" rIns="73152" tIns="36576" bIns="36576">
            <a:spAutoFit/>
          </a:bodyPr>
          <a:lstStyle/>
          <a:p>
            <a:pPr algn="ctr">
              <a:lnSpc>
                <a:spcPct val="115000"/>
              </a:lnSpc>
            </a:pPr>
            <a:r>
              <a:rPr sz="1600" b="1" i="0">
                <a:solidFill>
                  <a:srgbClr val="FFFFFF"/>
                </a:solidFill>
                <a:latin typeface="Segoe UI"/>
              </a:rPr>
              <a:t>3</a:t>
            </a:r>
          </a:p>
        </p:txBody>
      </p:sp>
      <p:sp>
        <p:nvSpPr>
          <p:cNvPr id="14" name="TextBox 13"/>
          <p:cNvSpPr txBox="1"/>
          <p:nvPr/>
        </p:nvSpPr>
        <p:spPr>
          <a:xfrm>
            <a:off x="1417320" y="3794759"/>
            <a:ext cx="10332720" cy="548640"/>
          </a:xfrm>
          <a:prstGeom prst="rect">
            <a:avLst/>
          </a:prstGeom>
          <a:noFill/>
        </p:spPr>
        <p:txBody>
          <a:bodyPr wrap="square" anchor="t" lIns="73152" rIns="73152" tIns="36576" bIns="36576">
            <a:spAutoFit/>
          </a:bodyPr>
          <a:lstStyle/>
          <a:p>
            <a:pPr algn="l">
              <a:lnSpc>
                <a:spcPct val="115000"/>
              </a:lnSpc>
            </a:pPr>
            <a:r>
              <a:rPr sz="1400" b="1" i="0">
                <a:solidFill>
                  <a:srgbClr val="FFFFFF"/>
                </a:solidFill>
                <a:latin typeface="Segoe UI"/>
              </a:rPr>
              <a:t>Enrich IPs in parallel — </a:t>
            </a:r>
            <a:r>
              <a:rPr sz="1300" b="0" i="0">
                <a:solidFill>
                  <a:srgbClr val="E6ECF5"/>
                </a:solidFill>
                <a:latin typeface="Segoe UI"/>
              </a:rPr>
              <a:t>AbuseIPDB · IPInfo · VPNapi · Shodan.</a:t>
            </a:r>
          </a:p>
        </p:txBody>
      </p:sp>
      <p:sp>
        <p:nvSpPr>
          <p:cNvPr id="15" name="Oval 14"/>
          <p:cNvSpPr/>
          <p:nvPr/>
        </p:nvSpPr>
        <p:spPr>
          <a:xfrm>
            <a:off x="731520" y="4434840"/>
            <a:ext cx="502920" cy="502920"/>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480559"/>
            <a:ext cx="502920" cy="411480"/>
          </a:xfrm>
          <a:prstGeom prst="rect">
            <a:avLst/>
          </a:prstGeom>
          <a:noFill/>
        </p:spPr>
        <p:txBody>
          <a:bodyPr wrap="square" anchor="ctr" lIns="73152" rIns="73152" tIns="36576" bIns="36576">
            <a:spAutoFit/>
          </a:bodyPr>
          <a:lstStyle/>
          <a:p>
            <a:pPr algn="ctr">
              <a:lnSpc>
                <a:spcPct val="115000"/>
              </a:lnSpc>
            </a:pPr>
            <a:r>
              <a:rPr sz="1600" b="1" i="0">
                <a:solidFill>
                  <a:srgbClr val="FFFFFF"/>
                </a:solidFill>
                <a:latin typeface="Segoe UI"/>
              </a:rPr>
              <a:t>4</a:t>
            </a:r>
          </a:p>
        </p:txBody>
      </p:sp>
      <p:sp>
        <p:nvSpPr>
          <p:cNvPr id="17" name="TextBox 16"/>
          <p:cNvSpPr txBox="1"/>
          <p:nvPr/>
        </p:nvSpPr>
        <p:spPr>
          <a:xfrm>
            <a:off x="1417320" y="4480559"/>
            <a:ext cx="10332720" cy="548640"/>
          </a:xfrm>
          <a:prstGeom prst="rect">
            <a:avLst/>
          </a:prstGeom>
          <a:noFill/>
        </p:spPr>
        <p:txBody>
          <a:bodyPr wrap="square" anchor="t" lIns="73152" rIns="73152" tIns="36576" bIns="36576">
            <a:spAutoFit/>
          </a:bodyPr>
          <a:lstStyle/>
          <a:p>
            <a:pPr algn="l">
              <a:lnSpc>
                <a:spcPct val="115000"/>
              </a:lnSpc>
            </a:pPr>
            <a:r>
              <a:rPr sz="1400" b="1" i="0">
                <a:solidFill>
                  <a:srgbClr val="FFFFFF"/>
                </a:solidFill>
                <a:latin typeface="Segoe UI"/>
              </a:rPr>
              <a:t>Phase 2 finding — </a:t>
            </a:r>
            <a:r>
              <a:rPr sz="1300" b="0" i="0">
                <a:solidFill>
                  <a:srgbClr val="E6ECF5"/>
                </a:solidFill>
                <a:latin typeface="Segoe UI"/>
              </a:rPr>
              <a:t>attacker IP not in 30-day Entra sign-in history → ai_api_bypass = True.</a:t>
            </a:r>
          </a:p>
        </p:txBody>
      </p:sp>
      <p:sp>
        <p:nvSpPr>
          <p:cNvPr id="18" name="Oval 17"/>
          <p:cNvSpPr/>
          <p:nvPr/>
        </p:nvSpPr>
        <p:spPr>
          <a:xfrm>
            <a:off x="731520" y="5120640"/>
            <a:ext cx="502920" cy="502920"/>
          </a:xfrm>
          <a:prstGeom prst="ellipse">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166359"/>
            <a:ext cx="502920" cy="411480"/>
          </a:xfrm>
          <a:prstGeom prst="rect">
            <a:avLst/>
          </a:prstGeom>
          <a:noFill/>
        </p:spPr>
        <p:txBody>
          <a:bodyPr wrap="square" anchor="ctr" lIns="73152" rIns="73152" tIns="36576" bIns="36576">
            <a:spAutoFit/>
          </a:bodyPr>
          <a:lstStyle/>
          <a:p>
            <a:pPr algn="ctr">
              <a:lnSpc>
                <a:spcPct val="115000"/>
              </a:lnSpc>
            </a:pPr>
            <a:r>
              <a:rPr sz="1600" b="1" i="0">
                <a:solidFill>
                  <a:srgbClr val="FFFFFF"/>
                </a:solidFill>
                <a:latin typeface="Segoe UI"/>
              </a:rPr>
              <a:t>5</a:t>
            </a:r>
          </a:p>
        </p:txBody>
      </p:sp>
      <p:sp>
        <p:nvSpPr>
          <p:cNvPr id="20" name="TextBox 19"/>
          <p:cNvSpPr txBox="1"/>
          <p:nvPr/>
        </p:nvSpPr>
        <p:spPr>
          <a:xfrm>
            <a:off x="1417320" y="5166359"/>
            <a:ext cx="10332720" cy="548640"/>
          </a:xfrm>
          <a:prstGeom prst="rect">
            <a:avLst/>
          </a:prstGeom>
          <a:noFill/>
        </p:spPr>
        <p:txBody>
          <a:bodyPr wrap="square" anchor="t" lIns="73152" rIns="73152" tIns="36576" bIns="36576">
            <a:spAutoFit/>
          </a:bodyPr>
          <a:lstStyle/>
          <a:p>
            <a:pPr algn="l">
              <a:lnSpc>
                <a:spcPct val="115000"/>
              </a:lnSpc>
            </a:pPr>
            <a:r>
              <a:rPr sz="1400" b="1" i="0">
                <a:solidFill>
                  <a:srgbClr val="FFFFFF"/>
                </a:solidFill>
                <a:latin typeface="Segoe UI"/>
              </a:rPr>
              <a:t>Phase 3 cluster — </a:t>
            </a:r>
            <a:r>
              <a:rPr sz="1300" b="0" i="0">
                <a:solidFill>
                  <a:srgbClr val="E6ECF5"/>
                </a:solidFill>
                <a:latin typeface="Segoe UI"/>
              </a:rPr>
              <a:t>6 users sharing one OAuth object ID on the same Foundry deployment.</a:t>
            </a:r>
          </a:p>
        </p:txBody>
      </p:sp>
      <p:sp>
        <p:nvSpPr>
          <p:cNvPr id="21" name="TextBox 20"/>
          <p:cNvSpPr txBox="1"/>
          <p:nvPr/>
        </p:nvSpPr>
        <p:spPr>
          <a:xfrm>
            <a:off x="640080" y="5943600"/>
            <a:ext cx="10972800" cy="457200"/>
          </a:xfrm>
          <a:prstGeom prst="rect">
            <a:avLst/>
          </a:prstGeom>
          <a:noFill/>
        </p:spPr>
        <p:txBody>
          <a:bodyPr wrap="square" anchor="t" lIns="73152" rIns="73152" tIns="36576" bIns="36576">
            <a:spAutoFit/>
          </a:bodyPr>
          <a:lstStyle/>
          <a:p>
            <a:pPr algn="l">
              <a:lnSpc>
                <a:spcPct val="115000"/>
              </a:lnSpc>
            </a:pPr>
            <a:r>
              <a:rPr sz="1200" b="0" i="1">
                <a:solidFill>
                  <a:srgbClr val="9AA7BD"/>
                </a:solidFill>
                <a:latin typeface="Segoe UI"/>
              </a:rPr>
              <a:t>That one fact collapsed the whole case: stolen API key, not compromised identity.</a:t>
            </a:r>
          </a:p>
        </p:txBody>
      </p:sp>
      <p:sp>
        <p:nvSpPr>
          <p:cNvPr id="22" name="TextBox 21"/>
          <p:cNvSpPr txBox="1"/>
          <p:nvPr/>
        </p:nvSpPr>
        <p:spPr>
          <a:xfrm>
            <a:off x="9144000" y="6492240"/>
            <a:ext cx="2743200" cy="274320"/>
          </a:xfrm>
          <a:prstGeom prst="rect">
            <a:avLst/>
          </a:prstGeom>
          <a:noFill/>
        </p:spPr>
        <p:txBody>
          <a:bodyPr wrap="square" anchor="t" lIns="73152" rIns="73152" tIns="36576" bIns="36576">
            <a:spAutoFit/>
          </a:bodyPr>
          <a:lstStyle/>
          <a:p>
            <a:pPr algn="r">
              <a:lnSpc>
                <a:spcPct val="115000"/>
              </a:lnSpc>
            </a:pPr>
            <a:r>
              <a:rPr sz="1000" b="0" i="0">
                <a:solidFill>
                  <a:srgbClr val="9AA7BD"/>
                </a:solidFill>
                <a:latin typeface="Segoe UI"/>
              </a:rPr>
              <a:t>08 · Demo · investigate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73152" rIns="73152" tIns="36576" bIns="36576">
            <a:spAutoFit/>
          </a:bodyPr>
          <a:lstStyle/>
          <a:p>
            <a:pPr algn="l">
              <a:lnSpc>
                <a:spcPct val="115000"/>
              </a:lnSpc>
            </a:pPr>
            <a:r>
              <a:rPr sz="2800" b="1" i="0">
                <a:solidFill>
                  <a:srgbClr val="FFFFFF"/>
                </a:solidFill>
                <a:latin typeface="Segoe UI"/>
              </a:rPr>
              <a:t>Demo · Part 2 — From narrative to production playbook</a:t>
            </a:r>
          </a:p>
        </p:txBody>
      </p:sp>
      <p:sp>
        <p:nvSpPr>
          <p:cNvPr id="3" name="Rounded Rectangle 2"/>
          <p:cNvSpPr/>
          <p:nvPr/>
        </p:nvSpPr>
        <p:spPr>
          <a:xfrm>
            <a:off x="640080" y="1371600"/>
            <a:ext cx="5394960" cy="384048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81328"/>
            <a:ext cx="5120640" cy="365760"/>
          </a:xfrm>
          <a:prstGeom prst="rect">
            <a:avLst/>
          </a:prstGeom>
          <a:noFill/>
        </p:spPr>
        <p:txBody>
          <a:bodyPr wrap="square" anchor="t" lIns="73152" rIns="73152" tIns="36576" bIns="36576">
            <a:spAutoFit/>
          </a:bodyPr>
          <a:lstStyle/>
          <a:p>
            <a:pPr algn="l">
              <a:lnSpc>
                <a:spcPct val="115000"/>
              </a:lnSpc>
            </a:pPr>
            <a:r>
              <a:rPr sz="1700" b="1" i="0">
                <a:solidFill>
                  <a:srgbClr val="4CC2FF"/>
                </a:solidFill>
                <a:latin typeface="Segoe UI"/>
              </a:rPr>
              <a:t>📄  Report (CyberProbe)</a:t>
            </a:r>
          </a:p>
        </p:txBody>
      </p:sp>
      <p:sp>
        <p:nvSpPr>
          <p:cNvPr id="5" name="TextBox 4"/>
          <p:cNvSpPr txBox="1"/>
          <p:nvPr/>
        </p:nvSpPr>
        <p:spPr>
          <a:xfrm>
            <a:off x="777240" y="1874519"/>
            <a:ext cx="5120640" cy="3246120"/>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HTML + JSON, dark theme</a:t>
            </a:r>
          </a:p>
          <a:p>
            <a:pPr algn="l">
              <a:lnSpc>
                <a:spcPct val="120000"/>
              </a:lnSpc>
            </a:pPr>
            <a:r>
              <a:rPr sz="1300">
                <a:solidFill>
                  <a:srgbClr val="E6ECF5"/>
                </a:solidFill>
                <a:latin typeface="Segoe UI"/>
              </a:rPr>
              <a:t>• Attack-path Mermaid graph</a:t>
            </a:r>
          </a:p>
          <a:p>
            <a:pPr algn="l">
              <a:lnSpc>
                <a:spcPct val="120000"/>
              </a:lnSpc>
            </a:pPr>
            <a:r>
              <a:rPr sz="1300">
                <a:solidFill>
                  <a:srgbClr val="E6ECF5"/>
                </a:solidFill>
                <a:latin typeface="Segoe UI"/>
              </a:rPr>
              <a:t>• MITRE ATT&amp;CK mapping</a:t>
            </a:r>
          </a:p>
          <a:p>
            <a:pPr algn="l">
              <a:lnSpc>
                <a:spcPct val="120000"/>
              </a:lnSpc>
            </a:pPr>
            <a:r>
              <a:rPr sz="1300">
                <a:solidFill>
                  <a:srgbClr val="E6ECF5"/>
                </a:solidFill>
                <a:latin typeface="Segoe UI"/>
              </a:rPr>
              <a:t>• Mandatory Methodology section — every query, every tool, every API</a:t>
            </a:r>
          </a:p>
        </p:txBody>
      </p:sp>
      <p:sp>
        <p:nvSpPr>
          <p:cNvPr id="6" name="Rounded Rectangle 5"/>
          <p:cNvSpPr/>
          <p:nvPr/>
        </p:nvSpPr>
        <p:spPr>
          <a:xfrm>
            <a:off x="6217920" y="1371600"/>
            <a:ext cx="5394960" cy="3840480"/>
          </a:xfrm>
          <a:prstGeom prst="roundRect">
            <a:avLst>
              <a:gd name="adj" fmla="val 8000"/>
            </a:avLst>
          </a:prstGeom>
          <a:solidFill>
            <a:srgbClr val="102B22"/>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481328"/>
            <a:ext cx="5120640" cy="365760"/>
          </a:xfrm>
          <a:prstGeom prst="rect">
            <a:avLst/>
          </a:prstGeom>
          <a:noFill/>
        </p:spPr>
        <p:txBody>
          <a:bodyPr wrap="square" anchor="t" lIns="73152" rIns="73152" tIns="36576" bIns="36576">
            <a:spAutoFit/>
          </a:bodyPr>
          <a:lstStyle/>
          <a:p>
            <a:pPr algn="l">
              <a:lnSpc>
                <a:spcPct val="115000"/>
              </a:lnSpc>
            </a:pPr>
            <a:r>
              <a:rPr sz="1700" b="1" i="0">
                <a:solidFill>
                  <a:srgbClr val="3DDC97"/>
                </a:solidFill>
                <a:latin typeface="Segoe UI"/>
              </a:rPr>
              <a:t>⚙️  Sentinel Playbook (Preview)</a:t>
            </a:r>
          </a:p>
        </p:txBody>
      </p:sp>
      <p:sp>
        <p:nvSpPr>
          <p:cNvPr id="8" name="TextBox 7"/>
          <p:cNvSpPr txBox="1"/>
          <p:nvPr/>
        </p:nvSpPr>
        <p:spPr>
          <a:xfrm>
            <a:off x="6355080" y="1874519"/>
            <a:ext cx="5120640" cy="3246120"/>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Paste narrative into the Playbook Generator</a:t>
            </a:r>
          </a:p>
          <a:p>
            <a:pPr algn="l">
              <a:lnSpc>
                <a:spcPct val="120000"/>
              </a:lnSpc>
            </a:pPr>
            <a:r>
              <a:rPr sz="1300">
                <a:solidFill>
                  <a:srgbClr val="E6ECF5"/>
                </a:solidFill>
                <a:latin typeface="Segoe UI"/>
              </a:rPr>
              <a:t>• AI writes Python that reproduces the investigation</a:t>
            </a:r>
          </a:p>
          <a:p>
            <a:pPr algn="l">
              <a:lnSpc>
                <a:spcPct val="120000"/>
              </a:lnSpc>
            </a:pPr>
            <a:r>
              <a:rPr sz="1300">
                <a:solidFill>
                  <a:srgbClr val="E6ECF5"/>
                </a:solidFill>
                <a:latin typeface="Segoe UI"/>
              </a:rPr>
              <a:t>• Gated response: triage auto-comments, one-way doors human-approved</a:t>
            </a:r>
          </a:p>
          <a:p>
            <a:pPr algn="l">
              <a:lnSpc>
                <a:spcPct val="120000"/>
              </a:lnSpc>
            </a:pPr>
            <a:r>
              <a:rPr sz="1300">
                <a:solidFill>
                  <a:srgbClr val="E6ECF5"/>
                </a:solidFill>
                <a:latin typeface="Segoe UI"/>
              </a:rPr>
              <a:t>• Runs on every future AI-attack alert</a:t>
            </a:r>
          </a:p>
        </p:txBody>
      </p:sp>
      <p:sp>
        <p:nvSpPr>
          <p:cNvPr id="9" name="Rectangle 8"/>
          <p:cNvSpPr/>
          <p:nvPr/>
        </p:nvSpPr>
        <p:spPr>
          <a:xfrm>
            <a:off x="640080" y="5532120"/>
            <a:ext cx="64008" cy="914400"/>
          </a:xfrm>
          <a:prstGeom prst="rect">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5532120"/>
            <a:ext cx="10908792" cy="914400"/>
          </a:xfrm>
          <a:prstGeom prst="roundRect">
            <a:avLst>
              <a:gd name="adj" fmla="val 5000"/>
            </a:avLst>
          </a:prstGeom>
          <a:solidFill>
            <a:srgbClr val="141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623559"/>
            <a:ext cx="10607040" cy="731520"/>
          </a:xfrm>
          <a:prstGeom prst="rect">
            <a:avLst/>
          </a:prstGeom>
          <a:noFill/>
        </p:spPr>
        <p:txBody>
          <a:bodyPr wrap="square" anchor="ctr" lIns="73152" rIns="73152" tIns="36576" bIns="36576">
            <a:spAutoFit/>
          </a:bodyPr>
          <a:lstStyle/>
          <a:p>
            <a:pPr algn="l">
              <a:lnSpc>
                <a:spcPct val="115000"/>
              </a:lnSpc>
            </a:pPr>
            <a:r>
              <a:rPr sz="1600" b="0" i="0">
                <a:solidFill>
                  <a:srgbClr val="E6ECF5"/>
                </a:solidFill>
                <a:latin typeface="Segoe UI"/>
              </a:rPr>
              <a:t>Full circle — an afternoon of natural language became a codified, reusable SOC capability.</a:t>
            </a:r>
          </a:p>
        </p:txBody>
      </p:sp>
      <p:sp>
        <p:nvSpPr>
          <p:cNvPr id="12" name="TextBox 11"/>
          <p:cNvSpPr txBox="1"/>
          <p:nvPr/>
        </p:nvSpPr>
        <p:spPr>
          <a:xfrm>
            <a:off x="9144000" y="6492240"/>
            <a:ext cx="2743200" cy="274320"/>
          </a:xfrm>
          <a:prstGeom prst="rect">
            <a:avLst/>
          </a:prstGeom>
          <a:noFill/>
        </p:spPr>
        <p:txBody>
          <a:bodyPr wrap="square" anchor="t" lIns="73152" rIns="73152" tIns="36576" bIns="36576">
            <a:spAutoFit/>
          </a:bodyPr>
          <a:lstStyle/>
          <a:p>
            <a:pPr algn="r">
              <a:lnSpc>
                <a:spcPct val="115000"/>
              </a:lnSpc>
            </a:pPr>
            <a:r>
              <a:rPr sz="1000" b="0" i="0">
                <a:solidFill>
                  <a:srgbClr val="9AA7BD"/>
                </a:solidFill>
                <a:latin typeface="Segoe UI"/>
              </a:rPr>
              <a:t>09 · Demo · codify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73152" rIns="73152" tIns="36576" bIns="36576">
            <a:spAutoFit/>
          </a:bodyPr>
          <a:lstStyle/>
          <a:p>
            <a:pPr algn="l">
              <a:lnSpc>
                <a:spcPct val="115000"/>
              </a:lnSpc>
            </a:pPr>
            <a:r>
              <a:rPr sz="2800" b="1" i="0">
                <a:solidFill>
                  <a:srgbClr val="FFFFFF"/>
                </a:solidFill>
                <a:latin typeface="Segoe UI"/>
              </a:rPr>
              <a:t>Beyond investigation — where agentic goes next</a:t>
            </a:r>
          </a:p>
        </p:txBody>
      </p:sp>
      <p:sp>
        <p:nvSpPr>
          <p:cNvPr id="3" name="TextBox 2"/>
          <p:cNvSpPr txBox="1"/>
          <p:nvPr/>
        </p:nvSpPr>
        <p:spPr>
          <a:xfrm>
            <a:off x="640080" y="960120"/>
            <a:ext cx="10972800" cy="457200"/>
          </a:xfrm>
          <a:prstGeom prst="rect">
            <a:avLst/>
          </a:prstGeom>
          <a:noFill/>
        </p:spPr>
        <p:txBody>
          <a:bodyPr wrap="square" anchor="t" lIns="73152" rIns="73152" tIns="36576" bIns="36576">
            <a:spAutoFit/>
          </a:bodyPr>
          <a:lstStyle/>
          <a:p>
            <a:pPr algn="l">
              <a:lnSpc>
                <a:spcPct val="115000"/>
              </a:lnSpc>
            </a:pPr>
            <a:r>
              <a:rPr sz="1300" b="0" i="1">
                <a:solidFill>
                  <a:srgbClr val="9AA7BD"/>
                </a:solidFill>
                <a:latin typeface="Segoe UI"/>
              </a:rPr>
              <a:t>Investigating faster is the no-brainer. The real leverage is everywhere else we still move slowly.</a:t>
            </a:r>
          </a:p>
        </p:txBody>
      </p:sp>
      <p:sp>
        <p:nvSpPr>
          <p:cNvPr id="4" name="Rounded Rectangle 3"/>
          <p:cNvSpPr/>
          <p:nvPr/>
        </p:nvSpPr>
        <p:spPr>
          <a:xfrm>
            <a:off x="640080" y="1645920"/>
            <a:ext cx="3657600" cy="2331720"/>
          </a:xfrm>
          <a:prstGeom prst="roundRect">
            <a:avLst>
              <a:gd name="adj" fmla="val 8000"/>
            </a:avLst>
          </a:prstGeom>
          <a:solidFill>
            <a:srgbClr val="102B22"/>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55648"/>
            <a:ext cx="3383280" cy="365760"/>
          </a:xfrm>
          <a:prstGeom prst="rect">
            <a:avLst/>
          </a:prstGeom>
          <a:noFill/>
        </p:spPr>
        <p:txBody>
          <a:bodyPr wrap="square" anchor="t" lIns="73152" rIns="73152" tIns="36576" bIns="36576">
            <a:spAutoFit/>
          </a:bodyPr>
          <a:lstStyle/>
          <a:p>
            <a:pPr algn="l">
              <a:lnSpc>
                <a:spcPct val="115000"/>
              </a:lnSpc>
            </a:pPr>
            <a:r>
              <a:rPr sz="1500" b="1" i="0">
                <a:solidFill>
                  <a:srgbClr val="3DDC97"/>
                </a:solidFill>
                <a:latin typeface="Segoe UI"/>
              </a:rPr>
              <a:t>🔎  Investigate faster</a:t>
            </a:r>
          </a:p>
        </p:txBody>
      </p:sp>
      <p:sp>
        <p:nvSpPr>
          <p:cNvPr id="6" name="TextBox 5"/>
          <p:cNvSpPr txBox="1"/>
          <p:nvPr/>
        </p:nvSpPr>
        <p:spPr>
          <a:xfrm>
            <a:off x="777240" y="2148840"/>
            <a:ext cx="3383280" cy="1737360"/>
          </a:xfrm>
          <a:prstGeom prst="rect">
            <a:avLst/>
          </a:prstGeom>
          <a:noFill/>
        </p:spPr>
        <p:txBody>
          <a:bodyPr wrap="square" lIns="45720" rIns="45720" tIns="27432" bIns="27432">
            <a:spAutoFit/>
          </a:bodyPr>
          <a:lstStyle/>
          <a:p>
            <a:pPr algn="l">
              <a:lnSpc>
                <a:spcPct val="120000"/>
              </a:lnSpc>
            </a:pPr>
            <a:r>
              <a:rPr sz="1200">
                <a:solidFill>
                  <a:srgbClr val="E6ECF5"/>
                </a:solidFill>
                <a:latin typeface="Segoe UI"/>
              </a:rPr>
              <a:t>The baseline win. Hours → minutes. Triage, enrichment, correlation in parallel.</a:t>
            </a:r>
          </a:p>
        </p:txBody>
      </p:sp>
      <p:sp>
        <p:nvSpPr>
          <p:cNvPr id="7" name="Rounded Rectangle 6"/>
          <p:cNvSpPr/>
          <p:nvPr/>
        </p:nvSpPr>
        <p:spPr>
          <a:xfrm>
            <a:off x="4434840" y="1645920"/>
            <a:ext cx="3657600" cy="233172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755648"/>
            <a:ext cx="3383280" cy="365760"/>
          </a:xfrm>
          <a:prstGeom prst="rect">
            <a:avLst/>
          </a:prstGeom>
          <a:noFill/>
        </p:spPr>
        <p:txBody>
          <a:bodyPr wrap="square" anchor="t" lIns="73152" rIns="73152" tIns="36576" bIns="36576">
            <a:spAutoFit/>
          </a:bodyPr>
          <a:lstStyle/>
          <a:p>
            <a:pPr algn="l">
              <a:lnSpc>
                <a:spcPct val="115000"/>
              </a:lnSpc>
            </a:pPr>
            <a:r>
              <a:rPr sz="1500" b="1" i="0">
                <a:solidFill>
                  <a:srgbClr val="4CC2FF"/>
                </a:solidFill>
                <a:latin typeface="Segoe UI"/>
              </a:rPr>
              <a:t>🩹  Patch faster</a:t>
            </a:r>
          </a:p>
        </p:txBody>
      </p:sp>
      <p:sp>
        <p:nvSpPr>
          <p:cNvPr id="9" name="TextBox 8"/>
          <p:cNvSpPr txBox="1"/>
          <p:nvPr/>
        </p:nvSpPr>
        <p:spPr>
          <a:xfrm>
            <a:off x="4572000" y="2148840"/>
            <a:ext cx="3383280" cy="1737360"/>
          </a:xfrm>
          <a:prstGeom prst="rect">
            <a:avLst/>
          </a:prstGeom>
          <a:noFill/>
        </p:spPr>
        <p:txBody>
          <a:bodyPr wrap="square" lIns="45720" rIns="45720" tIns="27432" bIns="27432">
            <a:spAutoFit/>
          </a:bodyPr>
          <a:lstStyle/>
          <a:p>
            <a:pPr algn="l">
              <a:lnSpc>
                <a:spcPct val="120000"/>
              </a:lnSpc>
            </a:pPr>
            <a:r>
              <a:rPr sz="1200">
                <a:solidFill>
                  <a:srgbClr val="E6ECF5"/>
                </a:solidFill>
                <a:latin typeface="Segoe UI"/>
              </a:rPr>
              <a:t>Gather vuln context → map to exposure graph → prioritize by blast radius → open change tickets → track remediation. Today weeks. Shouldn't be.</a:t>
            </a:r>
          </a:p>
        </p:txBody>
      </p:sp>
      <p:sp>
        <p:nvSpPr>
          <p:cNvPr id="10" name="Rounded Rectangle 9"/>
          <p:cNvSpPr/>
          <p:nvPr/>
        </p:nvSpPr>
        <p:spPr>
          <a:xfrm>
            <a:off x="8229600" y="1645920"/>
            <a:ext cx="3657600" cy="233172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1755648"/>
            <a:ext cx="3383280" cy="365760"/>
          </a:xfrm>
          <a:prstGeom prst="rect">
            <a:avLst/>
          </a:prstGeom>
          <a:noFill/>
        </p:spPr>
        <p:txBody>
          <a:bodyPr wrap="square" anchor="t" lIns="73152" rIns="73152" tIns="36576" bIns="36576">
            <a:spAutoFit/>
          </a:bodyPr>
          <a:lstStyle/>
          <a:p>
            <a:pPr algn="l">
              <a:lnSpc>
                <a:spcPct val="115000"/>
              </a:lnSpc>
            </a:pPr>
            <a:r>
              <a:rPr sz="1500" b="1" i="0">
                <a:solidFill>
                  <a:srgbClr val="4CC2FF"/>
                </a:solidFill>
                <a:latin typeface="Segoe UI"/>
              </a:rPr>
              <a:t>🧱  Harden faster</a:t>
            </a:r>
          </a:p>
        </p:txBody>
      </p:sp>
      <p:sp>
        <p:nvSpPr>
          <p:cNvPr id="12" name="TextBox 11"/>
          <p:cNvSpPr txBox="1"/>
          <p:nvPr/>
        </p:nvSpPr>
        <p:spPr>
          <a:xfrm>
            <a:off x="8366760" y="2148840"/>
            <a:ext cx="3383280" cy="1737360"/>
          </a:xfrm>
          <a:prstGeom prst="rect">
            <a:avLst/>
          </a:prstGeom>
          <a:noFill/>
        </p:spPr>
        <p:txBody>
          <a:bodyPr wrap="square" lIns="45720" rIns="45720" tIns="27432" bIns="27432">
            <a:spAutoFit/>
          </a:bodyPr>
          <a:lstStyle/>
          <a:p>
            <a:pPr algn="l">
              <a:lnSpc>
                <a:spcPct val="120000"/>
              </a:lnSpc>
            </a:pPr>
            <a:r>
              <a:rPr sz="1200">
                <a:solidFill>
                  <a:srgbClr val="E6ECF5"/>
                </a:solidFill>
                <a:latin typeface="Segoe UI"/>
              </a:rPr>
              <a:t>Detection-as-code. Sigma → KQL → analytics rule → deployed. Community intel lands in your tenant same day.</a:t>
            </a:r>
          </a:p>
        </p:txBody>
      </p:sp>
      <p:sp>
        <p:nvSpPr>
          <p:cNvPr id="13" name="Rounded Rectangle 12"/>
          <p:cNvSpPr/>
          <p:nvPr/>
        </p:nvSpPr>
        <p:spPr>
          <a:xfrm>
            <a:off x="640080" y="4206240"/>
            <a:ext cx="3657600" cy="233172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315968"/>
            <a:ext cx="3383280" cy="365760"/>
          </a:xfrm>
          <a:prstGeom prst="rect">
            <a:avLst/>
          </a:prstGeom>
          <a:noFill/>
        </p:spPr>
        <p:txBody>
          <a:bodyPr wrap="square" anchor="t" lIns="73152" rIns="73152" tIns="36576" bIns="36576">
            <a:spAutoFit/>
          </a:bodyPr>
          <a:lstStyle/>
          <a:p>
            <a:pPr algn="l">
              <a:lnSpc>
                <a:spcPct val="115000"/>
              </a:lnSpc>
            </a:pPr>
            <a:r>
              <a:rPr sz="1500" b="1" i="0">
                <a:solidFill>
                  <a:srgbClr val="4CC2FF"/>
                </a:solidFill>
                <a:latin typeface="Segoe UI"/>
              </a:rPr>
              <a:t>📋  Report faster</a:t>
            </a:r>
          </a:p>
        </p:txBody>
      </p:sp>
      <p:sp>
        <p:nvSpPr>
          <p:cNvPr id="15" name="TextBox 14"/>
          <p:cNvSpPr txBox="1"/>
          <p:nvPr/>
        </p:nvSpPr>
        <p:spPr>
          <a:xfrm>
            <a:off x="777240" y="4709159"/>
            <a:ext cx="3383280" cy="1737360"/>
          </a:xfrm>
          <a:prstGeom prst="rect">
            <a:avLst/>
          </a:prstGeom>
          <a:noFill/>
        </p:spPr>
        <p:txBody>
          <a:bodyPr wrap="square" lIns="45720" rIns="45720" tIns="27432" bIns="27432">
            <a:spAutoFit/>
          </a:bodyPr>
          <a:lstStyle/>
          <a:p>
            <a:pPr algn="l">
              <a:lnSpc>
                <a:spcPct val="120000"/>
              </a:lnSpc>
            </a:pPr>
            <a:r>
              <a:rPr sz="1200">
                <a:solidFill>
                  <a:srgbClr val="E6ECF5"/>
                </a:solidFill>
                <a:latin typeface="Segoe UI"/>
              </a:rPr>
              <a:t>ITDM briefings, board decks, compliance evidence — persona-specific outputs from the same fabric.</a:t>
            </a:r>
          </a:p>
        </p:txBody>
      </p:sp>
      <p:sp>
        <p:nvSpPr>
          <p:cNvPr id="16" name="Rounded Rectangle 15"/>
          <p:cNvSpPr/>
          <p:nvPr/>
        </p:nvSpPr>
        <p:spPr>
          <a:xfrm>
            <a:off x="4434840" y="4206240"/>
            <a:ext cx="3657600" cy="233172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4315968"/>
            <a:ext cx="3383280" cy="365760"/>
          </a:xfrm>
          <a:prstGeom prst="rect">
            <a:avLst/>
          </a:prstGeom>
          <a:noFill/>
        </p:spPr>
        <p:txBody>
          <a:bodyPr wrap="square" anchor="t" lIns="73152" rIns="73152" tIns="36576" bIns="36576">
            <a:spAutoFit/>
          </a:bodyPr>
          <a:lstStyle/>
          <a:p>
            <a:pPr algn="l">
              <a:lnSpc>
                <a:spcPct val="115000"/>
              </a:lnSpc>
            </a:pPr>
            <a:r>
              <a:rPr sz="1500" b="1" i="0">
                <a:solidFill>
                  <a:srgbClr val="4CC2FF"/>
                </a:solidFill>
                <a:latin typeface="Segoe UI"/>
              </a:rPr>
              <a:t>🏗️  Build faster</a:t>
            </a:r>
          </a:p>
        </p:txBody>
      </p:sp>
      <p:sp>
        <p:nvSpPr>
          <p:cNvPr id="18" name="TextBox 17"/>
          <p:cNvSpPr txBox="1"/>
          <p:nvPr/>
        </p:nvSpPr>
        <p:spPr>
          <a:xfrm>
            <a:off x="4572000" y="4709159"/>
            <a:ext cx="3383280" cy="1737360"/>
          </a:xfrm>
          <a:prstGeom prst="rect">
            <a:avLst/>
          </a:prstGeom>
          <a:noFill/>
        </p:spPr>
        <p:txBody>
          <a:bodyPr wrap="square" lIns="45720" rIns="45720" tIns="27432" bIns="27432">
            <a:spAutoFit/>
          </a:bodyPr>
          <a:lstStyle/>
          <a:p>
            <a:pPr algn="l">
              <a:lnSpc>
                <a:spcPct val="120000"/>
              </a:lnSpc>
            </a:pPr>
            <a:r>
              <a:rPr sz="1200">
                <a:solidFill>
                  <a:srgbClr val="E6ECF5"/>
                </a:solidFill>
                <a:latin typeface="Segoe UI"/>
              </a:rPr>
              <a:t>New MCP servers, new skills, new connectors — agents help you extend the fabric itself.</a:t>
            </a:r>
          </a:p>
        </p:txBody>
      </p:sp>
      <p:sp>
        <p:nvSpPr>
          <p:cNvPr id="19" name="Rounded Rectangle 18"/>
          <p:cNvSpPr/>
          <p:nvPr/>
        </p:nvSpPr>
        <p:spPr>
          <a:xfrm>
            <a:off x="8229600" y="4206240"/>
            <a:ext cx="3657600" cy="233172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4315968"/>
            <a:ext cx="3383280" cy="365760"/>
          </a:xfrm>
          <a:prstGeom prst="rect">
            <a:avLst/>
          </a:prstGeom>
          <a:noFill/>
        </p:spPr>
        <p:txBody>
          <a:bodyPr wrap="square" anchor="t" lIns="73152" rIns="73152" tIns="36576" bIns="36576">
            <a:spAutoFit/>
          </a:bodyPr>
          <a:lstStyle/>
          <a:p>
            <a:pPr algn="l">
              <a:lnSpc>
                <a:spcPct val="115000"/>
              </a:lnSpc>
            </a:pPr>
            <a:r>
              <a:rPr sz="1500" b="1" i="0">
                <a:solidFill>
                  <a:srgbClr val="4CC2FF"/>
                </a:solidFill>
                <a:latin typeface="Segoe UI"/>
              </a:rPr>
              <a:t>🤝  Collaborate faster</a:t>
            </a:r>
          </a:p>
        </p:txBody>
      </p:sp>
      <p:sp>
        <p:nvSpPr>
          <p:cNvPr id="21" name="TextBox 20"/>
          <p:cNvSpPr txBox="1"/>
          <p:nvPr/>
        </p:nvSpPr>
        <p:spPr>
          <a:xfrm>
            <a:off x="8366760" y="4709159"/>
            <a:ext cx="3383280" cy="1737360"/>
          </a:xfrm>
          <a:prstGeom prst="rect">
            <a:avLst/>
          </a:prstGeom>
          <a:noFill/>
        </p:spPr>
        <p:txBody>
          <a:bodyPr wrap="square" lIns="45720" rIns="45720" tIns="27432" bIns="27432">
            <a:spAutoFit/>
          </a:bodyPr>
          <a:lstStyle/>
          <a:p>
            <a:pPr algn="l">
              <a:lnSpc>
                <a:spcPct val="120000"/>
              </a:lnSpc>
            </a:pPr>
            <a:r>
              <a:rPr sz="1200">
                <a:solidFill>
                  <a:srgbClr val="E6ECF5"/>
                </a:solidFill>
                <a:latin typeface="Segoe UI"/>
              </a:rPr>
              <a:t>H2A + A2A. Hand an investigation to another agent, a peer, or Security Copilot — with full context.</a:t>
            </a:r>
          </a:p>
        </p:txBody>
      </p:sp>
      <p:sp>
        <p:nvSpPr>
          <p:cNvPr id="22" name="TextBox 21"/>
          <p:cNvSpPr txBox="1"/>
          <p:nvPr/>
        </p:nvSpPr>
        <p:spPr>
          <a:xfrm>
            <a:off x="9144000" y="6492240"/>
            <a:ext cx="2743200" cy="274320"/>
          </a:xfrm>
          <a:prstGeom prst="rect">
            <a:avLst/>
          </a:prstGeom>
          <a:noFill/>
        </p:spPr>
        <p:txBody>
          <a:bodyPr wrap="square" anchor="t" lIns="73152" rIns="73152" tIns="36576" bIns="36576">
            <a:spAutoFit/>
          </a:bodyPr>
          <a:lstStyle/>
          <a:p>
            <a:pPr algn="r">
              <a:lnSpc>
                <a:spcPct val="115000"/>
              </a:lnSpc>
            </a:pPr>
            <a:r>
              <a:rPr sz="1000" b="0" i="0">
                <a:solidFill>
                  <a:srgbClr val="9AA7BD"/>
                </a:solidFill>
                <a:latin typeface="Segoe UI"/>
              </a:rPr>
              <a:t>10 · Beyond investigation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73152" rIns="73152" tIns="36576" bIns="36576">
            <a:spAutoFit/>
          </a:bodyPr>
          <a:lstStyle/>
          <a:p>
            <a:pPr algn="l">
              <a:lnSpc>
                <a:spcPct val="115000"/>
              </a:lnSpc>
            </a:pPr>
            <a:r>
              <a:rPr sz="2800" b="1" i="0">
                <a:solidFill>
                  <a:srgbClr val="FFFFFF"/>
                </a:solidFill>
                <a:latin typeface="Segoe UI"/>
              </a:rPr>
              <a:t>Why we can't stay slow — look at what the adversary has</a:t>
            </a:r>
          </a:p>
        </p:txBody>
      </p:sp>
      <p:sp>
        <p:nvSpPr>
          <p:cNvPr id="3" name="Rounded Rectangle 2"/>
          <p:cNvSpPr/>
          <p:nvPr/>
        </p:nvSpPr>
        <p:spPr>
          <a:xfrm>
            <a:off x="640080" y="1371600"/>
            <a:ext cx="5394960" cy="4023360"/>
          </a:xfrm>
          <a:prstGeom prst="roundRect">
            <a:avLst>
              <a:gd name="adj" fmla="val 8000"/>
            </a:avLst>
          </a:prstGeom>
          <a:solidFill>
            <a:srgbClr val="2E131C"/>
          </a:solidFill>
          <a:ln w="15875">
            <a:solidFill>
              <a:srgbClr val="FF5C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81328"/>
            <a:ext cx="5120640" cy="365760"/>
          </a:xfrm>
          <a:prstGeom prst="rect">
            <a:avLst/>
          </a:prstGeom>
          <a:noFill/>
        </p:spPr>
        <p:txBody>
          <a:bodyPr wrap="square" anchor="t" lIns="73152" rIns="73152" tIns="36576" bIns="36576">
            <a:spAutoFit/>
          </a:bodyPr>
          <a:lstStyle/>
          <a:p>
            <a:pPr algn="l">
              <a:lnSpc>
                <a:spcPct val="115000"/>
              </a:lnSpc>
            </a:pPr>
            <a:r>
              <a:rPr sz="1700" b="1" i="0">
                <a:solidFill>
                  <a:srgbClr val="FF5C7A"/>
                </a:solidFill>
                <a:latin typeface="Segoe UI"/>
              </a:rPr>
              <a:t>On the offensive side</a:t>
            </a:r>
          </a:p>
        </p:txBody>
      </p:sp>
      <p:sp>
        <p:nvSpPr>
          <p:cNvPr id="5" name="TextBox 4"/>
          <p:cNvSpPr txBox="1"/>
          <p:nvPr/>
        </p:nvSpPr>
        <p:spPr>
          <a:xfrm>
            <a:off x="777240" y="1874519"/>
            <a:ext cx="5120640" cy="3429000"/>
          </a:xfrm>
          <a:prstGeom prst="rect">
            <a:avLst/>
          </a:prstGeom>
          <a:noFill/>
        </p:spPr>
        <p:txBody>
          <a:bodyPr wrap="square" lIns="45720" rIns="45720" tIns="27432" bIns="27432">
            <a:spAutoFit/>
          </a:bodyPr>
          <a:lstStyle/>
          <a:p>
            <a:pPr algn="l">
              <a:lnSpc>
                <a:spcPct val="120000"/>
              </a:lnSpc>
            </a:pPr>
            <a:r>
              <a:rPr sz="1400">
                <a:solidFill>
                  <a:srgbClr val="E6ECF5"/>
                </a:solidFill>
                <a:latin typeface="Segoe UI"/>
              </a:rPr>
              <a:t>• Claude Mythos-class models purpose-built for offense</a:t>
            </a:r>
          </a:p>
          <a:p>
            <a:pPr algn="l">
              <a:lnSpc>
                <a:spcPct val="120000"/>
              </a:lnSpc>
            </a:pPr>
            <a:r>
              <a:rPr sz="1400">
                <a:solidFill>
                  <a:srgbClr val="E6ECF5"/>
                </a:solidFill>
                <a:latin typeface="Segoe UI"/>
              </a:rPr>
              <a:t>• GPT-5.4-Cyber weaponizing recon + exploit chaining</a:t>
            </a:r>
          </a:p>
          <a:p>
            <a:pPr algn="l">
              <a:lnSpc>
                <a:spcPct val="120000"/>
              </a:lnSpc>
            </a:pPr>
            <a:r>
              <a:rPr sz="1400">
                <a:solidFill>
                  <a:srgbClr val="E6ECF5"/>
                </a:solidFill>
                <a:latin typeface="Segoe UI"/>
              </a:rPr>
              <a:t>• Automated vuln discovery at machine speed</a:t>
            </a:r>
          </a:p>
          <a:p>
            <a:pPr algn="l">
              <a:lnSpc>
                <a:spcPct val="120000"/>
              </a:lnSpc>
            </a:pPr>
            <a:r>
              <a:rPr sz="1400">
                <a:solidFill>
                  <a:srgbClr val="E6ECF5"/>
                </a:solidFill>
                <a:latin typeface="Segoe UI"/>
              </a:rPr>
              <a:t>• Phishing and social engineering at scale</a:t>
            </a:r>
          </a:p>
        </p:txBody>
      </p:sp>
      <p:sp>
        <p:nvSpPr>
          <p:cNvPr id="6" name="Rounded Rectangle 5"/>
          <p:cNvSpPr/>
          <p:nvPr/>
        </p:nvSpPr>
        <p:spPr>
          <a:xfrm>
            <a:off x="6217920" y="1371600"/>
            <a:ext cx="5394960" cy="4023360"/>
          </a:xfrm>
          <a:prstGeom prst="roundRect">
            <a:avLst>
              <a:gd name="adj" fmla="val 8000"/>
            </a:avLst>
          </a:prstGeom>
          <a:solidFill>
            <a:srgbClr val="102B22"/>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481328"/>
            <a:ext cx="5120640" cy="365760"/>
          </a:xfrm>
          <a:prstGeom prst="rect">
            <a:avLst/>
          </a:prstGeom>
          <a:noFill/>
        </p:spPr>
        <p:txBody>
          <a:bodyPr wrap="square" anchor="t" lIns="73152" rIns="73152" tIns="36576" bIns="36576">
            <a:spAutoFit/>
          </a:bodyPr>
          <a:lstStyle/>
          <a:p>
            <a:pPr algn="l">
              <a:lnSpc>
                <a:spcPct val="115000"/>
              </a:lnSpc>
            </a:pPr>
            <a:r>
              <a:rPr sz="1700" b="1" i="0">
                <a:solidFill>
                  <a:srgbClr val="3DDC97"/>
                </a:solidFill>
                <a:latin typeface="Segoe UI"/>
              </a:rPr>
              <a:t>On the defensive side — we need</a:t>
            </a:r>
          </a:p>
        </p:txBody>
      </p:sp>
      <p:sp>
        <p:nvSpPr>
          <p:cNvPr id="8" name="TextBox 7"/>
          <p:cNvSpPr txBox="1"/>
          <p:nvPr/>
        </p:nvSpPr>
        <p:spPr>
          <a:xfrm>
            <a:off x="6355080" y="1874519"/>
            <a:ext cx="5120640" cy="3429000"/>
          </a:xfrm>
          <a:prstGeom prst="rect">
            <a:avLst/>
          </a:prstGeom>
          <a:noFill/>
        </p:spPr>
        <p:txBody>
          <a:bodyPr wrap="square" lIns="45720" rIns="45720" tIns="27432" bIns="27432">
            <a:spAutoFit/>
          </a:bodyPr>
          <a:lstStyle/>
          <a:p>
            <a:pPr algn="l">
              <a:lnSpc>
                <a:spcPct val="120000"/>
              </a:lnSpc>
            </a:pPr>
            <a:r>
              <a:rPr sz="1400">
                <a:solidFill>
                  <a:srgbClr val="E6ECF5"/>
                </a:solidFill>
                <a:latin typeface="Segoe UI"/>
              </a:rPr>
              <a:t>• Gather information faster</a:t>
            </a:r>
          </a:p>
          <a:p>
            <a:pPr algn="l">
              <a:lnSpc>
                <a:spcPct val="120000"/>
              </a:lnSpc>
            </a:pPr>
            <a:r>
              <a:rPr sz="1400">
                <a:solidFill>
                  <a:srgbClr val="E6ECF5"/>
                </a:solidFill>
                <a:latin typeface="Segoe UI"/>
              </a:rPr>
              <a:t>• Prioritize faster</a:t>
            </a:r>
          </a:p>
          <a:p>
            <a:pPr algn="l">
              <a:lnSpc>
                <a:spcPct val="120000"/>
              </a:lnSpc>
            </a:pPr>
            <a:r>
              <a:rPr sz="1400">
                <a:solidFill>
                  <a:srgbClr val="E6ECF5"/>
                </a:solidFill>
                <a:latin typeface="Segoe UI"/>
              </a:rPr>
              <a:t>• Patch and contain faster</a:t>
            </a:r>
          </a:p>
          <a:p>
            <a:pPr algn="l">
              <a:lnSpc>
                <a:spcPct val="120000"/>
              </a:lnSpc>
            </a:pPr>
            <a:r>
              <a:rPr sz="1400">
                <a:solidFill>
                  <a:srgbClr val="E6ECF5"/>
                </a:solidFill>
                <a:latin typeface="Segoe UI"/>
              </a:rPr>
              <a:t>• Agentic has to be part of every step — not just triage</a:t>
            </a:r>
          </a:p>
        </p:txBody>
      </p:sp>
      <p:sp>
        <p:nvSpPr>
          <p:cNvPr id="9" name="Rectangle 8"/>
          <p:cNvSpPr/>
          <p:nvPr/>
        </p:nvSpPr>
        <p:spPr>
          <a:xfrm>
            <a:off x="640080" y="5669280"/>
            <a:ext cx="64008" cy="868680"/>
          </a:xfrm>
          <a:prstGeom prst="rect">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5669280"/>
            <a:ext cx="10908792" cy="868680"/>
          </a:xfrm>
          <a:prstGeom prst="roundRect">
            <a:avLst>
              <a:gd name="adj" fmla="val 5000"/>
            </a:avLst>
          </a:prstGeom>
          <a:solidFill>
            <a:srgbClr val="141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60720"/>
            <a:ext cx="10607040" cy="685800"/>
          </a:xfrm>
          <a:prstGeom prst="rect">
            <a:avLst/>
          </a:prstGeom>
          <a:noFill/>
        </p:spPr>
        <p:txBody>
          <a:bodyPr wrap="square" anchor="ctr" lIns="73152" rIns="73152" tIns="36576" bIns="36576">
            <a:spAutoFit/>
          </a:bodyPr>
          <a:lstStyle/>
          <a:p>
            <a:pPr algn="l">
              <a:lnSpc>
                <a:spcPct val="115000"/>
              </a:lnSpc>
            </a:pPr>
            <a:r>
              <a:rPr sz="1600" b="0" i="0">
                <a:solidFill>
                  <a:srgbClr val="E6ECF5"/>
                </a:solidFill>
                <a:latin typeface="Segoe UI"/>
              </a:rPr>
              <a:t>If the offense is agentic end-to-end, a defense that's agentic only in Phase 1 is already losing.</a:t>
            </a:r>
          </a:p>
        </p:txBody>
      </p:sp>
      <p:sp>
        <p:nvSpPr>
          <p:cNvPr id="12" name="TextBox 11"/>
          <p:cNvSpPr txBox="1"/>
          <p:nvPr/>
        </p:nvSpPr>
        <p:spPr>
          <a:xfrm>
            <a:off x="9144000" y="6492240"/>
            <a:ext cx="2743200" cy="274320"/>
          </a:xfrm>
          <a:prstGeom prst="rect">
            <a:avLst/>
          </a:prstGeom>
          <a:noFill/>
        </p:spPr>
        <p:txBody>
          <a:bodyPr wrap="square" anchor="t" lIns="73152" rIns="73152" tIns="36576" bIns="36576">
            <a:spAutoFit/>
          </a:bodyPr>
          <a:lstStyle/>
          <a:p>
            <a:pPr algn="r">
              <a:lnSpc>
                <a:spcPct val="115000"/>
              </a:lnSpc>
            </a:pPr>
            <a:r>
              <a:rPr sz="1000" b="0" i="0">
                <a:solidFill>
                  <a:srgbClr val="9AA7BD"/>
                </a:solidFill>
                <a:latin typeface="Segoe UI"/>
              </a:rPr>
              <a:t>11 · The asymmetry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20040"/>
            <a:ext cx="10972800" cy="731520"/>
          </a:xfrm>
          <a:prstGeom prst="rect">
            <a:avLst/>
          </a:prstGeom>
          <a:noFill/>
        </p:spPr>
        <p:txBody>
          <a:bodyPr wrap="square" anchor="t" lIns="73152" rIns="73152" tIns="36576" bIns="36576">
            <a:spAutoFit/>
          </a:bodyPr>
          <a:lstStyle/>
          <a:p>
            <a:pPr algn="l">
              <a:lnSpc>
                <a:spcPct val="115000"/>
              </a:lnSpc>
            </a:pPr>
            <a:r>
              <a:rPr sz="2800" b="1" i="0">
                <a:solidFill>
                  <a:srgbClr val="FFFFFF"/>
                </a:solidFill>
                <a:latin typeface="Segoe UI"/>
              </a:rPr>
              <a:t>In a world of humans and agents — what comes next?</a:t>
            </a:r>
          </a:p>
        </p:txBody>
      </p:sp>
      <p:sp>
        <p:nvSpPr>
          <p:cNvPr id="3" name="TextBox 2"/>
          <p:cNvSpPr txBox="1"/>
          <p:nvPr/>
        </p:nvSpPr>
        <p:spPr>
          <a:xfrm>
            <a:off x="640080" y="960120"/>
            <a:ext cx="10972800" cy="457200"/>
          </a:xfrm>
          <a:prstGeom prst="rect">
            <a:avLst/>
          </a:prstGeom>
          <a:noFill/>
        </p:spPr>
        <p:txBody>
          <a:bodyPr wrap="square" anchor="t" lIns="73152" rIns="73152" tIns="36576" bIns="36576">
            <a:spAutoFit/>
          </a:bodyPr>
          <a:lstStyle/>
          <a:p>
            <a:pPr algn="l">
              <a:lnSpc>
                <a:spcPct val="115000"/>
              </a:lnSpc>
            </a:pPr>
            <a:r>
              <a:rPr sz="1300" b="0" i="1">
                <a:solidFill>
                  <a:srgbClr val="9AA7BD"/>
                </a:solidFill>
                <a:latin typeface="Segoe UI"/>
              </a:rPr>
              <a:t>CyberProbe shows how agents investigate. The next question is how you operate them when there are thousands of them working next to your people.</a:t>
            </a:r>
          </a:p>
        </p:txBody>
      </p:sp>
      <p:sp>
        <p:nvSpPr>
          <p:cNvPr id="4" name="Rounded Rectangle 3"/>
          <p:cNvSpPr/>
          <p:nvPr/>
        </p:nvSpPr>
        <p:spPr>
          <a:xfrm>
            <a:off x="640080" y="1645920"/>
            <a:ext cx="5394960" cy="393192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55648"/>
            <a:ext cx="5120640" cy="365760"/>
          </a:xfrm>
          <a:prstGeom prst="rect">
            <a:avLst/>
          </a:prstGeom>
          <a:noFill/>
        </p:spPr>
        <p:txBody>
          <a:bodyPr wrap="square" anchor="t" lIns="73152" rIns="73152" tIns="36576" bIns="36576">
            <a:spAutoFit/>
          </a:bodyPr>
          <a:lstStyle/>
          <a:p>
            <a:pPr algn="l">
              <a:lnSpc>
                <a:spcPct val="115000"/>
              </a:lnSpc>
            </a:pPr>
            <a:r>
              <a:rPr sz="1600" b="1" i="0">
                <a:solidFill>
                  <a:srgbClr val="4CC2FF"/>
                </a:solidFill>
                <a:latin typeface="Segoe UI"/>
              </a:rPr>
              <a:t>Agents need the same fabric humans already have</a:t>
            </a:r>
          </a:p>
        </p:txBody>
      </p:sp>
      <p:sp>
        <p:nvSpPr>
          <p:cNvPr id="6" name="TextBox 5"/>
          <p:cNvSpPr txBox="1"/>
          <p:nvPr/>
        </p:nvSpPr>
        <p:spPr>
          <a:xfrm>
            <a:off x="777240" y="2148840"/>
            <a:ext cx="5120640" cy="3337560"/>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Identity — a real identity per agent, not a shared key</a:t>
            </a:r>
          </a:p>
          <a:p>
            <a:pPr algn="l">
              <a:lnSpc>
                <a:spcPct val="120000"/>
              </a:lnSpc>
            </a:pPr>
            <a:r>
              <a:rPr sz="1300">
                <a:solidFill>
                  <a:srgbClr val="E6ECF5"/>
                </a:solidFill>
                <a:latin typeface="Segoe UI"/>
              </a:rPr>
              <a:t>• Access — least-privilege, conditional, auditable</a:t>
            </a:r>
          </a:p>
          <a:p>
            <a:pPr algn="l">
              <a:lnSpc>
                <a:spcPct val="120000"/>
              </a:lnSpc>
            </a:pPr>
            <a:r>
              <a:rPr sz="1300">
                <a:solidFill>
                  <a:srgbClr val="E6ECF5"/>
                </a:solidFill>
                <a:latin typeface="Segoe UI"/>
              </a:rPr>
              <a:t>• Security &amp; governance — same controls as any workforce</a:t>
            </a:r>
          </a:p>
          <a:p>
            <a:pPr algn="l">
              <a:lnSpc>
                <a:spcPct val="120000"/>
              </a:lnSpc>
            </a:pPr>
            <a:r>
              <a:rPr sz="1300">
                <a:solidFill>
                  <a:srgbClr val="E6ECF5"/>
                </a:solidFill>
                <a:latin typeface="Segoe UI"/>
              </a:rPr>
              <a:t>• Lifecycle — onboarding, review, offboarding</a:t>
            </a:r>
          </a:p>
          <a:p>
            <a:pPr algn="l">
              <a:lnSpc>
                <a:spcPct val="120000"/>
              </a:lnSpc>
            </a:pPr>
            <a:r>
              <a:rPr sz="1300">
                <a:solidFill>
                  <a:srgbClr val="E6ECF5"/>
                </a:solidFill>
                <a:latin typeface="Segoe UI"/>
              </a:rPr>
              <a:t>• Compliance — discoverable, auditable, explainable</a:t>
            </a:r>
          </a:p>
        </p:txBody>
      </p:sp>
      <p:sp>
        <p:nvSpPr>
          <p:cNvPr id="7" name="Rounded Rectangle 6"/>
          <p:cNvSpPr/>
          <p:nvPr/>
        </p:nvSpPr>
        <p:spPr>
          <a:xfrm>
            <a:off x="6217920" y="1645920"/>
            <a:ext cx="5394960" cy="3931920"/>
          </a:xfrm>
          <a:prstGeom prst="roundRect">
            <a:avLst>
              <a:gd name="adj" fmla="val 8000"/>
            </a:avLst>
          </a:prstGeom>
          <a:solidFill>
            <a:srgbClr val="102B22"/>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755648"/>
            <a:ext cx="5120640" cy="365760"/>
          </a:xfrm>
          <a:prstGeom prst="rect">
            <a:avLst/>
          </a:prstGeom>
          <a:noFill/>
        </p:spPr>
        <p:txBody>
          <a:bodyPr wrap="square" anchor="t" lIns="73152" rIns="73152" tIns="36576" bIns="36576">
            <a:spAutoFit/>
          </a:bodyPr>
          <a:lstStyle/>
          <a:p>
            <a:pPr algn="l">
              <a:lnSpc>
                <a:spcPct val="115000"/>
              </a:lnSpc>
            </a:pPr>
            <a:r>
              <a:rPr sz="1600" b="1" i="0">
                <a:solidFill>
                  <a:srgbClr val="3DDC97"/>
                </a:solidFill>
                <a:latin typeface="Segoe UI"/>
              </a:rPr>
              <a:t>Microsoft's answer: Agent 365</a:t>
            </a:r>
          </a:p>
        </p:txBody>
      </p:sp>
      <p:sp>
        <p:nvSpPr>
          <p:cNvPr id="9" name="TextBox 8"/>
          <p:cNvSpPr txBox="1"/>
          <p:nvPr/>
        </p:nvSpPr>
        <p:spPr>
          <a:xfrm>
            <a:off x="6355080" y="2148840"/>
            <a:ext cx="5120640" cy="3337560"/>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 Agents as first-class identities in Entra</a:t>
            </a:r>
          </a:p>
          <a:p>
            <a:pPr algn="l">
              <a:lnSpc>
                <a:spcPct val="120000"/>
              </a:lnSpc>
            </a:pPr>
            <a:r>
              <a:rPr sz="1300">
                <a:solidFill>
                  <a:srgbClr val="E6ECF5"/>
                </a:solidFill>
                <a:latin typeface="Segoe UI"/>
              </a:rPr>
              <a:t>• Governed, monitored, and managed like any worker</a:t>
            </a:r>
          </a:p>
          <a:p>
            <a:pPr algn="l">
              <a:lnSpc>
                <a:spcPct val="120000"/>
              </a:lnSpc>
            </a:pPr>
            <a:r>
              <a:rPr sz="1300">
                <a:solidFill>
                  <a:srgbClr val="E6ECF5"/>
                </a:solidFill>
                <a:latin typeface="Segoe UI"/>
              </a:rPr>
              <a:t>• Built into the same platform your humans already run on</a:t>
            </a:r>
          </a:p>
          <a:p>
            <a:pPr algn="l">
              <a:lnSpc>
                <a:spcPct val="120000"/>
              </a:lnSpc>
            </a:pPr>
            <a:r>
              <a:rPr sz="1300">
                <a:solidFill>
                  <a:srgbClr val="E6ECF5"/>
                </a:solidFill>
                <a:latin typeface="Segoe UI"/>
              </a:rPr>
              <a:t>• The operating layer for the H2A + A2A world</a:t>
            </a:r>
          </a:p>
        </p:txBody>
      </p:sp>
      <p:sp>
        <p:nvSpPr>
          <p:cNvPr id="10" name="Rectangle 9"/>
          <p:cNvSpPr/>
          <p:nvPr/>
        </p:nvSpPr>
        <p:spPr>
          <a:xfrm>
            <a:off x="640080" y="5760720"/>
            <a:ext cx="64008" cy="777240"/>
          </a:xfrm>
          <a:prstGeom prst="rect">
            <a:avLst/>
          </a:prstGeom>
          <a:solidFill>
            <a:srgbClr val="7C5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4088" y="5760720"/>
            <a:ext cx="10908792" cy="777240"/>
          </a:xfrm>
          <a:prstGeom prst="roundRect">
            <a:avLst>
              <a:gd name="adj" fmla="val 5000"/>
            </a:avLst>
          </a:prstGeom>
          <a:solidFill>
            <a:srgbClr val="141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852159"/>
            <a:ext cx="10607040" cy="594359"/>
          </a:xfrm>
          <a:prstGeom prst="rect">
            <a:avLst/>
          </a:prstGeom>
          <a:noFill/>
        </p:spPr>
        <p:txBody>
          <a:bodyPr wrap="square" anchor="ctr" lIns="73152" rIns="73152" tIns="36576" bIns="36576">
            <a:spAutoFit/>
          </a:bodyPr>
          <a:lstStyle/>
          <a:p>
            <a:pPr algn="l">
              <a:lnSpc>
                <a:spcPct val="115000"/>
              </a:lnSpc>
            </a:pPr>
            <a:r>
              <a:rPr sz="1500" b="0" i="0">
                <a:solidFill>
                  <a:srgbClr val="E6ECF5"/>
                </a:solidFill>
                <a:latin typeface="Segoe UI"/>
              </a:rPr>
              <a:t>We've spent 20 years building identity, security, and governance for humans. Agents need all of it — on day one.</a:t>
            </a:r>
          </a:p>
        </p:txBody>
      </p:sp>
      <p:sp>
        <p:nvSpPr>
          <p:cNvPr id="13" name="TextBox 12"/>
          <p:cNvSpPr txBox="1"/>
          <p:nvPr/>
        </p:nvSpPr>
        <p:spPr>
          <a:xfrm>
            <a:off x="9144000" y="6492240"/>
            <a:ext cx="2743200" cy="274320"/>
          </a:xfrm>
          <a:prstGeom prst="rect">
            <a:avLst/>
          </a:prstGeom>
          <a:noFill/>
        </p:spPr>
        <p:txBody>
          <a:bodyPr wrap="square" anchor="t" lIns="73152" rIns="73152" tIns="36576" bIns="36576">
            <a:spAutoFit/>
          </a:bodyPr>
          <a:lstStyle/>
          <a:p>
            <a:pPr algn="r">
              <a:lnSpc>
                <a:spcPct val="115000"/>
              </a:lnSpc>
            </a:pPr>
            <a:r>
              <a:rPr sz="1000" b="0" i="0">
                <a:solidFill>
                  <a:srgbClr val="9AA7BD"/>
                </a:solidFill>
                <a:latin typeface="Segoe UI"/>
              </a:rPr>
              <a:t>12 · Humans + agents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Oval 1"/>
          <p:cNvSpPr/>
          <p:nvPr/>
        </p:nvSpPr>
        <p:spPr>
          <a:xfrm>
            <a:off x="-1828800" y="-1828800"/>
            <a:ext cx="6400800" cy="6400800"/>
          </a:xfrm>
          <a:prstGeom prst="ellipse">
            <a:avLst/>
          </a:prstGeom>
          <a:solidFill>
            <a:srgbClr val="7C5CFF">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3657600"/>
            <a:ext cx="6400800" cy="6400800"/>
          </a:xfrm>
          <a:prstGeom prst="ellipse">
            <a:avLst/>
          </a:prstGeom>
          <a:solidFill>
            <a:srgbClr val="4CC2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
            <a:ext cx="10972800" cy="365760"/>
          </a:xfrm>
          <a:prstGeom prst="rect">
            <a:avLst/>
          </a:prstGeom>
          <a:noFill/>
        </p:spPr>
        <p:txBody>
          <a:bodyPr wrap="square" anchor="t" lIns="73152" rIns="73152" tIns="36576" bIns="36576">
            <a:spAutoFit/>
          </a:bodyPr>
          <a:lstStyle/>
          <a:p>
            <a:pPr algn="l">
              <a:lnSpc>
                <a:spcPct val="115000"/>
              </a:lnSpc>
            </a:pPr>
            <a:r>
              <a:rPr sz="1200" b="1" i="0">
                <a:solidFill>
                  <a:srgbClr val="4CC2FF"/>
                </a:solidFill>
                <a:latin typeface="Segoe UI"/>
              </a:rPr>
              <a:t>YOUR MOVE</a:t>
            </a:r>
          </a:p>
        </p:txBody>
      </p:sp>
      <p:sp>
        <p:nvSpPr>
          <p:cNvPr id="5" name="TextBox 4"/>
          <p:cNvSpPr txBox="1"/>
          <p:nvPr/>
        </p:nvSpPr>
        <p:spPr>
          <a:xfrm>
            <a:off x="640080" y="914400"/>
            <a:ext cx="10972800" cy="1645920"/>
          </a:xfrm>
          <a:prstGeom prst="rect">
            <a:avLst/>
          </a:prstGeom>
          <a:noFill/>
        </p:spPr>
        <p:txBody>
          <a:bodyPr wrap="square" anchor="t" lIns="73152" rIns="73152" tIns="36576" bIns="36576">
            <a:spAutoFit/>
          </a:bodyPr>
          <a:lstStyle/>
          <a:p>
            <a:pPr algn="l">
              <a:lnSpc>
                <a:spcPct val="100000"/>
              </a:lnSpc>
            </a:pPr>
            <a:r>
              <a:rPr sz="6000" b="1" i="0">
                <a:solidFill>
                  <a:srgbClr val="4CC2FF"/>
                </a:solidFill>
                <a:latin typeface="Segoe UI"/>
              </a:rPr>
              <a:t>Start building
</a:t>
            </a:r>
            <a:r>
              <a:rPr sz="6000" b="1" i="0">
                <a:solidFill>
                  <a:srgbClr val="7C5CFF"/>
                </a:solidFill>
                <a:latin typeface="Segoe UI"/>
              </a:rPr>
              <a:t>the muscle.</a:t>
            </a:r>
          </a:p>
        </p:txBody>
      </p:sp>
      <p:sp>
        <p:nvSpPr>
          <p:cNvPr id="6" name="Rounded Rectangle 5"/>
          <p:cNvSpPr/>
          <p:nvPr/>
        </p:nvSpPr>
        <p:spPr>
          <a:xfrm>
            <a:off x="640080" y="3200400"/>
            <a:ext cx="5394960" cy="155448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3310128"/>
            <a:ext cx="5120640" cy="365760"/>
          </a:xfrm>
          <a:prstGeom prst="rect">
            <a:avLst/>
          </a:prstGeom>
          <a:noFill/>
        </p:spPr>
        <p:txBody>
          <a:bodyPr wrap="square" anchor="t" lIns="73152" rIns="73152" tIns="36576" bIns="36576">
            <a:spAutoFit/>
          </a:bodyPr>
          <a:lstStyle/>
          <a:p>
            <a:pPr algn="l">
              <a:lnSpc>
                <a:spcPct val="115000"/>
              </a:lnSpc>
            </a:pPr>
            <a:r>
              <a:rPr sz="1600" b="1" i="0">
                <a:solidFill>
                  <a:srgbClr val="4CC2FF"/>
                </a:solidFill>
                <a:latin typeface="Segoe UI"/>
              </a:rPr>
              <a:t>This week</a:t>
            </a:r>
          </a:p>
        </p:txBody>
      </p:sp>
      <p:sp>
        <p:nvSpPr>
          <p:cNvPr id="8" name="TextBox 7"/>
          <p:cNvSpPr txBox="1"/>
          <p:nvPr/>
        </p:nvSpPr>
        <p:spPr>
          <a:xfrm>
            <a:off x="777240" y="3703320"/>
            <a:ext cx="5120640" cy="960119"/>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Pick one investigation you hate. Automate it with an agent + one MCP server.</a:t>
            </a:r>
          </a:p>
        </p:txBody>
      </p:sp>
      <p:sp>
        <p:nvSpPr>
          <p:cNvPr id="9" name="Rounded Rectangle 8"/>
          <p:cNvSpPr/>
          <p:nvPr/>
        </p:nvSpPr>
        <p:spPr>
          <a:xfrm>
            <a:off x="6217920" y="3200400"/>
            <a:ext cx="5394960" cy="155448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310128"/>
            <a:ext cx="5120640" cy="365760"/>
          </a:xfrm>
          <a:prstGeom prst="rect">
            <a:avLst/>
          </a:prstGeom>
          <a:noFill/>
        </p:spPr>
        <p:txBody>
          <a:bodyPr wrap="square" anchor="t" lIns="73152" rIns="73152" tIns="36576" bIns="36576">
            <a:spAutoFit/>
          </a:bodyPr>
          <a:lstStyle/>
          <a:p>
            <a:pPr algn="l">
              <a:lnSpc>
                <a:spcPct val="115000"/>
              </a:lnSpc>
            </a:pPr>
            <a:r>
              <a:rPr sz="1600" b="1" i="0">
                <a:solidFill>
                  <a:srgbClr val="4CC2FF"/>
                </a:solidFill>
                <a:latin typeface="Segoe UI"/>
              </a:rPr>
              <a:t>This month</a:t>
            </a:r>
          </a:p>
        </p:txBody>
      </p:sp>
      <p:sp>
        <p:nvSpPr>
          <p:cNvPr id="11" name="TextBox 10"/>
          <p:cNvSpPr txBox="1"/>
          <p:nvPr/>
        </p:nvSpPr>
        <p:spPr>
          <a:xfrm>
            <a:off x="6355080" y="3703320"/>
            <a:ext cx="5120640" cy="960119"/>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Route one third-party signal into the lake. Let the graph connect it.</a:t>
            </a:r>
          </a:p>
        </p:txBody>
      </p:sp>
      <p:sp>
        <p:nvSpPr>
          <p:cNvPr id="12" name="Rounded Rectangle 11"/>
          <p:cNvSpPr/>
          <p:nvPr/>
        </p:nvSpPr>
        <p:spPr>
          <a:xfrm>
            <a:off x="640080" y="4892040"/>
            <a:ext cx="5394960" cy="1554480"/>
          </a:xfrm>
          <a:prstGeom prst="roundRect">
            <a:avLst>
              <a:gd name="adj" fmla="val 8000"/>
            </a:avLst>
          </a:prstGeom>
          <a:solidFill>
            <a:srgbClr val="141834"/>
          </a:solidFill>
          <a:ln w="15875">
            <a:solidFill>
              <a:srgbClr val="7C5C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001768"/>
            <a:ext cx="5120640" cy="365760"/>
          </a:xfrm>
          <a:prstGeom prst="rect">
            <a:avLst/>
          </a:prstGeom>
          <a:noFill/>
        </p:spPr>
        <p:txBody>
          <a:bodyPr wrap="square" anchor="t" lIns="73152" rIns="73152" tIns="36576" bIns="36576">
            <a:spAutoFit/>
          </a:bodyPr>
          <a:lstStyle/>
          <a:p>
            <a:pPr algn="l">
              <a:lnSpc>
                <a:spcPct val="115000"/>
              </a:lnSpc>
            </a:pPr>
            <a:r>
              <a:rPr sz="1600" b="1" i="0">
                <a:solidFill>
                  <a:srgbClr val="4CC2FF"/>
                </a:solidFill>
                <a:latin typeface="Segoe UI"/>
              </a:rPr>
              <a:t>This quarter</a:t>
            </a:r>
          </a:p>
        </p:txBody>
      </p:sp>
      <p:sp>
        <p:nvSpPr>
          <p:cNvPr id="14" name="TextBox 13"/>
          <p:cNvSpPr txBox="1"/>
          <p:nvPr/>
        </p:nvSpPr>
        <p:spPr>
          <a:xfrm>
            <a:off x="777240" y="5394959"/>
            <a:ext cx="5120640" cy="960119"/>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Extend agentic beyond triage — patching, hardening, reporting. Pick one.</a:t>
            </a:r>
          </a:p>
        </p:txBody>
      </p:sp>
      <p:sp>
        <p:nvSpPr>
          <p:cNvPr id="15" name="Rounded Rectangle 14"/>
          <p:cNvSpPr/>
          <p:nvPr/>
        </p:nvSpPr>
        <p:spPr>
          <a:xfrm>
            <a:off x="6217920" y="4892040"/>
            <a:ext cx="5394960" cy="1554480"/>
          </a:xfrm>
          <a:prstGeom prst="roundRect">
            <a:avLst>
              <a:gd name="adj" fmla="val 8000"/>
            </a:avLst>
          </a:prstGeom>
          <a:solidFill>
            <a:srgbClr val="102B22"/>
          </a:solidFill>
          <a:ln w="15875">
            <a:solidFill>
              <a:srgbClr val="3DDC9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5001768"/>
            <a:ext cx="5120640" cy="365760"/>
          </a:xfrm>
          <a:prstGeom prst="rect">
            <a:avLst/>
          </a:prstGeom>
          <a:noFill/>
        </p:spPr>
        <p:txBody>
          <a:bodyPr wrap="square" anchor="t" lIns="73152" rIns="73152" tIns="36576" bIns="36576">
            <a:spAutoFit/>
          </a:bodyPr>
          <a:lstStyle/>
          <a:p>
            <a:pPr algn="l">
              <a:lnSpc>
                <a:spcPct val="115000"/>
              </a:lnSpc>
            </a:pPr>
            <a:r>
              <a:rPr sz="1600" b="1" i="0">
                <a:solidFill>
                  <a:srgbClr val="3DDC97"/>
                </a:solidFill>
                <a:latin typeface="Segoe UI"/>
              </a:rPr>
              <a:t>Always</a:t>
            </a:r>
          </a:p>
        </p:txBody>
      </p:sp>
      <p:sp>
        <p:nvSpPr>
          <p:cNvPr id="17" name="TextBox 16"/>
          <p:cNvSpPr txBox="1"/>
          <p:nvPr/>
        </p:nvSpPr>
        <p:spPr>
          <a:xfrm>
            <a:off x="6355080" y="5394959"/>
            <a:ext cx="5120640" cy="960119"/>
          </a:xfrm>
          <a:prstGeom prst="rect">
            <a:avLst/>
          </a:prstGeom>
          <a:noFill/>
        </p:spPr>
        <p:txBody>
          <a:bodyPr wrap="square" lIns="45720" rIns="45720" tIns="27432" bIns="27432">
            <a:spAutoFit/>
          </a:bodyPr>
          <a:lstStyle/>
          <a:p>
            <a:pPr algn="l">
              <a:lnSpc>
                <a:spcPct val="120000"/>
              </a:lnSpc>
            </a:pPr>
            <a:r>
              <a:rPr sz="1300">
                <a:solidFill>
                  <a:srgbClr val="E6ECF5"/>
                </a:solidFill>
                <a:latin typeface="Segoe UI"/>
              </a:rPr>
              <a:t>Keep humans on the one-way doors. Agents propose, humans dispose.</a:t>
            </a:r>
          </a:p>
        </p:txBody>
      </p:sp>
      <p:sp>
        <p:nvSpPr>
          <p:cNvPr id="18" name="TextBox 17"/>
          <p:cNvSpPr txBox="1"/>
          <p:nvPr/>
        </p:nvSpPr>
        <p:spPr>
          <a:xfrm>
            <a:off x="640080" y="6492240"/>
            <a:ext cx="10972800" cy="365760"/>
          </a:xfrm>
          <a:prstGeom prst="rect">
            <a:avLst/>
          </a:prstGeom>
          <a:noFill/>
        </p:spPr>
        <p:txBody>
          <a:bodyPr wrap="square" anchor="t" lIns="73152" rIns="73152" tIns="36576" bIns="36576">
            <a:spAutoFit/>
          </a:bodyPr>
          <a:lstStyle/>
          <a:p>
            <a:pPr algn="l">
              <a:lnSpc>
                <a:spcPct val="115000"/>
              </a:lnSpc>
            </a:pPr>
            <a:r>
              <a:rPr sz="1200" b="0" i="1">
                <a:solidFill>
                  <a:srgbClr val="9AA7BD"/>
                </a:solidFill>
                <a:latin typeface="Segoe UI"/>
              </a:rPr>
              <a:t>CyberProbe is open source — github.com/olchar/CyberProbe · MIT · fork it, break it, make it yours.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