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4CC2FF"/>
                </a:solidFill>
                <a:latin typeface="Segoe UI"/>
              </a:rPr>
              <a:t>CYBERPROBE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 i="0">
                <a:solidFill>
                  <a:srgbClr val="7C5CFF"/>
                </a:solidFill>
                <a:latin typeface="Segoe UI"/>
              </a:rPr>
              <a:t>Copilot  vs  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4CC2FF"/>
                </a:solidFill>
                <a:latin typeface="Segoe UI"/>
              </a:rPr>
              <a:t>Two GitHub tools. Same SOC 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E6ECF5"/>
                </a:solidFill>
                <a:latin typeface="Segoe UI"/>
              </a:rPr>
              <a:t>One thinks. The other acts.</a:t>
            </a:r>
          </a:p>
          <a:p>
            <a:pPr algn="l"/>
            <a:r>
              <a:rPr sz="1800" b="0" i="0">
                <a:solidFill>
                  <a:srgbClr val="E6ECF5"/>
                </a:solidFill>
                <a:latin typeface="Segoe UI"/>
              </a:rPr>
              <a:t>Knowing the difference is how you accelerate investigations,</a:t>
            </a:r>
          </a:p>
          <a:p>
            <a:pPr algn="l"/>
            <a:r>
              <a:rPr sz="1800" b="0" i="0">
                <a:solidFill>
                  <a:srgbClr val="E6ECF5"/>
                </a:solidFill>
                <a:latin typeface="Segoe UI"/>
              </a:rPr>
              <a:t>forensics, and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9AA7BD"/>
                </a:solidFill>
                <a:latin typeface="Segoe UI"/>
              </a:rPr>
              <a:t>Olivier Charron ·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600" b="1" i="0">
                <a:solidFill>
                  <a:srgbClr val="4CC2FF"/>
                </a:solidFill>
                <a:latin typeface="Segoe UI"/>
              </a:rPr>
              <a:t>The data is there.</a:t>
            </a:r>
          </a:p>
          <a:p>
            <a:pPr algn="l"/>
            <a:r>
              <a:rPr sz="4600" b="1" i="0">
                <a:solidFill>
                  <a:srgbClr val="4CC2FF"/>
                </a:solidFill>
                <a:latin typeface="Segoe UI"/>
              </a:rPr>
              <a:t>The question isn't.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E6ECF5"/>
                </a:solidFill>
                <a:latin typeface="Segoe UI"/>
              </a:rPr>
              <a:t>Sentinel · Defender XDR · Entra · Graph · Exposure · GitHub · Cloud audit.</a:t>
            </a:r>
          </a:p>
          <a:p>
            <a:pPr algn="l"/>
            <a:r>
              <a:rPr sz="1800" b="0" i="0">
                <a:solidFill>
                  <a:srgbClr val="E6ECF5"/>
                </a:solidFill>
                <a:latin typeface="Segoe UI"/>
              </a:rPr>
              <a:t>Every SOC has more telemetry than analyst-hours.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9AA7BD"/>
                </a:solidFill>
                <a:latin typeface="Segoe UI"/>
              </a:rPr>
              <a:t>Two GitHub tools change the math: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7C5CFF"/>
                </a:solidFill>
                <a:latin typeface="Segoe UI"/>
              </a:rPr>
              <a:t>GitHub Copilot — formulates and answers the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3DDC97"/>
                </a:solidFill>
                <a:latin typeface="Segoe UI"/>
              </a:rPr>
              <a:t>GitHub CLI (gh) — turns the answer into reviewable, deployable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What each one actually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486400" cy="502920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7C5CFF"/>
                </a:solidFill>
                <a:latin typeface="Segoe UI"/>
              </a:rPr>
              <a:t>GitHub Copilot   [AI · agent]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Category: </a:t>
            </a:r>
            <a:r>
              <a:rPr sz="1100">
                <a:solidFill>
                  <a:srgbClr val="E6ECF5"/>
                </a:solidFill>
                <a:latin typeface="Segoe UI"/>
              </a:rPr>
              <a:t>AI pair-programmer &amp; agent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Surface: </a:t>
            </a:r>
            <a:r>
              <a:rPr sz="1100">
                <a:solidFill>
                  <a:srgbClr val="E6ECF5"/>
                </a:solidFill>
                <a:latin typeface="Segoe UI"/>
              </a:rPr>
              <a:t>VS Code, GitHub.com chat, JetBrains, mobile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Inputs: </a:t>
            </a:r>
            <a:r>
              <a:rPr sz="1100">
                <a:solidFill>
                  <a:srgbClr val="E6ECF5"/>
                </a:solidFill>
                <a:latin typeface="Segoe UI"/>
              </a:rPr>
              <a:t>natural language, repo, MCP tools, files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Outputs: </a:t>
            </a:r>
            <a:r>
              <a:rPr sz="1100">
                <a:solidFill>
                  <a:srgbClr val="E6ECF5"/>
                </a:solidFill>
                <a:latin typeface="Segoe UI"/>
              </a:rPr>
              <a:t>code, KQL, reports, plans, multi-file edits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Auth: </a:t>
            </a:r>
            <a:r>
              <a:rPr sz="1100">
                <a:solidFill>
                  <a:srgbClr val="E6ECF5"/>
                </a:solidFill>
                <a:latin typeface="Segoe UI"/>
              </a:rPr>
              <a:t>GitHub identity → Copilot subscription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Model: </a:t>
            </a:r>
            <a:r>
              <a:rPr sz="1100">
                <a:solidFill>
                  <a:srgbClr val="E6ECF5"/>
                </a:solidFill>
                <a:latin typeface="Segoe UI"/>
              </a:rPr>
              <a:t>"I want this answered / written / done."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280160"/>
            <a:ext cx="5486400" cy="502920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3DDC97"/>
                </a:solidFill>
                <a:latin typeface="Segoe UI"/>
              </a:rPr>
              <a:t>GitHub CLI — gh   [CLI · client]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Category: </a:t>
            </a:r>
            <a:r>
              <a:rPr sz="1100">
                <a:solidFill>
                  <a:srgbClr val="E6ECF5"/>
                </a:solidFill>
                <a:latin typeface="Segoe UI"/>
              </a:rPr>
              <a:t>Official command-line client for GitHub API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Surface: </a:t>
            </a:r>
            <a:r>
              <a:rPr sz="1100">
                <a:solidFill>
                  <a:srgbClr val="E6ECF5"/>
                </a:solidFill>
                <a:latin typeface="Segoe UI"/>
              </a:rPr>
              <a:t>any terminal — local, SSH, Codespaces, CI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Inputs: </a:t>
            </a:r>
            <a:r>
              <a:rPr sz="1100">
                <a:solidFill>
                  <a:srgbClr val="E6ECF5"/>
                </a:solidFill>
                <a:latin typeface="Segoe UI"/>
              </a:rPr>
              <a:t>commands, flags, JSON, scripts, pipelines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Outputs: </a:t>
            </a:r>
            <a:r>
              <a:rPr sz="1100">
                <a:solidFill>
                  <a:srgbClr val="E6ECF5"/>
                </a:solidFill>
                <a:latin typeface="Segoe UI"/>
              </a:rPr>
              <a:t>repos, PRs, issues, releases, workflows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Auth: </a:t>
            </a:r>
            <a:r>
              <a:rPr sz="1100">
                <a:solidFill>
                  <a:srgbClr val="E6ECF5"/>
                </a:solidFill>
                <a:latin typeface="Segoe UI"/>
              </a:rPr>
              <a:t>gh auth login (OAuth or PAT)</a:t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Model: </a:t>
            </a:r>
            <a:r>
              <a:rPr sz="1100">
                <a:solidFill>
                  <a:srgbClr val="E6ECF5"/>
                </a:solidFill>
                <a:latin typeface="Segoe UI"/>
              </a:rPr>
              <a:t>"Do this on GitHub, deterministically."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01 · The two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Side-by-side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34840"/>
                <a:gridCol w="4434840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CC2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5CFF"/>
                          </a:solidFill>
                          <a:latin typeface="Segoe UI"/>
                        </a:rPr>
                        <a:t>GitHub Copilot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DC97"/>
                          </a:solidFill>
                          <a:latin typeface="Segoe UI"/>
                        </a:rPr>
                        <a:t>GitHub CLI (gh)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Primary purpose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Reasoning, generation, agentic execution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Programmatic access to GitHub platform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Determinism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Probabilistic — same prompt may vary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Deterministic — same command, same result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Best at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Investigating, summarizing, writing KQL/code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Repos · PRs · issues · releases · Actions · API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Lives in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IDE, browser chat, agent mode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Terminal, scripts, pipelines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Talks to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LLM + MCP servers + your repo context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api.github.com (REST + GraphQL)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Extensibility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Skills, instructions, custom agents, MCPs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gh extension install (incl. gh copilot)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Audit trail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Chat history + commits it produces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Shell history + git log + Actions logs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Safe for automation?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C5CFF"/>
                          </a:solidFill>
                          <a:latin typeface="Segoe UI"/>
                        </a:rPr>
                        <a:t>With guardrails (skills, evidence rules)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DDC97"/>
                          </a:solidFill>
                          <a:latin typeface="Segoe UI"/>
                        </a:rPr>
                        <a:t>Yes — built for CI/CD and scripts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9AA7BD"/>
                </a:solidFill>
                <a:latin typeface="Segoe UI"/>
              </a:rPr>
              <a:t>Different categories of tool — they don't compete, they 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02 ·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Where they meet — gh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6ECF5"/>
                </a:solidFill>
                <a:latin typeface="Segoe UI"/>
              </a:rPr>
              <a:t>Copilot lives in chat. gh lives in the terminal. The gh-copilot extension brings Copilot reasoning into the shell.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64240" cy="219456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/>
            <a:r>
              <a:rPr sz="1200">
                <a:solidFill>
                  <a:srgbClr val="9AA7BD"/>
                </a:solidFill>
                <a:latin typeface="Cascadia Code"/>
              </a:rPr>
              <a:t># Install once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gh extension install github/gh-copilot</a:t>
            </a:r>
          </a:p>
          <a:p>
            <a:r>
              <a:rPr sz="1200">
                <a:solidFill>
                  <a:srgbClr val="E6ECF5"/>
                </a:solidFill>
                <a:latin typeface="Cascadia Code"/>
              </a:rPr>
              <a:t> </a:t>
            </a:r>
          </a:p>
          <a:p>
            <a:r>
              <a:rPr sz="1200">
                <a:solidFill>
                  <a:srgbClr val="9AA7BD"/>
                </a:solidFill>
                <a:latin typeface="Cascadia Code"/>
              </a:rPr>
              <a:t># Ask Copilot to draft a shell command, no context-switch</a:t>
            </a:r>
          </a:p>
          <a:p>
            <a:r>
              <a:rPr sz="1200">
                <a:solidFill>
                  <a:srgbClr val="7C5CFF"/>
                </a:solidFill>
                <a:latin typeface="Cascadia Code"/>
              </a:rPr>
              <a:t>$ gh copilot suggest "list open PRs touching detections/ in last 7 days"</a:t>
            </a:r>
          </a:p>
          <a:p>
            <a:r>
              <a:rPr sz="1200">
                <a:solidFill>
                  <a:srgbClr val="E6ECF5"/>
                </a:solidFill>
                <a:latin typeface="Cascadia Code"/>
              </a:rPr>
              <a:t> </a:t>
            </a:r>
          </a:p>
          <a:p>
            <a:r>
              <a:rPr sz="1200">
                <a:solidFill>
                  <a:srgbClr val="9AA7BD"/>
                </a:solidFill>
                <a:latin typeface="Cascadia Code"/>
              </a:rPr>
              <a:t># Explain a command someone else wrote</a:t>
            </a:r>
          </a:p>
          <a:p>
            <a:r>
              <a:rPr sz="1200">
                <a:solidFill>
                  <a:srgbClr val="7C5CFF"/>
                </a:solidFill>
                <a:latin typeface="Cascadia Code"/>
              </a:rPr>
              <a:t>$ gh copilot explain "az rest --method post --url '/security/runHuntingQuery' ..."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60520"/>
            <a:ext cx="5486400" cy="210312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FFB454"/>
                </a:solidFill>
                <a:latin typeface="Segoe UI"/>
              </a:rPr>
              <a:t>What it adds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Copilot reasoning at the shell prompt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No need to alt-tab to an IDE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Works on remote/Codespaces/SSH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60520"/>
            <a:ext cx="5486400" cy="210312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FFB454"/>
                </a:solidFill>
                <a:latin typeface="Segoe UI"/>
              </a:rPr>
              <a:t>What it does NOT do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Doesn't run MCP tools (IDE Copilot's job)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Doesn't read your repo files automatically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Best for one-shot command help, not investigations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03 · Bridge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Pick the right tool — by job-to-be-done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377440"/>
                <a:gridCol w="4297680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CC2FF"/>
                          </a:solidFill>
                          <a:latin typeface="Segoe UI"/>
                        </a:rPr>
                        <a:t>You want to…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CC2FF"/>
                          </a:solidFill>
                          <a:latin typeface="Segoe UI"/>
                        </a:rPr>
                        <a:t>Reach for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CC2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109728" marR="109728" marT="73152" marB="73152">
                    <a:solidFill>
                      <a:srgbClr val="111A33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Investigate an incident across XDR + Sentinel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C5CFF"/>
                          </a:solidFill>
                          <a:latin typeface="Segoe UI"/>
                        </a:rPr>
                        <a:t>Copilot (agent)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Reasoning, MCP tool calls, multi-step plans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Write or fix a KQL hunt query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C5CFF"/>
                          </a:solidFill>
                          <a:latin typeface="Segoe UI"/>
                        </a:rPr>
                        <a:t>Copilot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NL → schema-aware KQL with validation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Convert a Sigma rule into a Sentinel analytic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7C5CFF"/>
                          </a:solidFill>
                          <a:latin typeface="Segoe UI"/>
                        </a:rPr>
                        <a:t>Copilot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Translation + tests + schema mapping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Open a PR with the new detection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DDC97"/>
                          </a:solidFill>
                          <a:latin typeface="Segoe UI"/>
                        </a:rPr>
                        <a:t>gh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gh pr create — deterministic, scriptable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Track a finding as a work item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DDC97"/>
                          </a:solidFill>
                          <a:latin typeface="Segoe UI"/>
                        </a:rPr>
                        <a:t>gh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gh issue create with labels + assignees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Trigger a hunting workflow on every push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DDC97"/>
                          </a:solidFill>
                          <a:latin typeface="Segoe UI"/>
                        </a:rPr>
                        <a:t>gh + Actions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gh workflow run / event-driven YAML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Bulk-pull last 90 days of incident reports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DDC97"/>
                          </a:solidFill>
                          <a:latin typeface="Segoe UI"/>
                        </a:rPr>
                        <a:t>gh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gh api + jq beats clicking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Generate an exec dashboard from incidents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B454"/>
                          </a:solidFill>
                          <a:latin typeface="Segoe UI"/>
                        </a:rPr>
                        <a:t>Copilot → gh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CF5"/>
                          </a:solidFill>
                          <a:latin typeface="Segoe UI"/>
                        </a:rPr>
                        <a:t>Reasoning + reviewable artifact</a:t>
                      </a:r>
                    </a:p>
                  </a:txBody>
                  <a:tcPr marL="109728" marR="109728" marT="73152" marB="73152">
                    <a:solidFill>
                      <a:srgbClr val="1A1F3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04 · Job-to-be-done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How they compose — one investigation, end to 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5147" y="1828800"/>
            <a:ext cx="1828800" cy="2377440"/>
          </a:xfrm>
          <a:prstGeom prst="roundRect">
            <a:avLst/>
          </a:prstGeom>
          <a:solidFill>
            <a:srgbClr val="181233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7C5CFF"/>
                </a:solidFill>
                <a:latin typeface="Segoe UI"/>
              </a:rPr>
              <a:t>1 · Ask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Segoe UI"/>
              </a:rPr>
              <a:t>"Investigate incident 12345"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69667" y="1828800"/>
            <a:ext cx="1828800" cy="2377440"/>
          </a:xfrm>
          <a:prstGeom prst="roundRect">
            <a:avLst/>
          </a:prstGeom>
          <a:solidFill>
            <a:srgbClr val="181233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7C5CFF"/>
                </a:solidFill>
                <a:latin typeface="Segoe UI"/>
              </a:rPr>
              <a:t>2 · Reason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Segoe UI"/>
              </a:rPr>
              <a:t>Loads skill, calls MCPs, correlates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44187" y="1828800"/>
            <a:ext cx="1828800" cy="2377440"/>
          </a:xfrm>
          <a:prstGeom prst="roundRect">
            <a:avLst/>
          </a:prstGeom>
          <a:solidFill>
            <a:srgbClr val="181233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7C5CFF"/>
                </a:solidFill>
                <a:latin typeface="Segoe UI"/>
              </a:rPr>
              <a:t>3 · Generate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Segoe UI"/>
              </a:rPr>
              <a:t>HTML + JSON report, IOC list, KQL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18707" y="1828800"/>
            <a:ext cx="1828800" cy="2377440"/>
          </a:xfrm>
          <a:prstGeom prst="roundRect">
            <a:avLst/>
          </a:prstGeom>
          <a:solidFill>
            <a:srgbClr val="10221C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3DDC97"/>
                </a:solidFill>
                <a:latin typeface="Segoe UI"/>
              </a:rPr>
              <a:t>4 · Branch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Cascadia Code"/>
              </a:rPr>
              <a:t>gh repo clone
git checkout -b inc-12345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3227" y="1828800"/>
            <a:ext cx="1828800" cy="2377440"/>
          </a:xfrm>
          <a:prstGeom prst="roundRect">
            <a:avLst/>
          </a:prstGeom>
          <a:solidFill>
            <a:srgbClr val="10221C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3DDC97"/>
                </a:solidFill>
                <a:latin typeface="Segoe UI"/>
              </a:rPr>
              <a:t>5 · PR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Cascadia Code"/>
              </a:rPr>
              <a:t>gh pr create with report + new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67747" y="1828800"/>
            <a:ext cx="1828800" cy="2377440"/>
          </a:xfrm>
          <a:prstGeom prst="roundRect">
            <a:avLst/>
          </a:prstGeom>
          <a:solidFill>
            <a:srgbClr val="10221C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 bIns="137160"/>
          <a:lstStyle/>
          <a:p>
            <a:pPr algn="l"/>
            <a:r>
              <a:rPr sz="1300" b="1">
                <a:solidFill>
                  <a:srgbClr val="3DDC97"/>
                </a:solidFill>
                <a:latin typeface="Segoe UI"/>
              </a:rPr>
              <a:t>6 · Ship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E6ECF5"/>
                </a:solidFill>
                <a:latin typeface="Cascadia Code"/>
              </a:rPr>
              <a:t>gh workflow run deploy-sentinel.yml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E6ECF5"/>
                </a:solidFill>
                <a:latin typeface="Segoe UI"/>
              </a:rPr>
              <a:t>Copilot = thinking + writing.    gh = branching, reviewing, shipping, automating.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9AA7BD"/>
                </a:solidFill>
                <a:latin typeface="Segoe UI"/>
              </a:rPr>
              <a:t>The handoff is a file (the report or detection) and a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05 ·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Boundaries — what each one is NOT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11480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7C5CFF"/>
                </a:solidFill>
                <a:latin typeface="Segoe UI"/>
              </a:rPr>
              <a:t>Don't ask Copilot to…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Be the source of truth — always cite evidence (KQL it ran)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Replace deterministic automation in CI/CD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Push code directly without a human-reviewed PR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Run unsanctioned response actions without confirmation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486400" cy="4114800"/>
          </a:xfrm>
          <a:prstGeom prst="roundRect">
            <a:avLst/>
          </a:prstGeom>
          <a:solidFill>
            <a:srgbClr val="1A1F3D"/>
          </a:solidFill>
          <a:ln w="158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/>
            <a:r>
              <a:rPr sz="1500" b="1">
                <a:solidFill>
                  <a:srgbClr val="3DDC97"/>
                </a:solidFill>
                <a:latin typeface="Segoe UI"/>
              </a:rPr>
              <a:t>Don't ask gh to…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Reason about your data — it has no model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Investigate or interpret an alert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Generate KQL or summarize a kill chain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E6ECF5"/>
                </a:solidFill>
                <a:latin typeface="Segoe UI"/>
              </a:rPr>
              <a:t>• Replace MCP tools for live security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9AA7BD"/>
                </a:solidFill>
                <a:latin typeface="Segoe UI"/>
              </a:rPr>
              <a:t>Treat Copilot output as a draft pull request: a human still merges.</a:t>
            </a:r>
          </a:p>
          <a:p>
            <a:pPr algn="ctr"/>
            <a:r>
              <a:rPr sz="1300" b="0" i="1">
                <a:solidFill>
                  <a:srgbClr val="9AA7BD"/>
                </a:solidFill>
                <a:latin typeface="Segoe UI"/>
              </a:rPr>
              <a:t>Treat gh as a scriptable hand: deterministic, fast, audited.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AA7BD"/>
                </a:solidFill>
                <a:latin typeface="Segoe UI"/>
              </a:rPr>
              <a:t>06 · Boundaries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 i="0">
                <a:solidFill>
                  <a:srgbClr val="4CC2FF"/>
                </a:solidFill>
                <a:latin typeface="Segoe UI"/>
              </a:rPr>
              <a:t>One thinks. One acts.</a:t>
            </a:r>
          </a:p>
          <a:p>
            <a:pPr algn="l"/>
            <a:r>
              <a:rPr sz="5400" b="1" i="0">
                <a:solidFill>
                  <a:srgbClr val="4CC2FF"/>
                </a:solidFill>
                <a:latin typeface="Segoe UI"/>
              </a:rPr>
              <a:t>Together they ship.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7C5CFF"/>
                </a:solidFill>
                <a:latin typeface="Segoe UI"/>
              </a:rPr>
              <a:t>Copilot turns telemetry into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3DDC97"/>
                </a:solidFill>
                <a:latin typeface="Segoe UI"/>
              </a:rPr>
              <a:t>gh turns those decisions into code, PRs, deployments.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E6ECF5"/>
                </a:solidFill>
                <a:latin typeface="Segoe UI"/>
              </a:rPr>
              <a:t>The SOC moves from operating consoles to shipping detections.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181033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1">
                <a:solidFill>
                  <a:srgbClr val="4CC2FF"/>
                </a:solidFill>
                <a:latin typeface="Segoe UI"/>
              </a:rPr>
              <a:t>Copilot is the analyst's pair.   gh is the deploy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Try it tonight — 4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64240" cy="457200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/>
            <a:r>
              <a:rPr sz="1200">
                <a:solidFill>
                  <a:srgbClr val="9AA7BD"/>
                </a:solidFill>
                <a:latin typeface="Cascadia Code"/>
              </a:rPr>
              <a:t># 1 · Install GitHub CLI + the Copilot extension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winget install GitHub.cli         # or brew / apt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gh auth login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gh extension install github/gh-copilot</a:t>
            </a:r>
          </a:p>
          <a:p>
            <a:r>
              <a:rPr sz="1200">
                <a:solidFill>
                  <a:srgbClr val="E6ECF5"/>
                </a:solidFill>
                <a:latin typeface="Cascadia Code"/>
              </a:rPr>
              <a:t> </a:t>
            </a:r>
          </a:p>
          <a:p>
            <a:r>
              <a:rPr sz="1200">
                <a:solidFill>
                  <a:srgbClr val="9AA7BD"/>
                </a:solidFill>
                <a:latin typeface="Cascadia Code"/>
              </a:rPr>
              <a:t># 2 · Clone the CyberProbe repo (skills + MCPs preconfigured)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gh repo clone &lt;your-org&gt;/CyberProbe-Dev &amp;&amp; code CyberProbe-Dev</a:t>
            </a:r>
          </a:p>
          <a:p>
            <a:r>
              <a:rPr sz="1200">
                <a:solidFill>
                  <a:srgbClr val="E6ECF5"/>
                </a:solidFill>
                <a:latin typeface="Cascadia Code"/>
              </a:rPr>
              <a:t> </a:t>
            </a:r>
          </a:p>
          <a:p>
            <a:r>
              <a:rPr sz="1200">
                <a:solidFill>
                  <a:srgbClr val="9AA7BD"/>
                </a:solidFill>
                <a:latin typeface="Cascadia Code"/>
              </a:rPr>
              <a:t># 3 · In VS Code, open Copilot Chat (agent mode) and ask:</a:t>
            </a:r>
          </a:p>
          <a:p>
            <a:r>
              <a:rPr sz="1200">
                <a:solidFill>
                  <a:srgbClr val="7C5CFF"/>
                </a:solidFill>
                <a:latin typeface="Cascadia Code"/>
              </a:rPr>
              <a:t>&gt; Investigate the latest high-severity incident and generate a report.</a:t>
            </a:r>
          </a:p>
          <a:p>
            <a:r>
              <a:rPr sz="1200">
                <a:solidFill>
                  <a:srgbClr val="E6ECF5"/>
                </a:solidFill>
                <a:latin typeface="Cascadia Code"/>
              </a:rPr>
              <a:t> </a:t>
            </a:r>
          </a:p>
          <a:p>
            <a:r>
              <a:rPr sz="1200">
                <a:solidFill>
                  <a:srgbClr val="9AA7BD"/>
                </a:solidFill>
                <a:latin typeface="Cascadia Code"/>
              </a:rPr>
              <a:t># 4 · Ship the artifact</a:t>
            </a:r>
          </a:p>
          <a:p>
            <a:r>
              <a:rPr sz="1200">
                <a:solidFill>
                  <a:srgbClr val="3DDC97"/>
                </a:solidFill>
                <a:latin typeface="Cascadia Code"/>
              </a:rPr>
              <a:t>$ gh pr create --title "Investigation: INC-12345" --body-file reports/investigation_*.md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4CC2FF"/>
                </a:solidFill>
                <a:latin typeface="Segoe UI"/>
              </a:rPr>
              <a:t>The data was always there. Now you have one tool to ask, and one to 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