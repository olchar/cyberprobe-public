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003" autoAdjust="0"/>
    <p:restoredTop sz="96101" autoAdjust="0"/>
  </p:normalViewPr>
  <p:slideViewPr>
    <p:cSldViewPr snapToGrid="0" snapToObjects="1">
      <p:cViewPr varScale="1">
        <p:scale>
          <a:sx n="104" d="100"/>
          <a:sy n="104" d="100"/>
        </p:scale>
        <p:origin x="696" y="10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89649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Opening — set the tone (~30s).</a:t>
            </a:r>
          </a:p>
          <a:p>
            <a:endParaRPr/>
          </a:p>
          <a:p>
            <a:r>
              <a:t>Key message: this talk is about closing the gap between security questions and security answers. Every persona in the room — CISO, analyst, hunter, detection engineer, compliance — has questions. The data to answer them already exists. What's been missing is the translation layer.</a:t>
            </a:r>
          </a:p>
          <a:p>
            <a:endParaRPr/>
          </a:p>
          <a:p>
            <a:r>
              <a:t>GitHub Copilot, plugged into the right MCP servers and skills, becomes that translation layer. The SOC stops being a place where you operate consoles and starts being a place where you ask questions and get evidence-based answers.</a:t>
            </a:r>
          </a:p>
          <a:p>
            <a:endParaRPr/>
          </a:p>
          <a:p>
            <a:r>
              <a:t>Delivery tip: read the title slowly. Pause after "to answers." Let it land before clicking through.</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problem (~90s).</a:t>
            </a:r>
          </a:p>
          <a:p>
            <a:endParaRPr/>
          </a:p>
          <a:p>
            <a:r>
              <a:t>Six personas, six different questions — but the same blocker every time: getting from the question to the data.</a:t>
            </a:r>
          </a:p>
          <a:p>
            <a:endParaRPr/>
          </a:p>
          <a:p>
            <a:r>
              <a:t>• CISO wants posture in business terms — risk, exposure, trends.</a:t>
            </a:r>
          </a:p>
          <a:p>
            <a:r>
              <a:t>• SOC analyst wants the full incident story, not just one alert.</a:t>
            </a:r>
          </a:p>
          <a:p>
            <a:r>
              <a:t>• IR / forensics wants a clean timeline that holds up to scrutiny.</a:t>
            </a:r>
          </a:p>
          <a:p>
            <a:r>
              <a:t>• Hunter wants behavior across long time windows.</a:t>
            </a:r>
          </a:p>
          <a:p>
            <a:r>
              <a:t>• Detection engineer wants community detections turned into production rules.</a:t>
            </a:r>
          </a:p>
          <a:p>
            <a:r>
              <a:t>• Compliance wants policy violations expressed as evidence.</a:t>
            </a:r>
          </a:p>
          <a:p>
            <a:endParaRPr/>
          </a:p>
          <a:p>
            <a:r>
              <a:t>The coverage isn't the issue. Sentinel, Defender XDR, Graph, posture data, exposure graphs — it's all collected. The bottleneck is human: someone has to write the KQL, navigate the SDK, hop between portals, and translate findings back into the persona's language.</a:t>
            </a:r>
          </a:p>
          <a:p>
            <a:endParaRPr/>
          </a:p>
          <a:p>
            <a:r>
              <a:t>That translation step is exactly where agents shine.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thesis (~45s).</a:t>
            </a:r>
          </a:p>
          <a:p>
            <a:endParaRPr/>
          </a:p>
          <a:p>
            <a:r>
              <a:t>One sentence: it all comes down to gathering the data.</a:t>
            </a:r>
          </a:p>
          <a:p>
            <a:endParaRPr/>
          </a:p>
          <a:p>
            <a:r>
              <a:t>Everything else — dashboards, reports, escalations, executive summaries — is downstream of "can I get the right rows in front of the right person fast enough?".</a:t>
            </a:r>
          </a:p>
          <a:p>
            <a:endParaRPr/>
          </a:p>
          <a:p>
            <a:r>
              <a:t>Three pieces make it work together:</a:t>
            </a:r>
          </a:p>
          <a:p>
            <a:r>
              <a:t>• Copilot Chat understands intent in plain English.</a:t>
            </a:r>
          </a:p>
          <a:p>
            <a:r>
              <a:t>• MCP servers expose the data sources as typed, authenticated tools.</a:t>
            </a:r>
          </a:p>
          <a:p>
            <a:r>
              <a:t>• Skills encode SOC playbooks so expertise is reusable, not tribal.</a:t>
            </a:r>
          </a:p>
          <a:p>
            <a:endParaRPr/>
          </a:p>
          <a:p>
            <a:r>
              <a:t>The compounding effect is the real prize. Every investigation done with Copilot leaves behind a query, a skill update, a report template. The next analyst inherits all of it.</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High-level architecture (~60s).</a:t>
            </a:r>
          </a:p>
          <a:p>
            <a:endParaRPr/>
          </a:p>
          <a:p>
            <a:r>
              <a:t>Left to right, three columns — read it as a flow:</a:t>
            </a:r>
          </a:p>
          <a:p>
            <a:endParaRPr/>
          </a:p>
          <a:p>
            <a:r>
              <a:t>1. The analyst stays in VS Code, in the flow of the investigation. No portal-hopping, no context switching.</a:t>
            </a:r>
          </a:p>
          <a:p>
            <a:r>
              <a:t>2. GitHub Copilot routes intent to a skill — incident-investigation, exposure-management, detection-engineering, etc. Skills are how SOC playbooks become code.</a:t>
            </a:r>
          </a:p>
          <a:p>
            <a:r>
              <a:t>3. MCP servers are the typed door to the data. Sentinel Data Lake for KQL, Defender XDR for triage, Microsoft Graph for identity and security objects, Microsoft Learn for docs, plus Azure / GitHub MCPs.</a:t>
            </a:r>
          </a:p>
          <a:p>
            <a:endParaRPr/>
          </a:p>
          <a:p>
            <a:r>
              <a:t>Key point: Copilot doesn't replace the analyst. It removes the glue work. The next slide goes one level deeper into the components behind this picture.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Detailed architecture (~2 min). Walk top-to-bottom.</a:t>
            </a:r>
          </a:p>
          <a:p>
            <a:endParaRPr/>
          </a:p>
          <a:p>
            <a:r>
              <a:t>1. Data Sources — Microsoft (XDR, Defender for Cloud, Entra, Purview), third-party (CrowdStrike, Qualys, Tenable), cloud (AWS, GCP, Azure). 300+ Sentinel connectors plus the Log Ingestion API for anything custom.</a:t>
            </a:r>
          </a:p>
          <a:p>
            <a:endParaRPr/>
          </a:p>
          <a:p>
            <a:r>
              <a:t>2. Sentinel Security Data Lake — the single source of truth. Standard tables (SigninLogs, SecurityAlert, SecurityIncident, DeviceEvents, AuditLogs) and custom *_CL tables. This is where heterogeneity gets normalized.</a:t>
            </a:r>
          </a:p>
          <a:p>
            <a:endParaRPr/>
          </a:p>
          <a:p>
            <a:r>
              <a:t>3. Three query engines on top of that lake:</a:t>
            </a:r>
          </a:p>
          <a:p>
            <a:r>
              <a:t>   • Exposure Management — graph-based; ExposureGraphNodes / Edges → attack paths, choke points.</a:t>
            </a:r>
          </a:p>
          <a:p>
            <a:r>
              <a:t>   • Advanced Hunting — KQL across XDR-native tables (DeviceTvm*, Email*, Identity*, CloudAppEvents…).</a:t>
            </a:r>
          </a:p>
          <a:p>
            <a:r>
              <a:t>   • Azure Resource Graph — cloud posture, compliance, security recommendations.</a:t>
            </a:r>
          </a:p>
          <a:p>
            <a:endParaRPr/>
          </a:p>
          <a:p>
            <a:r>
              <a:t>4. MCP servers wrap each engine in a typed, authenticated interface — the layer Copilot actually talks to.</a:t>
            </a:r>
          </a:p>
          <a:p>
            <a:endParaRPr/>
          </a:p>
          <a:p>
            <a:r>
              <a:t>5. AI Agent — GitHub Copilot orchestrates: query, correlate, enrich, analyze, report.</a:t>
            </a:r>
          </a:p>
          <a:p>
            <a:endParaRPr/>
          </a:p>
          <a:p>
            <a:r>
              <a:t>6. Persona outputs — same data, four shapes: CISO dashboard, attack-path view, remediation backlog, ops work queue.</a:t>
            </a:r>
          </a:p>
          <a:p>
            <a:endParaRPr/>
          </a:p>
          <a:p>
            <a:r>
              <a:t>The punchline: the data doesn't change. The lens does — and Copilot is the lens.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Personas in action (~75s). One sentence per row.</a:t>
            </a:r>
          </a:p>
          <a:p>
            <a:endParaRPr/>
          </a:p>
          <a:p>
            <a:r>
              <a:t>• SOC Analyst → "Investigate incident 12345" triggers the incident-investigation skill: alerts, entities, sign-ins, IP enrichment, HTML/JSON report. End-to-end, one prompt.</a:t>
            </a:r>
          </a:p>
          <a:p>
            <a:endParaRPr/>
          </a:p>
          <a:p>
            <a:r>
              <a:t>• Threat Hunter → asks for risky sign-ins from new ASNs in the last 7 days. kql-query-builder writes the KQL, Sentinel MCP runs it, results come back with baseline comparison.</a:t>
            </a:r>
          </a:p>
          <a:p>
            <a:endParaRPr/>
          </a:p>
          <a:p>
            <a:r>
              <a:t>• Detection Engineer → drops a Sigma YAML in chat. detection-engineering skill parses it, maps the logsource, generates KQL plus the Sentinel analytic-rule ARM template, validates schema.</a:t>
            </a:r>
          </a:p>
          <a:p>
            <a:endParaRPr/>
          </a:p>
          <a:p>
            <a:r>
              <a:t>• CISO / Posture Lead → exposure-management skill returns choke points, attack paths, internet exposure, CTEM KPIs — in business language.</a:t>
            </a:r>
          </a:p>
          <a:p>
            <a:endParaRPr/>
          </a:p>
          <a:p>
            <a:r>
              <a:t>The pattern: same Copilot, same MCP, same data. Different skills give different personas the answer in their language.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Copilot Chat live (~90s). Walk through the right-hand panel.</a:t>
            </a:r>
          </a:p>
          <a:p>
            <a:endParaRPr/>
          </a:p>
          <a:p>
            <a:r>
              <a:t>The analyst types one sentence. Copilot:</a:t>
            </a:r>
          </a:p>
          <a:p>
            <a:r>
              <a:t>1. Loads the matching skill (incident-investigation).</a:t>
            </a:r>
          </a:p>
          <a:p>
            <a:r>
              <a:t>2. Calls MCP tools transparently — list incidents, query SigninLogs, run enrich_ips.py, join SecurityAlert with SecurityIncident.</a:t>
            </a:r>
          </a:p>
          <a:p>
            <a:r>
              <a:t>3. Writes outputs to disk — investigation_user_2026-04-27.json and .html in reports-private/.</a:t>
            </a:r>
          </a:p>
          <a:p>
            <a:r>
              <a:t>4. Returns an evidence-based verdict, not a vibe.</a:t>
            </a:r>
          </a:p>
          <a:p>
            <a:endParaRPr/>
          </a:p>
          <a:p>
            <a:r>
              <a:t>Three things to emphasize:</a:t>
            </a:r>
          </a:p>
          <a:p>
            <a:r>
              <a:t>• Auditability — prompt, skill name, every query, every output is logged in the chat history. You can replay or share it.</a:t>
            </a:r>
          </a:p>
          <a:p>
            <a:r>
              <a:t>• Evidence-based — the verdict cites the queries that produced it. No hallucinated numbers.</a:t>
            </a:r>
          </a:p>
          <a:p>
            <a:r>
              <a:t>• Human in the loop — Copilot drafts, the analyst approves the response action (session revoke, watchlist add).</a:t>
            </a:r>
          </a:p>
          <a:p>
            <a:endParaRPr/>
          </a:p>
          <a:p>
            <a:r>
              <a:t>If you can demo this live for 60 seconds, do it. The chat transcript sells the talk better than any slide.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Acceleration / outcomes (~60s).</a:t>
            </a:r>
          </a:p>
          <a:p>
            <a:endParaRPr/>
          </a:p>
          <a:p>
            <a:r>
              <a:t>Be honest about the numbers — they vary by environment. The pattern doesn't:</a:t>
            </a:r>
          </a:p>
          <a:p>
            <a:endParaRPr/>
          </a:p>
          <a:p>
            <a:r>
              <a:t>• First KQL on a new question: minutes → seconds.</a:t>
            </a:r>
          </a:p>
          <a:p>
            <a:r>
              <a:t>• Incident triage: half an hour or more → under ten minutes.</a:t>
            </a:r>
          </a:p>
          <a:p>
            <a:r>
              <a:t>• Sigma → Sentinel analytic: hours → tens of minutes.</a:t>
            </a:r>
          </a:p>
          <a:p>
            <a:r>
              <a:t>• Posture / CTEM exec summary: half a day → minutes.</a:t>
            </a:r>
          </a:p>
          <a:p>
            <a:r>
              <a:t>• Reproducibility: tribal knowledge → codified in skills and queries.</a:t>
            </a:r>
          </a:p>
          <a:p>
            <a:endParaRPr/>
          </a:p>
          <a:p>
            <a:r>
              <a:t>The last row is the most important one. Speed is nice; reproducibility is structural. When expertise lives in skills and queries instead of in one person's head, the SOC stops losing IQ when someone changes role.</a:t>
            </a:r>
          </a:p>
          <a:p>
            <a:endParaRPr/>
          </a:p>
          <a:p>
            <a:r>
              <a:t>Use the bottom italic line as the takeaway: 3 specialists' worth of work, 1 analyst plus Copilot.</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Key takeaways (~45s). Land each in one breath.</a:t>
            </a:r>
          </a:p>
          <a:p>
            <a:endParaRPr/>
          </a:p>
          <a:p>
            <a:r>
              <a:t>1. The data is already there — so stop blaming coverage.</a:t>
            </a:r>
          </a:p>
          <a:p>
            <a:r>
              <a:t>2. Questions are the hard part — translation, not telemetry, is the bottleneck.</a:t>
            </a:r>
          </a:p>
          <a:p>
            <a:r>
              <a:t>3. GitHub Copilot turns intent into action — natural language → query → evidence → report.</a:t>
            </a:r>
          </a:p>
          <a:p>
            <a:r>
              <a:t>4. Skills compound expertise — every investigation makes the next one cheaper.</a:t>
            </a:r>
          </a:p>
          <a:p>
            <a:r>
              <a:t>5. Humans stay in the loop — Copilot drafts, decides nothing irreversible alone.</a:t>
            </a:r>
          </a:p>
          <a:p>
            <a:endParaRPr/>
          </a:p>
          <a:p>
            <a:r>
              <a:t>If you only remember one bullet, make it #4. That's where the leverage is.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Alternative — terminal-first via GitHub CLI (~30s, optional).</a:t>
            </a:r>
          </a:p>
          <a:p>
            <a:endParaRPr/>
          </a:p>
          <a:p>
            <a:r>
              <a:t>Not every analyst lives in VS Code. Some live in the terminal, in pipelines, in runbooks. GitHub CLI brings the same Copilot experience to that surface:</a:t>
            </a:r>
          </a:p>
          <a:p>
            <a:endParaRPr/>
          </a:p>
          <a:p>
            <a:r>
              <a:t>• gh copilot suggest — ask a question, get a command back.</a:t>
            </a:r>
          </a:p>
          <a:p>
            <a:r>
              <a:t>• gh copilot explain — paste a command, get a plain-English walkthrough.</a:t>
            </a:r>
          </a:p>
          <a:p>
            <a:r>
              <a:t>• Pairs with az, kubectl, jq, gh api — the existing toolbox.</a:t>
            </a:r>
          </a:p>
          <a:p>
            <a:r>
              <a:t>• Repeatable: paste into runbooks, drop into CI, share via Git.</a:t>
            </a:r>
          </a:p>
          <a:p>
            <a:endParaRPr/>
          </a:p>
          <a:p>
            <a:r>
              <a:t>Same intent → action philosophy, just a different surface. Skip this slide if time is tight; it's a deliberate "oh by the way" closer.</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Close (~30s).</a:t>
            </a:r>
          </a:p>
          <a:p>
            <a:endParaRPr/>
          </a:p>
          <a:p>
            <a:r>
              <a:t>Leave the audience with one image: stop opening tabs, start asking questions.</a:t>
            </a:r>
          </a:p>
          <a:p>
            <a:endParaRPr/>
          </a:p>
          <a:p>
            <a:r>
              <a:t>The SOC of the next few years isn't a console war — it's a fabric. GitHub Copilot, MCP, and skills are the practical, available-today way to weave that fabric.</a:t>
            </a:r>
          </a:p>
          <a:p>
            <a:endParaRPr/>
          </a:p>
          <a:p>
            <a:r>
              <a:t>Call to action: try one persona prompt against your own data this week. Pick the one closest to your role. Measure how long it takes today vs. with Copilot. The delta is the business case.</a:t>
            </a:r>
          </a:p>
          <a:p>
            <a:endParaRPr/>
          </a:p>
          <a:p>
            <a:r>
              <a:t>Thanks. Q&amp;A.</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4/30/2026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1020"/>
        </a:solidFill>
        <a:effectLst/>
      </p:bgPr>
    </p:bg>
    <p:spTree>
      <p:nvGrpSpPr>
        <p:cNvPr id="1" name=""/>
        <p:cNvGrpSpPr/>
        <p:nvPr/>
      </p:nvGrpSpPr>
      <p:grpSpPr>
        <a:xfrm>
          <a:off x="0" y="0"/>
          <a:ext cx="0" cy="0"/>
          <a:chOff x="0" y="0"/>
          <a:chExt cx="0" cy="0"/>
        </a:xfrm>
      </p:grpSpPr>
      <p:sp>
        <p:nvSpPr>
          <p:cNvPr id="2" name="Oval 1"/>
          <p:cNvSpPr/>
          <p:nvPr/>
        </p:nvSpPr>
        <p:spPr>
          <a:xfrm>
            <a:off x="-1371600" y="-1371600"/>
            <a:ext cx="5486400" cy="5486400"/>
          </a:xfrm>
          <a:prstGeom prst="ellipse">
            <a:avLst/>
          </a:prstGeom>
          <a:solidFill>
            <a:srgbClr val="7C5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8686800" y="3657600"/>
            <a:ext cx="5486400" cy="5486400"/>
          </a:xfrm>
          <a:prstGeom prst="ellipse">
            <a:avLst/>
          </a:prstGeom>
          <a:solidFill>
            <a:srgbClr val="4CC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548640"/>
            <a:ext cx="10972800" cy="365760"/>
          </a:xfrm>
          <a:prstGeom prst="rect">
            <a:avLst/>
          </a:prstGeom>
          <a:noFill/>
        </p:spPr>
        <p:txBody>
          <a:bodyPr wrap="square" lIns="73152" tIns="36576" rIns="73152" bIns="36576" anchor="t">
            <a:spAutoFit/>
          </a:bodyPr>
          <a:lstStyle/>
          <a:p>
            <a:pPr algn="l">
              <a:lnSpc>
                <a:spcPct val="120000"/>
              </a:lnSpc>
            </a:pPr>
            <a:r>
              <a:rPr sz="1200" b="1" i="0">
                <a:solidFill>
                  <a:srgbClr val="4CC2FF"/>
                </a:solidFill>
                <a:latin typeface="Segoe UI"/>
              </a:rPr>
              <a:t>GITHUB COPILOT FOR THE SOC</a:t>
            </a:r>
          </a:p>
        </p:txBody>
      </p:sp>
      <p:sp>
        <p:nvSpPr>
          <p:cNvPr id="5" name="TextBox 4"/>
          <p:cNvSpPr txBox="1"/>
          <p:nvPr/>
        </p:nvSpPr>
        <p:spPr>
          <a:xfrm>
            <a:off x="640080" y="1097280"/>
            <a:ext cx="10972800" cy="2194560"/>
          </a:xfrm>
          <a:prstGeom prst="rect">
            <a:avLst/>
          </a:prstGeom>
          <a:noFill/>
        </p:spPr>
        <p:txBody>
          <a:bodyPr wrap="square" lIns="73152" tIns="36576" rIns="73152" bIns="36576" anchor="t">
            <a:spAutoFit/>
          </a:bodyPr>
          <a:lstStyle/>
          <a:p>
            <a:pPr algn="l">
              <a:lnSpc>
                <a:spcPct val="105000"/>
              </a:lnSpc>
            </a:pPr>
            <a:r>
              <a:rPr sz="6400" b="1" i="0">
                <a:solidFill>
                  <a:srgbClr val="FFFFFF"/>
                </a:solidFill>
                <a:latin typeface="Segoe UI"/>
              </a:rPr>
              <a:t>From questions
</a:t>
            </a:r>
            <a:r>
              <a:rPr sz="6400" b="1" i="0">
                <a:solidFill>
                  <a:srgbClr val="4CC2FF"/>
                </a:solidFill>
                <a:latin typeface="Segoe UI"/>
              </a:rPr>
              <a:t>to answers.</a:t>
            </a:r>
          </a:p>
        </p:txBody>
      </p:sp>
      <p:sp>
        <p:nvSpPr>
          <p:cNvPr id="6" name="TextBox 5"/>
          <p:cNvSpPr txBox="1"/>
          <p:nvPr/>
        </p:nvSpPr>
        <p:spPr>
          <a:xfrm>
            <a:off x="640080" y="4343400"/>
            <a:ext cx="10972800" cy="1097280"/>
          </a:xfrm>
          <a:prstGeom prst="rect">
            <a:avLst/>
          </a:prstGeom>
          <a:noFill/>
        </p:spPr>
        <p:txBody>
          <a:bodyPr wrap="square" lIns="73152" tIns="36576" rIns="73152" bIns="36576" anchor="t">
            <a:spAutoFit/>
          </a:bodyPr>
          <a:lstStyle/>
          <a:p>
            <a:pPr algn="l">
              <a:lnSpc>
                <a:spcPct val="120000"/>
              </a:lnSpc>
            </a:pPr>
            <a:r>
              <a:rPr sz="2400" b="1" i="0" dirty="0">
                <a:solidFill>
                  <a:srgbClr val="7C5CFF"/>
                </a:solidFill>
                <a:latin typeface="Segoe UI"/>
              </a:rPr>
              <a:t>GitHub Copilot </a:t>
            </a:r>
            <a:r>
              <a:rPr sz="2400" b="0" i="0" dirty="0">
                <a:solidFill>
                  <a:srgbClr val="E6ECF5"/>
                </a:solidFill>
                <a:latin typeface="Segoe UI"/>
              </a:rPr>
              <a:t>→ an SOC that talks to its data.</a:t>
            </a:r>
          </a:p>
        </p:txBody>
      </p:sp>
      <p:sp>
        <p:nvSpPr>
          <p:cNvPr id="7" name="TextBox 6"/>
          <p:cNvSpPr txBox="1"/>
          <p:nvPr/>
        </p:nvSpPr>
        <p:spPr>
          <a:xfrm>
            <a:off x="640080" y="4937760"/>
            <a:ext cx="10972800" cy="548640"/>
          </a:xfrm>
          <a:prstGeom prst="rect">
            <a:avLst/>
          </a:prstGeom>
          <a:noFill/>
        </p:spPr>
        <p:txBody>
          <a:bodyPr wrap="square" lIns="73152" tIns="36576" rIns="73152" bIns="36576" anchor="t">
            <a:spAutoFit/>
          </a:bodyPr>
          <a:lstStyle/>
          <a:p>
            <a:pPr algn="l">
              <a:lnSpc>
                <a:spcPct val="120000"/>
              </a:lnSpc>
            </a:pPr>
            <a:r>
              <a:rPr sz="1600" b="0" i="1">
                <a:solidFill>
                  <a:srgbClr val="9AA7BD"/>
                </a:solidFill>
                <a:latin typeface="Segoe UI"/>
              </a:rPr>
              <a:t>Cybersecurity · investigation · forensics · detection — for every persona.</a:t>
            </a:r>
          </a:p>
        </p:txBody>
      </p:sp>
      <p:sp>
        <p:nvSpPr>
          <p:cNvPr id="8" name="TextBox 7"/>
          <p:cNvSpPr txBox="1"/>
          <p:nvPr/>
        </p:nvSpPr>
        <p:spPr>
          <a:xfrm>
            <a:off x="640080" y="6492240"/>
            <a:ext cx="10972800" cy="274320"/>
          </a:xfrm>
          <a:prstGeom prst="rect">
            <a:avLst/>
          </a:prstGeom>
          <a:noFill/>
        </p:spPr>
        <p:txBody>
          <a:bodyPr wrap="square" lIns="73152" tIns="36576" rIns="73152" bIns="36576" anchor="t">
            <a:spAutoFit/>
          </a:bodyPr>
          <a:lstStyle/>
          <a:p>
            <a:pPr algn="l">
              <a:lnSpc>
                <a:spcPct val="120000"/>
              </a:lnSpc>
            </a:pPr>
            <a:r>
              <a:rPr sz="1000" b="0" i="0">
                <a:solidFill>
                  <a:srgbClr val="9AA7BD"/>
                </a:solidFill>
                <a:latin typeface="Segoe UI"/>
              </a:rPr>
              <a:t>Olivier Charron · CyberProbe — 2026-04-27</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B1020"/>
        </a:solidFill>
        <a:effectLst/>
      </p:bgPr>
    </p:bg>
    <p:spTree>
      <p:nvGrpSpPr>
        <p:cNvPr id="1" name=""/>
        <p:cNvGrpSpPr/>
        <p:nvPr/>
      </p:nvGrpSpPr>
      <p:grpSpPr>
        <a:xfrm>
          <a:off x="0" y="0"/>
          <a:ext cx="0" cy="0"/>
          <a:chOff x="0" y="0"/>
          <a:chExt cx="0" cy="0"/>
        </a:xfrm>
      </p:grpSpPr>
      <p:sp>
        <p:nvSpPr>
          <p:cNvPr id="2" name="TextBox 1"/>
          <p:cNvSpPr txBox="1"/>
          <p:nvPr/>
        </p:nvSpPr>
        <p:spPr>
          <a:xfrm>
            <a:off x="548640" y="91440"/>
            <a:ext cx="10972800" cy="274320"/>
          </a:xfrm>
          <a:prstGeom prst="rect">
            <a:avLst/>
          </a:prstGeom>
          <a:noFill/>
        </p:spPr>
        <p:txBody>
          <a:bodyPr wrap="square" lIns="73152" tIns="36576" rIns="73152" bIns="36576" anchor="t">
            <a:spAutoFit/>
          </a:bodyPr>
          <a:lstStyle/>
          <a:p>
            <a:pPr algn="l">
              <a:lnSpc>
                <a:spcPct val="120000"/>
              </a:lnSpc>
            </a:pPr>
            <a:r>
              <a:rPr sz="1100" b="1" i="0">
                <a:solidFill>
                  <a:srgbClr val="4CC2FF"/>
                </a:solidFill>
                <a:latin typeface="Segoe UI"/>
              </a:rPr>
              <a:t>THE PROBLEM</a:t>
            </a:r>
          </a:p>
        </p:txBody>
      </p:sp>
      <p:sp>
        <p:nvSpPr>
          <p:cNvPr id="3" name="TextBox 2"/>
          <p:cNvSpPr txBox="1"/>
          <p:nvPr/>
        </p:nvSpPr>
        <p:spPr>
          <a:xfrm>
            <a:off x="548640" y="320040"/>
            <a:ext cx="11155680" cy="731520"/>
          </a:xfrm>
          <a:prstGeom prst="rect">
            <a:avLst/>
          </a:prstGeom>
          <a:noFill/>
        </p:spPr>
        <p:txBody>
          <a:bodyPr wrap="square" lIns="73152" tIns="36576" rIns="73152" bIns="36576" anchor="t">
            <a:spAutoFit/>
          </a:bodyPr>
          <a:lstStyle/>
          <a:p>
            <a:pPr algn="l">
              <a:lnSpc>
                <a:spcPct val="120000"/>
              </a:lnSpc>
            </a:pPr>
            <a:r>
              <a:rPr sz="2800" b="1" i="0">
                <a:solidFill>
                  <a:srgbClr val="FFFFFF"/>
                </a:solidFill>
                <a:latin typeface="Segoe UI"/>
              </a:rPr>
              <a:t>Different personas. Same blocker: getting to the data.</a:t>
            </a:r>
          </a:p>
        </p:txBody>
      </p:sp>
      <p:sp>
        <p:nvSpPr>
          <p:cNvPr id="4" name="Rectangle 3"/>
          <p:cNvSpPr/>
          <p:nvPr/>
        </p:nvSpPr>
        <p:spPr>
          <a:xfrm>
            <a:off x="640080" y="1280160"/>
            <a:ext cx="109728" cy="502920"/>
          </a:xfrm>
          <a:prstGeom prst="rect">
            <a:avLst/>
          </a:prstGeom>
          <a:solidFill>
            <a:srgbClr val="4CC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49808" y="1280160"/>
            <a:ext cx="10972800" cy="502920"/>
          </a:xfrm>
          <a:prstGeom prst="roundRect">
            <a:avLst>
              <a:gd name="adj" fmla="val 4000"/>
            </a:avLst>
          </a:prstGeom>
          <a:solidFill>
            <a:srgbClr val="111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316736"/>
            <a:ext cx="2743200" cy="457200"/>
          </a:xfrm>
          <a:prstGeom prst="rect">
            <a:avLst/>
          </a:prstGeom>
          <a:noFill/>
        </p:spPr>
        <p:txBody>
          <a:bodyPr wrap="square" lIns="73152" tIns="36576" rIns="73152" bIns="36576" anchor="t">
            <a:spAutoFit/>
          </a:bodyPr>
          <a:lstStyle/>
          <a:p>
            <a:pPr algn="l">
              <a:lnSpc>
                <a:spcPct val="120000"/>
              </a:lnSpc>
            </a:pPr>
            <a:r>
              <a:rPr sz="1400" b="1" i="0">
                <a:solidFill>
                  <a:srgbClr val="4CC2FF"/>
                </a:solidFill>
                <a:latin typeface="Segoe UI"/>
              </a:rPr>
              <a:t>CISO / Exec</a:t>
            </a:r>
          </a:p>
        </p:txBody>
      </p:sp>
      <p:sp>
        <p:nvSpPr>
          <p:cNvPr id="7" name="TextBox 6"/>
          <p:cNvSpPr txBox="1"/>
          <p:nvPr/>
        </p:nvSpPr>
        <p:spPr>
          <a:xfrm>
            <a:off x="3749039" y="1316736"/>
            <a:ext cx="7772400" cy="457200"/>
          </a:xfrm>
          <a:prstGeom prst="rect">
            <a:avLst/>
          </a:prstGeom>
          <a:noFill/>
        </p:spPr>
        <p:txBody>
          <a:bodyPr wrap="square" lIns="73152" tIns="36576" rIns="73152" bIns="36576" anchor="t">
            <a:spAutoFit/>
          </a:bodyPr>
          <a:lstStyle/>
          <a:p>
            <a:pPr algn="l">
              <a:lnSpc>
                <a:spcPct val="120000"/>
              </a:lnSpc>
            </a:pPr>
            <a:r>
              <a:rPr sz="1400" b="0" i="1">
                <a:solidFill>
                  <a:srgbClr val="E6ECF5"/>
                </a:solidFill>
                <a:latin typeface="Segoe UI"/>
              </a:rPr>
              <a:t>“What is our exposure right now?”</a:t>
            </a:r>
          </a:p>
        </p:txBody>
      </p:sp>
      <p:sp>
        <p:nvSpPr>
          <p:cNvPr id="8" name="Rectangle 7"/>
          <p:cNvSpPr/>
          <p:nvPr/>
        </p:nvSpPr>
        <p:spPr>
          <a:xfrm>
            <a:off x="640080" y="1938528"/>
            <a:ext cx="109728" cy="502920"/>
          </a:xfrm>
          <a:prstGeom prst="rect">
            <a:avLst/>
          </a:prstGeom>
          <a:solidFill>
            <a:srgbClr val="7C5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749808" y="1938528"/>
            <a:ext cx="10972800" cy="502920"/>
          </a:xfrm>
          <a:prstGeom prst="roundRect">
            <a:avLst>
              <a:gd name="adj" fmla="val 4000"/>
            </a:avLst>
          </a:prstGeom>
          <a:solidFill>
            <a:srgbClr val="111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14400" y="1975104"/>
            <a:ext cx="2743200" cy="457200"/>
          </a:xfrm>
          <a:prstGeom prst="rect">
            <a:avLst/>
          </a:prstGeom>
          <a:noFill/>
        </p:spPr>
        <p:txBody>
          <a:bodyPr wrap="square" lIns="73152" tIns="36576" rIns="73152" bIns="36576" anchor="t">
            <a:spAutoFit/>
          </a:bodyPr>
          <a:lstStyle/>
          <a:p>
            <a:pPr algn="l">
              <a:lnSpc>
                <a:spcPct val="120000"/>
              </a:lnSpc>
            </a:pPr>
            <a:r>
              <a:rPr sz="1400" b="1" i="0">
                <a:solidFill>
                  <a:srgbClr val="7C5CFF"/>
                </a:solidFill>
                <a:latin typeface="Segoe UI"/>
              </a:rPr>
              <a:t>SOC Analyst</a:t>
            </a:r>
          </a:p>
        </p:txBody>
      </p:sp>
      <p:sp>
        <p:nvSpPr>
          <p:cNvPr id="11" name="TextBox 10"/>
          <p:cNvSpPr txBox="1"/>
          <p:nvPr/>
        </p:nvSpPr>
        <p:spPr>
          <a:xfrm>
            <a:off x="3749039" y="1975104"/>
            <a:ext cx="7772400" cy="457200"/>
          </a:xfrm>
          <a:prstGeom prst="rect">
            <a:avLst/>
          </a:prstGeom>
          <a:noFill/>
        </p:spPr>
        <p:txBody>
          <a:bodyPr wrap="square" lIns="73152" tIns="36576" rIns="73152" bIns="36576" anchor="t">
            <a:spAutoFit/>
          </a:bodyPr>
          <a:lstStyle/>
          <a:p>
            <a:pPr algn="l">
              <a:lnSpc>
                <a:spcPct val="120000"/>
              </a:lnSpc>
            </a:pPr>
            <a:r>
              <a:rPr sz="1400" b="0" i="1">
                <a:solidFill>
                  <a:srgbClr val="E6ECF5"/>
                </a:solidFill>
                <a:latin typeface="Segoe UI"/>
              </a:rPr>
              <a:t>“Investigate this incident end-to-end.”</a:t>
            </a:r>
          </a:p>
        </p:txBody>
      </p:sp>
      <p:sp>
        <p:nvSpPr>
          <p:cNvPr id="12" name="Rectangle 11"/>
          <p:cNvSpPr/>
          <p:nvPr/>
        </p:nvSpPr>
        <p:spPr>
          <a:xfrm>
            <a:off x="640080" y="2596896"/>
            <a:ext cx="109728" cy="502920"/>
          </a:xfrm>
          <a:prstGeom prst="rect">
            <a:avLst/>
          </a:prstGeom>
          <a:solidFill>
            <a:srgbClr val="FF5C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749808" y="2596896"/>
            <a:ext cx="10972800" cy="502920"/>
          </a:xfrm>
          <a:prstGeom prst="roundRect">
            <a:avLst>
              <a:gd name="adj" fmla="val 4000"/>
            </a:avLst>
          </a:prstGeom>
          <a:solidFill>
            <a:srgbClr val="111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14400" y="2633472"/>
            <a:ext cx="2743200" cy="457200"/>
          </a:xfrm>
          <a:prstGeom prst="rect">
            <a:avLst/>
          </a:prstGeom>
          <a:noFill/>
        </p:spPr>
        <p:txBody>
          <a:bodyPr wrap="square" lIns="73152" tIns="36576" rIns="73152" bIns="36576" anchor="t">
            <a:spAutoFit/>
          </a:bodyPr>
          <a:lstStyle/>
          <a:p>
            <a:pPr algn="l">
              <a:lnSpc>
                <a:spcPct val="120000"/>
              </a:lnSpc>
            </a:pPr>
            <a:r>
              <a:rPr sz="1400" b="1" i="0">
                <a:solidFill>
                  <a:srgbClr val="FF5C7A"/>
                </a:solidFill>
                <a:latin typeface="Segoe UI"/>
              </a:rPr>
              <a:t>IR / Forensics</a:t>
            </a:r>
          </a:p>
        </p:txBody>
      </p:sp>
      <p:sp>
        <p:nvSpPr>
          <p:cNvPr id="15" name="TextBox 14"/>
          <p:cNvSpPr txBox="1"/>
          <p:nvPr/>
        </p:nvSpPr>
        <p:spPr>
          <a:xfrm>
            <a:off x="3749039" y="2633472"/>
            <a:ext cx="7772400" cy="457200"/>
          </a:xfrm>
          <a:prstGeom prst="rect">
            <a:avLst/>
          </a:prstGeom>
          <a:noFill/>
        </p:spPr>
        <p:txBody>
          <a:bodyPr wrap="square" lIns="73152" tIns="36576" rIns="73152" bIns="36576" anchor="t">
            <a:spAutoFit/>
          </a:bodyPr>
          <a:lstStyle/>
          <a:p>
            <a:pPr algn="l">
              <a:lnSpc>
                <a:spcPct val="120000"/>
              </a:lnSpc>
            </a:pPr>
            <a:r>
              <a:rPr sz="1400" b="0" i="1">
                <a:solidFill>
                  <a:srgbClr val="E6ECF5"/>
                </a:solidFill>
                <a:latin typeface="Segoe UI"/>
              </a:rPr>
              <a:t>“Reconstruct the attack timeline for this user.”</a:t>
            </a:r>
          </a:p>
        </p:txBody>
      </p:sp>
      <p:sp>
        <p:nvSpPr>
          <p:cNvPr id="16" name="Rectangle 15"/>
          <p:cNvSpPr/>
          <p:nvPr/>
        </p:nvSpPr>
        <p:spPr>
          <a:xfrm>
            <a:off x="640080" y="3255263"/>
            <a:ext cx="109728" cy="502920"/>
          </a:xfrm>
          <a:prstGeom prst="rect">
            <a:avLst/>
          </a:prstGeom>
          <a:solidFill>
            <a:srgbClr val="FFB4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749808" y="3255263"/>
            <a:ext cx="10972800" cy="502920"/>
          </a:xfrm>
          <a:prstGeom prst="roundRect">
            <a:avLst>
              <a:gd name="adj" fmla="val 4000"/>
            </a:avLst>
          </a:prstGeom>
          <a:solidFill>
            <a:srgbClr val="111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14400" y="3291839"/>
            <a:ext cx="2743200" cy="457200"/>
          </a:xfrm>
          <a:prstGeom prst="rect">
            <a:avLst/>
          </a:prstGeom>
          <a:noFill/>
        </p:spPr>
        <p:txBody>
          <a:bodyPr wrap="square" lIns="73152" tIns="36576" rIns="73152" bIns="36576" anchor="t">
            <a:spAutoFit/>
          </a:bodyPr>
          <a:lstStyle/>
          <a:p>
            <a:pPr algn="l">
              <a:lnSpc>
                <a:spcPct val="120000"/>
              </a:lnSpc>
            </a:pPr>
            <a:r>
              <a:rPr sz="1400" b="1" i="0">
                <a:solidFill>
                  <a:srgbClr val="FFB454"/>
                </a:solidFill>
                <a:latin typeface="Segoe UI"/>
              </a:rPr>
              <a:t>Threat Hunter</a:t>
            </a:r>
          </a:p>
        </p:txBody>
      </p:sp>
      <p:sp>
        <p:nvSpPr>
          <p:cNvPr id="19" name="TextBox 18"/>
          <p:cNvSpPr txBox="1"/>
          <p:nvPr/>
        </p:nvSpPr>
        <p:spPr>
          <a:xfrm>
            <a:off x="3749039" y="3291839"/>
            <a:ext cx="7772400" cy="457200"/>
          </a:xfrm>
          <a:prstGeom prst="rect">
            <a:avLst/>
          </a:prstGeom>
          <a:noFill/>
        </p:spPr>
        <p:txBody>
          <a:bodyPr wrap="square" lIns="73152" tIns="36576" rIns="73152" bIns="36576" anchor="t">
            <a:spAutoFit/>
          </a:bodyPr>
          <a:lstStyle/>
          <a:p>
            <a:pPr algn="l">
              <a:lnSpc>
                <a:spcPct val="120000"/>
              </a:lnSpc>
            </a:pPr>
            <a:r>
              <a:rPr sz="1400" b="0" i="1">
                <a:solidFill>
                  <a:srgbClr val="E6ECF5"/>
                </a:solidFill>
                <a:latin typeface="Segoe UI"/>
              </a:rPr>
              <a:t>“Find behaviors matching this TTP across 90 days.”</a:t>
            </a:r>
          </a:p>
        </p:txBody>
      </p:sp>
      <p:sp>
        <p:nvSpPr>
          <p:cNvPr id="20" name="Rectangle 19"/>
          <p:cNvSpPr/>
          <p:nvPr/>
        </p:nvSpPr>
        <p:spPr>
          <a:xfrm>
            <a:off x="640080" y="3913631"/>
            <a:ext cx="109728" cy="502920"/>
          </a:xfrm>
          <a:prstGeom prst="rect">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749808" y="3913631"/>
            <a:ext cx="10972800" cy="502920"/>
          </a:xfrm>
          <a:prstGeom prst="roundRect">
            <a:avLst>
              <a:gd name="adj" fmla="val 4000"/>
            </a:avLst>
          </a:prstGeom>
          <a:solidFill>
            <a:srgbClr val="111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14400" y="3950207"/>
            <a:ext cx="2743200" cy="457200"/>
          </a:xfrm>
          <a:prstGeom prst="rect">
            <a:avLst/>
          </a:prstGeom>
          <a:noFill/>
        </p:spPr>
        <p:txBody>
          <a:bodyPr wrap="square" lIns="73152" tIns="36576" rIns="73152" bIns="36576" anchor="t">
            <a:spAutoFit/>
          </a:bodyPr>
          <a:lstStyle/>
          <a:p>
            <a:pPr algn="l">
              <a:lnSpc>
                <a:spcPct val="120000"/>
              </a:lnSpc>
            </a:pPr>
            <a:r>
              <a:rPr sz="1400" b="1" i="0">
                <a:solidFill>
                  <a:srgbClr val="3DDC97"/>
                </a:solidFill>
                <a:latin typeface="Segoe UI"/>
              </a:rPr>
              <a:t>Detection Eng.</a:t>
            </a:r>
          </a:p>
        </p:txBody>
      </p:sp>
      <p:sp>
        <p:nvSpPr>
          <p:cNvPr id="23" name="TextBox 22"/>
          <p:cNvSpPr txBox="1"/>
          <p:nvPr/>
        </p:nvSpPr>
        <p:spPr>
          <a:xfrm>
            <a:off x="3749039" y="3950207"/>
            <a:ext cx="7772400" cy="457200"/>
          </a:xfrm>
          <a:prstGeom prst="rect">
            <a:avLst/>
          </a:prstGeom>
          <a:noFill/>
        </p:spPr>
        <p:txBody>
          <a:bodyPr wrap="square" lIns="73152" tIns="36576" rIns="73152" bIns="36576" anchor="t">
            <a:spAutoFit/>
          </a:bodyPr>
          <a:lstStyle/>
          <a:p>
            <a:pPr algn="l">
              <a:lnSpc>
                <a:spcPct val="120000"/>
              </a:lnSpc>
            </a:pPr>
            <a:r>
              <a:rPr sz="1400" b="0" i="1">
                <a:solidFill>
                  <a:srgbClr val="E6ECF5"/>
                </a:solidFill>
                <a:latin typeface="Segoe UI"/>
              </a:rPr>
              <a:t>“Convert this Sigma rule into a Sentinel analytic.”</a:t>
            </a:r>
          </a:p>
        </p:txBody>
      </p:sp>
      <p:sp>
        <p:nvSpPr>
          <p:cNvPr id="24" name="Rectangle 23"/>
          <p:cNvSpPr/>
          <p:nvPr/>
        </p:nvSpPr>
        <p:spPr>
          <a:xfrm>
            <a:off x="640080" y="4571999"/>
            <a:ext cx="109728" cy="502920"/>
          </a:xfrm>
          <a:prstGeom prst="rect">
            <a:avLst/>
          </a:prstGeom>
          <a:solidFill>
            <a:srgbClr val="4CC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749808" y="4571999"/>
            <a:ext cx="10972800" cy="502920"/>
          </a:xfrm>
          <a:prstGeom prst="roundRect">
            <a:avLst>
              <a:gd name="adj" fmla="val 4000"/>
            </a:avLst>
          </a:prstGeom>
          <a:solidFill>
            <a:srgbClr val="111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14400" y="4608575"/>
            <a:ext cx="2743200" cy="457200"/>
          </a:xfrm>
          <a:prstGeom prst="rect">
            <a:avLst/>
          </a:prstGeom>
          <a:noFill/>
        </p:spPr>
        <p:txBody>
          <a:bodyPr wrap="square" lIns="73152" tIns="36576" rIns="73152" bIns="36576" anchor="t">
            <a:spAutoFit/>
          </a:bodyPr>
          <a:lstStyle/>
          <a:p>
            <a:pPr algn="l">
              <a:lnSpc>
                <a:spcPct val="120000"/>
              </a:lnSpc>
            </a:pPr>
            <a:r>
              <a:rPr sz="1400" b="1" i="0">
                <a:solidFill>
                  <a:srgbClr val="4CC2FF"/>
                </a:solidFill>
                <a:latin typeface="Segoe UI"/>
              </a:rPr>
              <a:t>Compliance</a:t>
            </a:r>
          </a:p>
        </p:txBody>
      </p:sp>
      <p:sp>
        <p:nvSpPr>
          <p:cNvPr id="27" name="TextBox 26"/>
          <p:cNvSpPr txBox="1"/>
          <p:nvPr/>
        </p:nvSpPr>
        <p:spPr>
          <a:xfrm>
            <a:off x="3749039" y="4608575"/>
            <a:ext cx="7772400" cy="457200"/>
          </a:xfrm>
          <a:prstGeom prst="rect">
            <a:avLst/>
          </a:prstGeom>
          <a:noFill/>
        </p:spPr>
        <p:txBody>
          <a:bodyPr wrap="square" lIns="73152" tIns="36576" rIns="73152" bIns="36576" anchor="t">
            <a:spAutoFit/>
          </a:bodyPr>
          <a:lstStyle/>
          <a:p>
            <a:pPr algn="l">
              <a:lnSpc>
                <a:spcPct val="120000"/>
              </a:lnSpc>
            </a:pPr>
            <a:r>
              <a:rPr sz="1400" b="0" i="1">
                <a:solidFill>
                  <a:srgbClr val="E6ECF5"/>
                </a:solidFill>
                <a:latin typeface="Segoe UI"/>
              </a:rPr>
              <a:t>“Show me sign-ins from non-sanctioned regions.”</a:t>
            </a:r>
          </a:p>
        </p:txBody>
      </p:sp>
      <p:sp>
        <p:nvSpPr>
          <p:cNvPr id="28" name="TextBox 27"/>
          <p:cNvSpPr txBox="1"/>
          <p:nvPr/>
        </p:nvSpPr>
        <p:spPr>
          <a:xfrm>
            <a:off x="640080" y="5577840"/>
            <a:ext cx="10972800" cy="914400"/>
          </a:xfrm>
          <a:prstGeom prst="rect">
            <a:avLst/>
          </a:prstGeom>
          <a:noFill/>
        </p:spPr>
        <p:txBody>
          <a:bodyPr wrap="square" lIns="73152" tIns="36576" rIns="73152" bIns="36576" anchor="t">
            <a:spAutoFit/>
          </a:bodyPr>
          <a:lstStyle/>
          <a:p>
            <a:pPr algn="l">
              <a:lnSpc>
                <a:spcPct val="120000"/>
              </a:lnSpc>
            </a:pPr>
            <a:r>
              <a:rPr sz="1600" b="0" i="0">
                <a:solidFill>
                  <a:srgbClr val="E6ECF5"/>
                </a:solidFill>
                <a:latin typeface="Segoe UI"/>
              </a:rPr>
              <a:t>The data already exists — Sentinel, Defender XDR, Graph, logs, posture, exposure. </a:t>
            </a:r>
          </a:p>
          <a:p>
            <a:pPr algn="l">
              <a:lnSpc>
                <a:spcPct val="120000"/>
              </a:lnSpc>
            </a:pPr>
            <a:r>
              <a:rPr sz="1600" b="0" i="0">
                <a:solidFill>
                  <a:srgbClr val="E6ECF5"/>
                </a:solidFill>
                <a:latin typeface="Segoe UI"/>
              </a:rPr>
              <a:t>The bottleneck is </a:t>
            </a:r>
            <a:r>
              <a:rPr sz="1600" b="1" i="0">
                <a:solidFill>
                  <a:srgbClr val="4CC2FF"/>
                </a:solidFill>
                <a:latin typeface="Segoe UI"/>
              </a:rPr>
              <a:t>translating questions into queries</a:t>
            </a:r>
            <a:r>
              <a:rPr sz="1600" b="0" i="0">
                <a:solidFill>
                  <a:srgbClr val="E6ECF5"/>
                </a:solidFill>
                <a:latin typeface="Segoe UI"/>
              </a:rPr>
              <a:t> — fast enough, often enough, by anyone.</a:t>
            </a:r>
          </a:p>
        </p:txBody>
      </p:sp>
      <p:sp>
        <p:nvSpPr>
          <p:cNvPr id="29" name="TextBox 28"/>
          <p:cNvSpPr txBox="1"/>
          <p:nvPr/>
        </p:nvSpPr>
        <p:spPr>
          <a:xfrm>
            <a:off x="548640" y="6537960"/>
            <a:ext cx="11155680" cy="274320"/>
          </a:xfrm>
          <a:prstGeom prst="rect">
            <a:avLst/>
          </a:prstGeom>
          <a:noFill/>
        </p:spPr>
        <p:txBody>
          <a:bodyPr wrap="square" lIns="73152" tIns="36576" rIns="73152" bIns="36576" anchor="t">
            <a:spAutoFit/>
          </a:bodyPr>
          <a:lstStyle/>
          <a:p>
            <a:pPr algn="l">
              <a:lnSpc>
                <a:spcPct val="120000"/>
              </a:lnSpc>
            </a:pPr>
            <a:r>
              <a:rPr sz="1000" b="0" i="0">
                <a:solidFill>
                  <a:srgbClr val="9AA7BD"/>
                </a:solidFill>
                <a:latin typeface="Segoe UI"/>
              </a:rPr>
              <a:t>01 · Why this matters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11A33"/>
        </a:solidFill>
        <a:effectLst/>
      </p:bgPr>
    </p:bg>
    <p:spTree>
      <p:nvGrpSpPr>
        <p:cNvPr id="1" name=""/>
        <p:cNvGrpSpPr/>
        <p:nvPr/>
      </p:nvGrpSpPr>
      <p:grpSpPr>
        <a:xfrm>
          <a:off x="0" y="0"/>
          <a:ext cx="0" cy="0"/>
          <a:chOff x="0" y="0"/>
          <a:chExt cx="0" cy="0"/>
        </a:xfrm>
      </p:grpSpPr>
      <p:sp>
        <p:nvSpPr>
          <p:cNvPr id="2" name="TextBox 1"/>
          <p:cNvSpPr txBox="1"/>
          <p:nvPr/>
        </p:nvSpPr>
        <p:spPr>
          <a:xfrm>
            <a:off x="548640" y="91440"/>
            <a:ext cx="10972800" cy="274320"/>
          </a:xfrm>
          <a:prstGeom prst="rect">
            <a:avLst/>
          </a:prstGeom>
          <a:noFill/>
        </p:spPr>
        <p:txBody>
          <a:bodyPr wrap="square" lIns="73152" tIns="36576" rIns="73152" bIns="36576" anchor="t">
            <a:spAutoFit/>
          </a:bodyPr>
          <a:lstStyle/>
          <a:p>
            <a:pPr algn="l">
              <a:lnSpc>
                <a:spcPct val="120000"/>
              </a:lnSpc>
            </a:pPr>
            <a:r>
              <a:rPr sz="1100" b="1" i="0">
                <a:solidFill>
                  <a:srgbClr val="7C5CFF"/>
                </a:solidFill>
                <a:latin typeface="Segoe UI"/>
              </a:rPr>
              <a:t>THE THESIS</a:t>
            </a:r>
          </a:p>
        </p:txBody>
      </p:sp>
      <p:sp>
        <p:nvSpPr>
          <p:cNvPr id="3" name="TextBox 2"/>
          <p:cNvSpPr txBox="1"/>
          <p:nvPr/>
        </p:nvSpPr>
        <p:spPr>
          <a:xfrm>
            <a:off x="640080" y="1463040"/>
            <a:ext cx="10972800" cy="1280160"/>
          </a:xfrm>
          <a:prstGeom prst="rect">
            <a:avLst/>
          </a:prstGeom>
          <a:noFill/>
        </p:spPr>
        <p:txBody>
          <a:bodyPr wrap="square" lIns="73152" tIns="36576" rIns="73152" bIns="36576" anchor="t">
            <a:spAutoFit/>
          </a:bodyPr>
          <a:lstStyle/>
          <a:p>
            <a:pPr algn="l">
              <a:lnSpc>
                <a:spcPct val="120000"/>
              </a:lnSpc>
            </a:pPr>
            <a:r>
              <a:rPr sz="3600" b="0" i="0">
                <a:solidFill>
                  <a:srgbClr val="E6ECF5"/>
                </a:solidFill>
                <a:latin typeface="Segoe UI"/>
              </a:rPr>
              <a:t>It all comes down to </a:t>
            </a:r>
            <a:r>
              <a:rPr sz="3600" b="1" i="0">
                <a:solidFill>
                  <a:srgbClr val="4CC2FF"/>
                </a:solidFill>
                <a:latin typeface="Segoe UI"/>
              </a:rPr>
              <a:t>gathering the data.</a:t>
            </a:r>
          </a:p>
        </p:txBody>
      </p:sp>
      <p:sp>
        <p:nvSpPr>
          <p:cNvPr id="4" name="TextBox 3"/>
          <p:cNvSpPr txBox="1"/>
          <p:nvPr/>
        </p:nvSpPr>
        <p:spPr>
          <a:xfrm>
            <a:off x="640080" y="2743200"/>
            <a:ext cx="10972800" cy="1280160"/>
          </a:xfrm>
          <a:prstGeom prst="rect">
            <a:avLst/>
          </a:prstGeom>
          <a:noFill/>
        </p:spPr>
        <p:txBody>
          <a:bodyPr wrap="square" lIns="73152" tIns="36576" rIns="73152" bIns="36576" anchor="t">
            <a:spAutoFit/>
          </a:bodyPr>
          <a:lstStyle/>
          <a:p>
            <a:pPr algn="l">
              <a:lnSpc>
                <a:spcPct val="120000"/>
              </a:lnSpc>
            </a:pPr>
            <a:r>
              <a:rPr sz="3000" b="0" i="0">
                <a:solidFill>
                  <a:srgbClr val="E6ECF5"/>
                </a:solidFill>
                <a:latin typeface="Segoe UI"/>
              </a:rPr>
              <a:t>GitHub Copilot makes it </a:t>
            </a:r>
            <a:r>
              <a:rPr sz="3000" b="1" i="0">
                <a:solidFill>
                  <a:srgbClr val="7C5CFF"/>
                </a:solidFill>
                <a:latin typeface="Segoe UI"/>
              </a:rPr>
              <a:t>conversational, repeatable, and fast.</a:t>
            </a:r>
          </a:p>
        </p:txBody>
      </p:sp>
      <p:sp>
        <p:nvSpPr>
          <p:cNvPr id="5" name="Rounded Rectangle 4"/>
          <p:cNvSpPr/>
          <p:nvPr/>
        </p:nvSpPr>
        <p:spPr>
          <a:xfrm>
            <a:off x="640080" y="4572000"/>
            <a:ext cx="10972800" cy="1371600"/>
          </a:xfrm>
          <a:prstGeom prst="roundRect">
            <a:avLst>
              <a:gd name="adj" fmla="val 4000"/>
            </a:avLst>
          </a:prstGeom>
          <a:solidFill>
            <a:srgbClr val="0B1020"/>
          </a:solidFill>
          <a:ln w="12700">
            <a:solidFill>
              <a:srgbClr val="4CC2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4709160"/>
            <a:ext cx="10607040" cy="1188720"/>
          </a:xfrm>
          <a:prstGeom prst="rect">
            <a:avLst/>
          </a:prstGeom>
          <a:noFill/>
        </p:spPr>
        <p:txBody>
          <a:bodyPr wrap="square" lIns="73152" tIns="36576" rIns="73152" bIns="36576" anchor="t">
            <a:spAutoFit/>
          </a:bodyPr>
          <a:lstStyle/>
          <a:p>
            <a:pPr algn="l">
              <a:lnSpc>
                <a:spcPct val="140000"/>
              </a:lnSpc>
            </a:pPr>
            <a:r>
              <a:rPr sz="1600" b="1" i="0">
                <a:solidFill>
                  <a:srgbClr val="4CC2FF"/>
                </a:solidFill>
                <a:latin typeface="Segoe UI"/>
              </a:rPr>
              <a:t>Copilot Chat </a:t>
            </a:r>
            <a:r>
              <a:rPr sz="1600" b="0" i="0">
                <a:solidFill>
                  <a:srgbClr val="E6ECF5"/>
                </a:solidFill>
                <a:latin typeface="Segoe UI"/>
              </a:rPr>
              <a:t>understands intent. </a:t>
            </a:r>
            <a:r>
              <a:rPr sz="1600" b="1" i="0">
                <a:solidFill>
                  <a:srgbClr val="7C5CFF"/>
                </a:solidFill>
                <a:latin typeface="Segoe UI"/>
              </a:rPr>
              <a:t>MCP servers </a:t>
            </a:r>
            <a:r>
              <a:rPr sz="1600" b="0" i="0">
                <a:solidFill>
                  <a:srgbClr val="E6ECF5"/>
                </a:solidFill>
                <a:latin typeface="Segoe UI"/>
              </a:rPr>
              <a:t>expose the data. </a:t>
            </a:r>
            <a:r>
              <a:rPr sz="1600" b="1" i="0">
                <a:solidFill>
                  <a:srgbClr val="FFB454"/>
                </a:solidFill>
                <a:latin typeface="Segoe UI"/>
              </a:rPr>
              <a:t>Skills </a:t>
            </a:r>
            <a:r>
              <a:rPr sz="1600" b="0" i="0">
                <a:solidFill>
                  <a:srgbClr val="E6ECF5"/>
                </a:solidFill>
                <a:latin typeface="Segoe UI"/>
              </a:rPr>
              <a:t>encode SOC expertise. </a:t>
            </a:r>
          </a:p>
          <a:p>
            <a:pPr algn="l">
              <a:lnSpc>
                <a:spcPct val="140000"/>
              </a:lnSpc>
            </a:pPr>
            <a:r>
              <a:rPr sz="1600" b="0" i="0">
                <a:solidFill>
                  <a:srgbClr val="E6ECF5"/>
                </a:solidFill>
                <a:latin typeface="Segoe UI"/>
              </a:rPr>
              <a:t>Every investigation compounds — </a:t>
            </a:r>
            <a:r>
              <a:rPr sz="1600" b="0" i="1">
                <a:solidFill>
                  <a:srgbClr val="3DDC97"/>
                </a:solidFill>
                <a:latin typeface="Segoe UI"/>
              </a:rPr>
              <a:t>the next one is faster than the last.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B1020"/>
        </a:solidFill>
        <a:effectLst/>
      </p:bgPr>
    </p:bg>
    <p:spTree>
      <p:nvGrpSpPr>
        <p:cNvPr id="1" name=""/>
        <p:cNvGrpSpPr/>
        <p:nvPr/>
      </p:nvGrpSpPr>
      <p:grpSpPr>
        <a:xfrm>
          <a:off x="0" y="0"/>
          <a:ext cx="0" cy="0"/>
          <a:chOff x="0" y="0"/>
          <a:chExt cx="0" cy="0"/>
        </a:xfrm>
      </p:grpSpPr>
      <p:sp>
        <p:nvSpPr>
          <p:cNvPr id="2" name="TextBox 1"/>
          <p:cNvSpPr txBox="1"/>
          <p:nvPr/>
        </p:nvSpPr>
        <p:spPr>
          <a:xfrm>
            <a:off x="548640" y="91440"/>
            <a:ext cx="10972800" cy="274320"/>
          </a:xfrm>
          <a:prstGeom prst="rect">
            <a:avLst/>
          </a:prstGeom>
          <a:noFill/>
        </p:spPr>
        <p:txBody>
          <a:bodyPr wrap="square" lIns="73152" tIns="36576" rIns="73152" bIns="36576" anchor="t">
            <a:spAutoFit/>
          </a:bodyPr>
          <a:lstStyle/>
          <a:p>
            <a:pPr algn="l">
              <a:lnSpc>
                <a:spcPct val="120000"/>
              </a:lnSpc>
            </a:pPr>
            <a:r>
              <a:rPr sz="1100" b="1" i="0">
                <a:solidFill>
                  <a:srgbClr val="4CC2FF"/>
                </a:solidFill>
                <a:latin typeface="Segoe UI"/>
              </a:rPr>
              <a:t>HOW IT FITS TOGETHER</a:t>
            </a:r>
          </a:p>
        </p:txBody>
      </p:sp>
      <p:sp>
        <p:nvSpPr>
          <p:cNvPr id="3" name="TextBox 2"/>
          <p:cNvSpPr txBox="1"/>
          <p:nvPr/>
        </p:nvSpPr>
        <p:spPr>
          <a:xfrm>
            <a:off x="548640" y="320040"/>
            <a:ext cx="11155680" cy="731520"/>
          </a:xfrm>
          <a:prstGeom prst="rect">
            <a:avLst/>
          </a:prstGeom>
          <a:noFill/>
        </p:spPr>
        <p:txBody>
          <a:bodyPr wrap="square" lIns="73152" tIns="36576" rIns="73152" bIns="36576" anchor="t">
            <a:spAutoFit/>
          </a:bodyPr>
          <a:lstStyle/>
          <a:p>
            <a:pPr algn="l">
              <a:lnSpc>
                <a:spcPct val="120000"/>
              </a:lnSpc>
            </a:pPr>
            <a:r>
              <a:rPr sz="2800" b="1" i="0">
                <a:solidFill>
                  <a:srgbClr val="FFFFFF"/>
                </a:solidFill>
                <a:latin typeface="Segoe UI"/>
              </a:rPr>
              <a:t>GitHub Copilot as the SOC's investigation fabric</a:t>
            </a:r>
          </a:p>
        </p:txBody>
      </p:sp>
      <p:sp>
        <p:nvSpPr>
          <p:cNvPr id="4" name="Rounded Rectangle 3"/>
          <p:cNvSpPr/>
          <p:nvPr/>
        </p:nvSpPr>
        <p:spPr>
          <a:xfrm>
            <a:off x="548640" y="1280160"/>
            <a:ext cx="3291840" cy="4846320"/>
          </a:xfrm>
          <a:prstGeom prst="roundRect">
            <a:avLst>
              <a:gd name="adj" fmla="val 8000"/>
            </a:avLst>
          </a:prstGeom>
          <a:solidFill>
            <a:srgbClr val="1A1536"/>
          </a:solidFill>
          <a:ln w="15875">
            <a:solidFill>
              <a:srgbClr val="7C5C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13232" y="1389888"/>
            <a:ext cx="2971800" cy="365760"/>
          </a:xfrm>
          <a:prstGeom prst="rect">
            <a:avLst/>
          </a:prstGeom>
          <a:noFill/>
        </p:spPr>
        <p:txBody>
          <a:bodyPr wrap="square" lIns="73152" tIns="36576" rIns="73152" bIns="36576" anchor="t">
            <a:spAutoFit/>
          </a:bodyPr>
          <a:lstStyle/>
          <a:p>
            <a:pPr algn="l">
              <a:lnSpc>
                <a:spcPct val="120000"/>
              </a:lnSpc>
            </a:pPr>
            <a:r>
              <a:rPr sz="1500" b="1" i="0">
                <a:solidFill>
                  <a:srgbClr val="7C5CFF"/>
                </a:solidFill>
                <a:latin typeface="Segoe UI"/>
              </a:rPr>
              <a:t>The analyst</a:t>
            </a:r>
          </a:p>
        </p:txBody>
      </p:sp>
      <p:sp>
        <p:nvSpPr>
          <p:cNvPr id="6" name="TextBox 5"/>
          <p:cNvSpPr txBox="1"/>
          <p:nvPr/>
        </p:nvSpPr>
        <p:spPr>
          <a:xfrm>
            <a:off x="713232" y="1847088"/>
            <a:ext cx="2971800" cy="4206240"/>
          </a:xfrm>
          <a:prstGeom prst="rect">
            <a:avLst/>
          </a:prstGeom>
          <a:noFill/>
        </p:spPr>
        <p:txBody>
          <a:bodyPr wrap="square" lIns="45720" tIns="27432" rIns="45720" bIns="27432">
            <a:spAutoFit/>
          </a:bodyPr>
          <a:lstStyle/>
          <a:p>
            <a:pPr algn="l">
              <a:lnSpc>
                <a:spcPct val="125000"/>
              </a:lnSpc>
            </a:pPr>
            <a:r>
              <a:rPr sz="1200">
                <a:solidFill>
                  <a:srgbClr val="E6ECF5"/>
                </a:solidFill>
                <a:latin typeface="Segoe UI"/>
              </a:rPr>
              <a:t>• Works in VS Code with Copilot Chat</a:t>
            </a:r>
          </a:p>
          <a:p>
            <a:pPr algn="l">
              <a:lnSpc>
                <a:spcPct val="125000"/>
              </a:lnSpc>
            </a:pPr>
            <a:r>
              <a:rPr sz="1200">
                <a:solidFill>
                  <a:srgbClr val="E6ECF5"/>
                </a:solidFill>
                <a:latin typeface="Segoe UI"/>
              </a:rPr>
              <a:t>• Asks in natural language</a:t>
            </a:r>
          </a:p>
          <a:p>
            <a:pPr algn="l">
              <a:lnSpc>
                <a:spcPct val="125000"/>
              </a:lnSpc>
            </a:pPr>
            <a:r>
              <a:rPr sz="1200">
                <a:solidFill>
                  <a:srgbClr val="E6ECF5"/>
                </a:solidFill>
                <a:latin typeface="Segoe UI"/>
              </a:rPr>
              <a:t>• No KQL, no SDKs, no portal-hopping</a:t>
            </a:r>
          </a:p>
          <a:p>
            <a:pPr algn="l">
              <a:lnSpc>
                <a:spcPct val="125000"/>
              </a:lnSpc>
            </a:pPr>
            <a:r>
              <a:rPr sz="1200">
                <a:solidFill>
                  <a:srgbClr val="E6ECF5"/>
                </a:solidFill>
                <a:latin typeface="Segoe UI"/>
              </a:rPr>
              <a:t>• Stays in the flow of the investigation</a:t>
            </a:r>
          </a:p>
        </p:txBody>
      </p:sp>
      <p:sp>
        <p:nvSpPr>
          <p:cNvPr id="7" name="Rounded Rectangle 6"/>
          <p:cNvSpPr/>
          <p:nvPr/>
        </p:nvSpPr>
        <p:spPr>
          <a:xfrm>
            <a:off x="4023360" y="1280160"/>
            <a:ext cx="4023360" cy="4846320"/>
          </a:xfrm>
          <a:prstGeom prst="roundRect">
            <a:avLst>
              <a:gd name="adj" fmla="val 8000"/>
            </a:avLst>
          </a:prstGeom>
          <a:solidFill>
            <a:srgbClr val="141834"/>
          </a:solidFill>
          <a:ln w="15875">
            <a:solidFill>
              <a:srgbClr val="7C5C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187952" y="1389888"/>
            <a:ext cx="3703320" cy="365760"/>
          </a:xfrm>
          <a:prstGeom prst="rect">
            <a:avLst/>
          </a:prstGeom>
          <a:noFill/>
        </p:spPr>
        <p:txBody>
          <a:bodyPr wrap="square" lIns="73152" tIns="36576" rIns="73152" bIns="36576" anchor="t">
            <a:spAutoFit/>
          </a:bodyPr>
          <a:lstStyle/>
          <a:p>
            <a:pPr algn="l">
              <a:lnSpc>
                <a:spcPct val="120000"/>
              </a:lnSpc>
            </a:pPr>
            <a:r>
              <a:rPr sz="1500" b="1" i="0">
                <a:solidFill>
                  <a:srgbClr val="4CC2FF"/>
                </a:solidFill>
                <a:latin typeface="Segoe UI"/>
              </a:rPr>
              <a:t>GitHub Copilot</a:t>
            </a:r>
          </a:p>
        </p:txBody>
      </p:sp>
      <p:sp>
        <p:nvSpPr>
          <p:cNvPr id="9" name="TextBox 8"/>
          <p:cNvSpPr txBox="1"/>
          <p:nvPr/>
        </p:nvSpPr>
        <p:spPr>
          <a:xfrm>
            <a:off x="4187952" y="1847088"/>
            <a:ext cx="3703320" cy="4206240"/>
          </a:xfrm>
          <a:prstGeom prst="rect">
            <a:avLst/>
          </a:prstGeom>
          <a:noFill/>
        </p:spPr>
        <p:txBody>
          <a:bodyPr wrap="square" lIns="45720" tIns="27432" rIns="45720" bIns="27432">
            <a:spAutoFit/>
          </a:bodyPr>
          <a:lstStyle/>
          <a:p>
            <a:pPr algn="l">
              <a:lnSpc>
                <a:spcPct val="125000"/>
              </a:lnSpc>
            </a:pPr>
            <a:r>
              <a:rPr sz="1200">
                <a:solidFill>
                  <a:srgbClr val="E6ECF5"/>
                </a:solidFill>
                <a:latin typeface="Segoe UI"/>
              </a:rPr>
              <a:t>• Routes intent to the right Skill</a:t>
            </a:r>
          </a:p>
          <a:p>
            <a:pPr algn="l">
              <a:lnSpc>
                <a:spcPct val="125000"/>
              </a:lnSpc>
            </a:pPr>
            <a:r>
              <a:rPr sz="1200">
                <a:solidFill>
                  <a:srgbClr val="E6ECF5"/>
                </a:solidFill>
                <a:latin typeface="Segoe UI"/>
              </a:rPr>
              <a:t>• Skills = encoded SOC playbooks</a:t>
            </a:r>
          </a:p>
          <a:p>
            <a:pPr algn="l">
              <a:lnSpc>
                <a:spcPct val="125000"/>
              </a:lnSpc>
            </a:pPr>
            <a:r>
              <a:rPr sz="1200">
                <a:solidFill>
                  <a:srgbClr val="E6ECF5"/>
                </a:solidFill>
                <a:latin typeface="Segoe UI"/>
              </a:rPr>
              <a:t>• Incident · endpoint · IOC · enrichment</a:t>
            </a:r>
          </a:p>
          <a:p>
            <a:pPr algn="l">
              <a:lnSpc>
                <a:spcPct val="125000"/>
              </a:lnSpc>
            </a:pPr>
            <a:r>
              <a:rPr sz="1200">
                <a:solidFill>
                  <a:srgbClr val="E6ECF5"/>
                </a:solidFill>
                <a:latin typeface="Segoe UI"/>
              </a:rPr>
              <a:t>• Detection eng. · exposure · response</a:t>
            </a:r>
          </a:p>
          <a:p>
            <a:pPr algn="l">
              <a:lnSpc>
                <a:spcPct val="125000"/>
              </a:lnSpc>
            </a:pPr>
            <a:r>
              <a:rPr sz="1200">
                <a:solidFill>
                  <a:srgbClr val="E6ECF5"/>
                </a:solidFill>
                <a:latin typeface="Segoe UI"/>
              </a:rPr>
              <a:t>• Generates HTML/JSON reports</a:t>
            </a:r>
          </a:p>
          <a:p>
            <a:pPr algn="l">
              <a:lnSpc>
                <a:spcPct val="125000"/>
              </a:lnSpc>
            </a:pPr>
            <a:r>
              <a:rPr sz="1200">
                <a:solidFill>
                  <a:srgbClr val="E6ECF5"/>
                </a:solidFill>
                <a:latin typeface="Segoe UI"/>
              </a:rPr>
              <a:t>• Evidence-based: every claim cites a query</a:t>
            </a:r>
          </a:p>
        </p:txBody>
      </p:sp>
      <p:sp>
        <p:nvSpPr>
          <p:cNvPr id="10" name="Rounded Rectangle 9"/>
          <p:cNvSpPr/>
          <p:nvPr/>
        </p:nvSpPr>
        <p:spPr>
          <a:xfrm>
            <a:off x="8229600" y="1280160"/>
            <a:ext cx="3383280" cy="4846320"/>
          </a:xfrm>
          <a:prstGeom prst="roundRect">
            <a:avLst>
              <a:gd name="adj" fmla="val 8000"/>
            </a:avLst>
          </a:prstGeom>
          <a:solidFill>
            <a:srgbClr val="102B22"/>
          </a:solidFill>
          <a:ln w="15875">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394192" y="1389888"/>
            <a:ext cx="3063240" cy="365760"/>
          </a:xfrm>
          <a:prstGeom prst="rect">
            <a:avLst/>
          </a:prstGeom>
          <a:noFill/>
        </p:spPr>
        <p:txBody>
          <a:bodyPr wrap="square" lIns="73152" tIns="36576" rIns="73152" bIns="36576" anchor="t">
            <a:spAutoFit/>
          </a:bodyPr>
          <a:lstStyle/>
          <a:p>
            <a:pPr algn="l">
              <a:lnSpc>
                <a:spcPct val="120000"/>
              </a:lnSpc>
            </a:pPr>
            <a:r>
              <a:rPr sz="1500" b="1" i="0">
                <a:solidFill>
                  <a:srgbClr val="3DDC97"/>
                </a:solidFill>
                <a:latin typeface="Segoe UI"/>
              </a:rPr>
              <a:t>Data via MCP</a:t>
            </a:r>
          </a:p>
        </p:txBody>
      </p:sp>
      <p:sp>
        <p:nvSpPr>
          <p:cNvPr id="12" name="TextBox 11"/>
          <p:cNvSpPr txBox="1"/>
          <p:nvPr/>
        </p:nvSpPr>
        <p:spPr>
          <a:xfrm>
            <a:off x="8394192" y="1847088"/>
            <a:ext cx="3063240" cy="4206240"/>
          </a:xfrm>
          <a:prstGeom prst="rect">
            <a:avLst/>
          </a:prstGeom>
          <a:noFill/>
        </p:spPr>
        <p:txBody>
          <a:bodyPr wrap="square" lIns="45720" tIns="27432" rIns="45720" bIns="27432">
            <a:spAutoFit/>
          </a:bodyPr>
          <a:lstStyle/>
          <a:p>
            <a:pPr algn="l">
              <a:lnSpc>
                <a:spcPct val="125000"/>
              </a:lnSpc>
            </a:pPr>
            <a:r>
              <a:rPr sz="1200">
                <a:solidFill>
                  <a:srgbClr val="E6ECF5"/>
                </a:solidFill>
                <a:latin typeface="Segoe UI"/>
              </a:rPr>
              <a:t>• Sentinel Data Lake (KQL)</a:t>
            </a:r>
          </a:p>
          <a:p>
            <a:pPr algn="l">
              <a:lnSpc>
                <a:spcPct val="125000"/>
              </a:lnSpc>
            </a:pPr>
            <a:r>
              <a:rPr sz="1200">
                <a:solidFill>
                  <a:srgbClr val="E6ECF5"/>
                </a:solidFill>
                <a:latin typeface="Segoe UI"/>
              </a:rPr>
              <a:t>• Defender XDR Triage / Adv. Hunting</a:t>
            </a:r>
          </a:p>
          <a:p>
            <a:pPr algn="l">
              <a:lnSpc>
                <a:spcPct val="125000"/>
              </a:lnSpc>
            </a:pPr>
            <a:r>
              <a:rPr sz="1200">
                <a:solidFill>
                  <a:srgbClr val="E6ECF5"/>
                </a:solidFill>
                <a:latin typeface="Segoe UI"/>
              </a:rPr>
              <a:t>• Microsoft Graph Security</a:t>
            </a:r>
          </a:p>
          <a:p>
            <a:pPr algn="l">
              <a:lnSpc>
                <a:spcPct val="125000"/>
              </a:lnSpc>
            </a:pPr>
            <a:r>
              <a:rPr sz="1200">
                <a:solidFill>
                  <a:srgbClr val="E6ECF5"/>
                </a:solidFill>
                <a:latin typeface="Segoe UI"/>
              </a:rPr>
              <a:t>• Sentinel Graph (blast radius)</a:t>
            </a:r>
          </a:p>
          <a:p>
            <a:pPr algn="l">
              <a:lnSpc>
                <a:spcPct val="125000"/>
              </a:lnSpc>
            </a:pPr>
            <a:r>
              <a:rPr sz="1200">
                <a:solidFill>
                  <a:srgbClr val="E6ECF5"/>
                </a:solidFill>
                <a:latin typeface="Segoe UI"/>
              </a:rPr>
              <a:t>• Microsoft Learn (docs)</a:t>
            </a:r>
          </a:p>
          <a:p>
            <a:pPr algn="l">
              <a:lnSpc>
                <a:spcPct val="125000"/>
              </a:lnSpc>
            </a:pPr>
            <a:r>
              <a:rPr sz="1200">
                <a:solidFill>
                  <a:srgbClr val="E6ECF5"/>
                </a:solidFill>
                <a:latin typeface="Segoe UI"/>
              </a:rPr>
              <a:t>• Azure MCP, GitHub MCP, …</a:t>
            </a:r>
          </a:p>
        </p:txBody>
      </p:sp>
      <p:sp>
        <p:nvSpPr>
          <p:cNvPr id="13" name="TextBox 12"/>
          <p:cNvSpPr txBox="1"/>
          <p:nvPr/>
        </p:nvSpPr>
        <p:spPr>
          <a:xfrm>
            <a:off x="548640" y="6537960"/>
            <a:ext cx="11155680" cy="274320"/>
          </a:xfrm>
          <a:prstGeom prst="rect">
            <a:avLst/>
          </a:prstGeom>
          <a:noFill/>
        </p:spPr>
        <p:txBody>
          <a:bodyPr wrap="square" lIns="73152" tIns="36576" rIns="73152" bIns="36576" anchor="t">
            <a:spAutoFit/>
          </a:bodyPr>
          <a:lstStyle/>
          <a:p>
            <a:pPr algn="l">
              <a:lnSpc>
                <a:spcPct val="120000"/>
              </a:lnSpc>
            </a:pPr>
            <a:r>
              <a:rPr sz="1000" b="0" i="0">
                <a:solidFill>
                  <a:srgbClr val="9AA7BD"/>
                </a:solidFill>
                <a:latin typeface="Segoe UI"/>
              </a:rPr>
              <a:t>02 · Architecture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B1020"/>
        </a:solidFill>
        <a:effectLst/>
      </p:bgPr>
    </p:bg>
    <p:spTree>
      <p:nvGrpSpPr>
        <p:cNvPr id="1" name=""/>
        <p:cNvGrpSpPr/>
        <p:nvPr/>
      </p:nvGrpSpPr>
      <p:grpSpPr>
        <a:xfrm>
          <a:off x="0" y="0"/>
          <a:ext cx="0" cy="0"/>
          <a:chOff x="0" y="0"/>
          <a:chExt cx="0" cy="0"/>
        </a:xfrm>
      </p:grpSpPr>
      <p:sp>
        <p:nvSpPr>
          <p:cNvPr id="2" name="TextBox 1"/>
          <p:cNvSpPr txBox="1"/>
          <p:nvPr/>
        </p:nvSpPr>
        <p:spPr>
          <a:xfrm>
            <a:off x="548640" y="91440"/>
            <a:ext cx="10972800" cy="274320"/>
          </a:xfrm>
          <a:prstGeom prst="rect">
            <a:avLst/>
          </a:prstGeom>
          <a:noFill/>
        </p:spPr>
        <p:txBody>
          <a:bodyPr wrap="square" lIns="73152" tIns="36576" rIns="73152" bIns="36576" anchor="t">
            <a:spAutoFit/>
          </a:bodyPr>
          <a:lstStyle/>
          <a:p>
            <a:pPr algn="l">
              <a:lnSpc>
                <a:spcPct val="120000"/>
              </a:lnSpc>
            </a:pPr>
            <a:r>
              <a:rPr sz="1100" b="1" i="0">
                <a:solidFill>
                  <a:srgbClr val="4CC2FF"/>
                </a:solidFill>
                <a:latin typeface="Segoe UI"/>
              </a:rPr>
              <a:t>ARCHITECTURE · THE COMPONENTS BEHIND</a:t>
            </a:r>
          </a:p>
        </p:txBody>
      </p:sp>
      <p:sp>
        <p:nvSpPr>
          <p:cNvPr id="3" name="TextBox 2"/>
          <p:cNvSpPr txBox="1"/>
          <p:nvPr/>
        </p:nvSpPr>
        <p:spPr>
          <a:xfrm>
            <a:off x="548640" y="320040"/>
            <a:ext cx="11155680" cy="731520"/>
          </a:xfrm>
          <a:prstGeom prst="rect">
            <a:avLst/>
          </a:prstGeom>
          <a:noFill/>
        </p:spPr>
        <p:txBody>
          <a:bodyPr wrap="square" lIns="73152" tIns="36576" rIns="73152" bIns="36576" anchor="t">
            <a:spAutoFit/>
          </a:bodyPr>
          <a:lstStyle/>
          <a:p>
            <a:pPr algn="l">
              <a:lnSpc>
                <a:spcPct val="120000"/>
              </a:lnSpc>
            </a:pPr>
            <a:r>
              <a:rPr sz="2200" b="1" i="0">
                <a:solidFill>
                  <a:srgbClr val="FFFFFF"/>
                </a:solidFill>
                <a:latin typeface="Segoe UI"/>
              </a:rPr>
              <a:t>From heterogeneous sources to persona-specific intelligence</a:t>
            </a:r>
          </a:p>
        </p:txBody>
      </p:sp>
      <p:sp>
        <p:nvSpPr>
          <p:cNvPr id="4" name="Rounded Rectangle 3"/>
          <p:cNvSpPr/>
          <p:nvPr/>
        </p:nvSpPr>
        <p:spPr>
          <a:xfrm>
            <a:off x="548640" y="960120"/>
            <a:ext cx="11155680" cy="777240"/>
          </a:xfrm>
          <a:prstGeom prst="roundRect">
            <a:avLst>
              <a:gd name="adj" fmla="val 4000"/>
            </a:avLst>
          </a:prstGeom>
          <a:solidFill>
            <a:srgbClr val="161B22"/>
          </a:solidFill>
          <a:ln w="9525">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005840"/>
            <a:ext cx="3840480" cy="274320"/>
          </a:xfrm>
          <a:prstGeom prst="rect">
            <a:avLst/>
          </a:prstGeom>
          <a:noFill/>
        </p:spPr>
        <p:txBody>
          <a:bodyPr wrap="square" lIns="73152" tIns="36576" rIns="73152" bIns="36576" anchor="t">
            <a:spAutoFit/>
          </a:bodyPr>
          <a:lstStyle/>
          <a:p>
            <a:pPr algn="l">
              <a:lnSpc>
                <a:spcPct val="120000"/>
              </a:lnSpc>
            </a:pPr>
            <a:r>
              <a:rPr sz="1100" b="1" i="0">
                <a:solidFill>
                  <a:srgbClr val="FFFFFF"/>
                </a:solidFill>
                <a:latin typeface="Segoe UI"/>
              </a:rPr>
              <a:t>☁ DATA SOURCES</a:t>
            </a:r>
          </a:p>
        </p:txBody>
      </p:sp>
      <p:sp>
        <p:nvSpPr>
          <p:cNvPr id="6" name="Rounded Rectangle 5"/>
          <p:cNvSpPr/>
          <p:nvPr/>
        </p:nvSpPr>
        <p:spPr>
          <a:xfrm>
            <a:off x="1380743" y="1371600"/>
            <a:ext cx="1143000" cy="274320"/>
          </a:xfrm>
          <a:prstGeom prst="roundRect">
            <a:avLst>
              <a:gd name="adj" fmla="val 50000"/>
            </a:avLst>
          </a:prstGeom>
          <a:solidFill>
            <a:srgbClr val="0F213A"/>
          </a:solidFill>
          <a:ln w="762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380743" y="1385316"/>
            <a:ext cx="1143000" cy="256031"/>
          </a:xfrm>
          <a:prstGeom prst="rect">
            <a:avLst/>
          </a:prstGeom>
          <a:noFill/>
        </p:spPr>
        <p:txBody>
          <a:bodyPr wrap="square" lIns="73152" tIns="36576" rIns="73152" bIns="36576" anchor="ctr">
            <a:spAutoFit/>
          </a:bodyPr>
          <a:lstStyle/>
          <a:p>
            <a:pPr algn="ctr">
              <a:lnSpc>
                <a:spcPct val="120000"/>
              </a:lnSpc>
            </a:pPr>
            <a:r>
              <a:rPr sz="900" b="1" i="0">
                <a:solidFill>
                  <a:srgbClr val="79C0FF"/>
                </a:solidFill>
                <a:latin typeface="Segoe UI"/>
              </a:rPr>
              <a:t>Defender XDR</a:t>
            </a:r>
          </a:p>
        </p:txBody>
      </p:sp>
      <p:sp>
        <p:nvSpPr>
          <p:cNvPr id="8" name="Rounded Rectangle 7"/>
          <p:cNvSpPr/>
          <p:nvPr/>
        </p:nvSpPr>
        <p:spPr>
          <a:xfrm>
            <a:off x="2587751" y="1371600"/>
            <a:ext cx="1554479" cy="274320"/>
          </a:xfrm>
          <a:prstGeom prst="roundRect">
            <a:avLst>
              <a:gd name="adj" fmla="val 50000"/>
            </a:avLst>
          </a:prstGeom>
          <a:solidFill>
            <a:srgbClr val="0F213A"/>
          </a:solidFill>
          <a:ln w="762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587751" y="1385316"/>
            <a:ext cx="1554479" cy="256031"/>
          </a:xfrm>
          <a:prstGeom prst="rect">
            <a:avLst/>
          </a:prstGeom>
          <a:noFill/>
        </p:spPr>
        <p:txBody>
          <a:bodyPr wrap="square" lIns="73152" tIns="36576" rIns="73152" bIns="36576" anchor="ctr">
            <a:spAutoFit/>
          </a:bodyPr>
          <a:lstStyle/>
          <a:p>
            <a:pPr algn="ctr">
              <a:lnSpc>
                <a:spcPct val="120000"/>
              </a:lnSpc>
            </a:pPr>
            <a:r>
              <a:rPr sz="900" b="1" i="0">
                <a:solidFill>
                  <a:srgbClr val="79C0FF"/>
                </a:solidFill>
                <a:latin typeface="Segoe UI"/>
              </a:rPr>
              <a:t>Defender for Cloud</a:t>
            </a:r>
          </a:p>
        </p:txBody>
      </p:sp>
      <p:sp>
        <p:nvSpPr>
          <p:cNvPr id="10" name="Rounded Rectangle 9"/>
          <p:cNvSpPr/>
          <p:nvPr/>
        </p:nvSpPr>
        <p:spPr>
          <a:xfrm>
            <a:off x="4206239" y="1371600"/>
            <a:ext cx="868680" cy="274320"/>
          </a:xfrm>
          <a:prstGeom prst="roundRect">
            <a:avLst>
              <a:gd name="adj" fmla="val 50000"/>
            </a:avLst>
          </a:prstGeom>
          <a:solidFill>
            <a:srgbClr val="0F213A"/>
          </a:solidFill>
          <a:ln w="762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206239" y="1385316"/>
            <a:ext cx="868680" cy="256031"/>
          </a:xfrm>
          <a:prstGeom prst="rect">
            <a:avLst/>
          </a:prstGeom>
          <a:noFill/>
        </p:spPr>
        <p:txBody>
          <a:bodyPr wrap="square" lIns="73152" tIns="36576" rIns="73152" bIns="36576" anchor="ctr">
            <a:spAutoFit/>
          </a:bodyPr>
          <a:lstStyle/>
          <a:p>
            <a:pPr algn="ctr">
              <a:lnSpc>
                <a:spcPct val="120000"/>
              </a:lnSpc>
            </a:pPr>
            <a:r>
              <a:rPr sz="900" b="1" i="0">
                <a:solidFill>
                  <a:srgbClr val="79C0FF"/>
                </a:solidFill>
                <a:latin typeface="Segoe UI"/>
              </a:rPr>
              <a:t>Entra ID</a:t>
            </a:r>
          </a:p>
        </p:txBody>
      </p:sp>
      <p:sp>
        <p:nvSpPr>
          <p:cNvPr id="12" name="Rounded Rectangle 11"/>
          <p:cNvSpPr/>
          <p:nvPr/>
        </p:nvSpPr>
        <p:spPr>
          <a:xfrm>
            <a:off x="5138927" y="1371600"/>
            <a:ext cx="800100" cy="274320"/>
          </a:xfrm>
          <a:prstGeom prst="roundRect">
            <a:avLst>
              <a:gd name="adj" fmla="val 50000"/>
            </a:avLst>
          </a:prstGeom>
          <a:solidFill>
            <a:srgbClr val="0F213A"/>
          </a:solidFill>
          <a:ln w="762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138927" y="1385316"/>
            <a:ext cx="800100" cy="256031"/>
          </a:xfrm>
          <a:prstGeom prst="rect">
            <a:avLst/>
          </a:prstGeom>
          <a:noFill/>
        </p:spPr>
        <p:txBody>
          <a:bodyPr wrap="square" lIns="73152" tIns="36576" rIns="73152" bIns="36576" anchor="ctr">
            <a:spAutoFit/>
          </a:bodyPr>
          <a:lstStyle/>
          <a:p>
            <a:pPr algn="ctr">
              <a:lnSpc>
                <a:spcPct val="120000"/>
              </a:lnSpc>
            </a:pPr>
            <a:r>
              <a:rPr sz="900" b="1" i="0">
                <a:solidFill>
                  <a:srgbClr val="79C0FF"/>
                </a:solidFill>
                <a:latin typeface="Segoe UI"/>
              </a:rPr>
              <a:t>Purview</a:t>
            </a:r>
          </a:p>
        </p:txBody>
      </p:sp>
      <p:sp>
        <p:nvSpPr>
          <p:cNvPr id="14" name="Rounded Rectangle 13"/>
          <p:cNvSpPr/>
          <p:nvPr/>
        </p:nvSpPr>
        <p:spPr>
          <a:xfrm>
            <a:off x="6003036" y="1371600"/>
            <a:ext cx="1074419" cy="274320"/>
          </a:xfrm>
          <a:prstGeom prst="roundRect">
            <a:avLst>
              <a:gd name="adj" fmla="val 50000"/>
            </a:avLst>
          </a:prstGeom>
          <a:solidFill>
            <a:srgbClr val="1C1032"/>
          </a:solidFill>
          <a:ln w="7620">
            <a:solidFill>
              <a:srgbClr val="8957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003036" y="1385316"/>
            <a:ext cx="1074419" cy="256031"/>
          </a:xfrm>
          <a:prstGeom prst="rect">
            <a:avLst/>
          </a:prstGeom>
          <a:noFill/>
        </p:spPr>
        <p:txBody>
          <a:bodyPr wrap="square" lIns="73152" tIns="36576" rIns="73152" bIns="36576" anchor="ctr">
            <a:spAutoFit/>
          </a:bodyPr>
          <a:lstStyle/>
          <a:p>
            <a:pPr algn="ctr">
              <a:lnSpc>
                <a:spcPct val="120000"/>
              </a:lnSpc>
            </a:pPr>
            <a:r>
              <a:rPr sz="900" b="1" i="0">
                <a:solidFill>
                  <a:srgbClr val="BC8CFF"/>
                </a:solidFill>
                <a:latin typeface="Segoe UI"/>
              </a:rPr>
              <a:t>CrowdStrike</a:t>
            </a:r>
          </a:p>
        </p:txBody>
      </p:sp>
      <p:sp>
        <p:nvSpPr>
          <p:cNvPr id="16" name="Rounded Rectangle 15"/>
          <p:cNvSpPr/>
          <p:nvPr/>
        </p:nvSpPr>
        <p:spPr>
          <a:xfrm>
            <a:off x="7141464" y="1371600"/>
            <a:ext cx="731519" cy="274320"/>
          </a:xfrm>
          <a:prstGeom prst="roundRect">
            <a:avLst>
              <a:gd name="adj" fmla="val 50000"/>
            </a:avLst>
          </a:prstGeom>
          <a:solidFill>
            <a:srgbClr val="1C1032"/>
          </a:solidFill>
          <a:ln w="7620">
            <a:solidFill>
              <a:srgbClr val="8957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141464" y="1385316"/>
            <a:ext cx="731519" cy="256031"/>
          </a:xfrm>
          <a:prstGeom prst="rect">
            <a:avLst/>
          </a:prstGeom>
          <a:noFill/>
        </p:spPr>
        <p:txBody>
          <a:bodyPr wrap="square" lIns="73152" tIns="36576" rIns="73152" bIns="36576" anchor="ctr">
            <a:spAutoFit/>
          </a:bodyPr>
          <a:lstStyle/>
          <a:p>
            <a:pPr algn="ctr">
              <a:lnSpc>
                <a:spcPct val="120000"/>
              </a:lnSpc>
            </a:pPr>
            <a:r>
              <a:rPr sz="900" b="1" i="0">
                <a:solidFill>
                  <a:srgbClr val="BC8CFF"/>
                </a:solidFill>
                <a:latin typeface="Segoe UI"/>
              </a:rPr>
              <a:t>Qualys</a:t>
            </a:r>
          </a:p>
        </p:txBody>
      </p:sp>
      <p:sp>
        <p:nvSpPr>
          <p:cNvPr id="18" name="Rounded Rectangle 17"/>
          <p:cNvSpPr/>
          <p:nvPr/>
        </p:nvSpPr>
        <p:spPr>
          <a:xfrm>
            <a:off x="7936992" y="1371600"/>
            <a:ext cx="800100" cy="274320"/>
          </a:xfrm>
          <a:prstGeom prst="roundRect">
            <a:avLst>
              <a:gd name="adj" fmla="val 50000"/>
            </a:avLst>
          </a:prstGeom>
          <a:solidFill>
            <a:srgbClr val="1C1032"/>
          </a:solidFill>
          <a:ln w="7620">
            <a:solidFill>
              <a:srgbClr val="8957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936992" y="1385316"/>
            <a:ext cx="800100" cy="256031"/>
          </a:xfrm>
          <a:prstGeom prst="rect">
            <a:avLst/>
          </a:prstGeom>
          <a:noFill/>
        </p:spPr>
        <p:txBody>
          <a:bodyPr wrap="square" lIns="73152" tIns="36576" rIns="73152" bIns="36576" anchor="ctr">
            <a:spAutoFit/>
          </a:bodyPr>
          <a:lstStyle/>
          <a:p>
            <a:pPr algn="ctr">
              <a:lnSpc>
                <a:spcPct val="120000"/>
              </a:lnSpc>
            </a:pPr>
            <a:r>
              <a:rPr sz="900" b="1" i="0">
                <a:solidFill>
                  <a:srgbClr val="BC8CFF"/>
                </a:solidFill>
                <a:latin typeface="Segoe UI"/>
              </a:rPr>
              <a:t>Tenable</a:t>
            </a:r>
          </a:p>
        </p:txBody>
      </p:sp>
      <p:sp>
        <p:nvSpPr>
          <p:cNvPr id="20" name="Rounded Rectangle 19"/>
          <p:cNvSpPr/>
          <p:nvPr/>
        </p:nvSpPr>
        <p:spPr>
          <a:xfrm>
            <a:off x="8801100" y="1371600"/>
            <a:ext cx="640080" cy="274320"/>
          </a:xfrm>
          <a:prstGeom prst="roundRect">
            <a:avLst>
              <a:gd name="adj" fmla="val 50000"/>
            </a:avLst>
          </a:prstGeom>
          <a:solidFill>
            <a:srgbClr val="2A1F10"/>
          </a:solidFill>
          <a:ln w="7620">
            <a:solidFill>
              <a:srgbClr val="D299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801100" y="1385316"/>
            <a:ext cx="640080" cy="256031"/>
          </a:xfrm>
          <a:prstGeom prst="rect">
            <a:avLst/>
          </a:prstGeom>
          <a:noFill/>
        </p:spPr>
        <p:txBody>
          <a:bodyPr wrap="square" lIns="73152" tIns="36576" rIns="73152" bIns="36576" anchor="ctr">
            <a:spAutoFit/>
          </a:bodyPr>
          <a:lstStyle/>
          <a:p>
            <a:pPr algn="ctr">
              <a:lnSpc>
                <a:spcPct val="120000"/>
              </a:lnSpc>
            </a:pPr>
            <a:r>
              <a:rPr sz="900" b="1" i="0">
                <a:solidFill>
                  <a:srgbClr val="E3B341"/>
                </a:solidFill>
                <a:latin typeface="Segoe UI"/>
              </a:rPr>
              <a:t>AWS</a:t>
            </a:r>
          </a:p>
        </p:txBody>
      </p:sp>
      <p:sp>
        <p:nvSpPr>
          <p:cNvPr id="22" name="Rounded Rectangle 21"/>
          <p:cNvSpPr/>
          <p:nvPr/>
        </p:nvSpPr>
        <p:spPr>
          <a:xfrm>
            <a:off x="9505188" y="1371600"/>
            <a:ext cx="640080" cy="274320"/>
          </a:xfrm>
          <a:prstGeom prst="roundRect">
            <a:avLst>
              <a:gd name="adj" fmla="val 50000"/>
            </a:avLst>
          </a:prstGeom>
          <a:solidFill>
            <a:srgbClr val="2A1F10"/>
          </a:solidFill>
          <a:ln w="7620">
            <a:solidFill>
              <a:srgbClr val="D299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505188" y="1385316"/>
            <a:ext cx="640080" cy="256031"/>
          </a:xfrm>
          <a:prstGeom prst="rect">
            <a:avLst/>
          </a:prstGeom>
          <a:noFill/>
        </p:spPr>
        <p:txBody>
          <a:bodyPr wrap="square" lIns="73152" tIns="36576" rIns="73152" bIns="36576" anchor="ctr">
            <a:spAutoFit/>
          </a:bodyPr>
          <a:lstStyle/>
          <a:p>
            <a:pPr algn="ctr">
              <a:lnSpc>
                <a:spcPct val="120000"/>
              </a:lnSpc>
            </a:pPr>
            <a:r>
              <a:rPr sz="900" b="1" i="0">
                <a:solidFill>
                  <a:srgbClr val="E3B341"/>
                </a:solidFill>
                <a:latin typeface="Segoe UI"/>
              </a:rPr>
              <a:t>GCP</a:t>
            </a:r>
          </a:p>
        </p:txBody>
      </p:sp>
      <p:sp>
        <p:nvSpPr>
          <p:cNvPr id="24" name="Rounded Rectangle 23"/>
          <p:cNvSpPr/>
          <p:nvPr/>
        </p:nvSpPr>
        <p:spPr>
          <a:xfrm>
            <a:off x="10209276" y="1371600"/>
            <a:ext cx="662940" cy="274320"/>
          </a:xfrm>
          <a:prstGeom prst="roundRect">
            <a:avLst>
              <a:gd name="adj" fmla="val 50000"/>
            </a:avLst>
          </a:prstGeom>
          <a:solidFill>
            <a:srgbClr val="2A1F10"/>
          </a:solidFill>
          <a:ln w="7620">
            <a:solidFill>
              <a:srgbClr val="D299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0209276" y="1385316"/>
            <a:ext cx="662940" cy="256031"/>
          </a:xfrm>
          <a:prstGeom prst="rect">
            <a:avLst/>
          </a:prstGeom>
          <a:noFill/>
        </p:spPr>
        <p:txBody>
          <a:bodyPr wrap="square" lIns="73152" tIns="36576" rIns="73152" bIns="36576" anchor="ctr">
            <a:spAutoFit/>
          </a:bodyPr>
          <a:lstStyle/>
          <a:p>
            <a:pPr algn="ctr">
              <a:lnSpc>
                <a:spcPct val="120000"/>
              </a:lnSpc>
            </a:pPr>
            <a:r>
              <a:rPr sz="900" b="1" i="0">
                <a:solidFill>
                  <a:srgbClr val="E3B341"/>
                </a:solidFill>
                <a:latin typeface="Segoe UI"/>
              </a:rPr>
              <a:t>Azure</a:t>
            </a:r>
          </a:p>
        </p:txBody>
      </p:sp>
      <p:sp>
        <p:nvSpPr>
          <p:cNvPr id="26" name="Rectangle 25"/>
          <p:cNvSpPr/>
          <p:nvPr/>
        </p:nvSpPr>
        <p:spPr>
          <a:xfrm>
            <a:off x="6021324" y="1764792"/>
            <a:ext cx="27432" cy="1645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Isosceles Triangle 26"/>
          <p:cNvSpPr/>
          <p:nvPr/>
        </p:nvSpPr>
        <p:spPr>
          <a:xfrm rot="10800000">
            <a:off x="5943600" y="1911095"/>
            <a:ext cx="182880" cy="146304"/>
          </a:xfrm>
          <a:prstGeom prst="triangl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548640" y="1920240"/>
            <a:ext cx="11155680" cy="164592"/>
          </a:xfrm>
          <a:prstGeom prst="rect">
            <a:avLst/>
          </a:prstGeom>
          <a:noFill/>
        </p:spPr>
        <p:txBody>
          <a:bodyPr wrap="square" lIns="73152" tIns="36576" rIns="73152" bIns="36576" anchor="t">
            <a:spAutoFit/>
          </a:bodyPr>
          <a:lstStyle/>
          <a:p>
            <a:pPr algn="ctr">
              <a:lnSpc>
                <a:spcPct val="120000"/>
              </a:lnSpc>
            </a:pPr>
            <a:r>
              <a:rPr sz="900" b="0" i="1">
                <a:solidFill>
                  <a:srgbClr val="9AA7BD"/>
                </a:solidFill>
                <a:latin typeface="Segoe UI"/>
              </a:rPr>
              <a:t>Sentinel Data Connectors (300+) · Log Ingestion API / DCR</a:t>
            </a:r>
          </a:p>
        </p:txBody>
      </p:sp>
      <p:sp>
        <p:nvSpPr>
          <p:cNvPr id="29" name="Rounded Rectangle 28"/>
          <p:cNvSpPr/>
          <p:nvPr/>
        </p:nvSpPr>
        <p:spPr>
          <a:xfrm>
            <a:off x="548640" y="2121408"/>
            <a:ext cx="11155680" cy="713232"/>
          </a:xfrm>
          <a:prstGeom prst="roundRect">
            <a:avLst>
              <a:gd name="adj" fmla="val 4000"/>
            </a:avLst>
          </a:prstGeom>
          <a:solidFill>
            <a:srgbClr val="0C2D6B"/>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31520" y="2157984"/>
            <a:ext cx="5486400" cy="274320"/>
          </a:xfrm>
          <a:prstGeom prst="rect">
            <a:avLst/>
          </a:prstGeom>
          <a:noFill/>
        </p:spPr>
        <p:txBody>
          <a:bodyPr wrap="square" lIns="73152" tIns="36576" rIns="73152" bIns="36576" anchor="t">
            <a:spAutoFit/>
          </a:bodyPr>
          <a:lstStyle/>
          <a:p>
            <a:pPr algn="l">
              <a:lnSpc>
                <a:spcPct val="120000"/>
              </a:lnSpc>
            </a:pPr>
            <a:r>
              <a:rPr sz="1200" b="0" i="0">
                <a:solidFill>
                  <a:srgbClr val="FFFFFF"/>
                </a:solidFill>
                <a:latin typeface="Segoe UI"/>
              </a:rPr>
              <a:t>🛡 </a:t>
            </a:r>
            <a:r>
              <a:rPr sz="1100" b="1" i="0">
                <a:solidFill>
                  <a:srgbClr val="79C0FF"/>
                </a:solidFill>
                <a:latin typeface="Segoe UI"/>
              </a:rPr>
              <a:t>MICROSOFT SENTINEL SECURITY DATA LAKE</a:t>
            </a:r>
          </a:p>
        </p:txBody>
      </p:sp>
      <p:sp>
        <p:nvSpPr>
          <p:cNvPr id="31" name="TextBox 30"/>
          <p:cNvSpPr txBox="1"/>
          <p:nvPr/>
        </p:nvSpPr>
        <p:spPr>
          <a:xfrm>
            <a:off x="6035040" y="2157984"/>
            <a:ext cx="5486400" cy="274320"/>
          </a:xfrm>
          <a:prstGeom prst="rect">
            <a:avLst/>
          </a:prstGeom>
          <a:noFill/>
        </p:spPr>
        <p:txBody>
          <a:bodyPr wrap="square" lIns="73152" tIns="36576" rIns="73152" bIns="36576" anchor="t">
            <a:spAutoFit/>
          </a:bodyPr>
          <a:lstStyle/>
          <a:p>
            <a:pPr algn="r">
              <a:lnSpc>
                <a:spcPct val="120000"/>
              </a:lnSpc>
            </a:pPr>
            <a:r>
              <a:rPr sz="900" b="1" i="0">
                <a:solidFill>
                  <a:srgbClr val="FFFFFF"/>
                </a:solidFill>
                <a:latin typeface="Segoe UI"/>
              </a:rPr>
              <a:t>SINGLE SOURCE OF TRUTH</a:t>
            </a:r>
          </a:p>
        </p:txBody>
      </p:sp>
      <p:sp>
        <p:nvSpPr>
          <p:cNvPr id="32" name="Rounded Rectangle 31"/>
          <p:cNvSpPr/>
          <p:nvPr/>
        </p:nvSpPr>
        <p:spPr>
          <a:xfrm>
            <a:off x="2302001" y="2487168"/>
            <a:ext cx="1097280" cy="274320"/>
          </a:xfrm>
          <a:prstGeom prst="roundRect">
            <a:avLst>
              <a:gd name="adj" fmla="val 50000"/>
            </a:avLst>
          </a:prstGeom>
          <a:solidFill>
            <a:srgbClr val="0F213A"/>
          </a:solidFill>
          <a:ln w="762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2302001" y="2500884"/>
            <a:ext cx="1097280" cy="256031"/>
          </a:xfrm>
          <a:prstGeom prst="rect">
            <a:avLst/>
          </a:prstGeom>
          <a:noFill/>
        </p:spPr>
        <p:txBody>
          <a:bodyPr wrap="square" lIns="73152" tIns="36576" rIns="73152" bIns="36576" anchor="ctr">
            <a:spAutoFit/>
          </a:bodyPr>
          <a:lstStyle/>
          <a:p>
            <a:pPr algn="ctr">
              <a:lnSpc>
                <a:spcPct val="120000"/>
              </a:lnSpc>
            </a:pPr>
            <a:r>
              <a:rPr sz="950" b="1" i="0">
                <a:solidFill>
                  <a:srgbClr val="79C0FF"/>
                </a:solidFill>
                <a:latin typeface="Segoe UI"/>
              </a:rPr>
              <a:t>SigninLogs</a:t>
            </a:r>
          </a:p>
        </p:txBody>
      </p:sp>
      <p:sp>
        <p:nvSpPr>
          <p:cNvPr id="34" name="Rounded Rectangle 33"/>
          <p:cNvSpPr/>
          <p:nvPr/>
        </p:nvSpPr>
        <p:spPr>
          <a:xfrm>
            <a:off x="3472434" y="2487168"/>
            <a:ext cx="1330452" cy="274320"/>
          </a:xfrm>
          <a:prstGeom prst="roundRect">
            <a:avLst>
              <a:gd name="adj" fmla="val 50000"/>
            </a:avLst>
          </a:prstGeom>
          <a:solidFill>
            <a:srgbClr val="0F213A"/>
          </a:solidFill>
          <a:ln w="762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3472434" y="2500884"/>
            <a:ext cx="1330452" cy="256031"/>
          </a:xfrm>
          <a:prstGeom prst="rect">
            <a:avLst/>
          </a:prstGeom>
          <a:noFill/>
        </p:spPr>
        <p:txBody>
          <a:bodyPr wrap="square" lIns="73152" tIns="36576" rIns="73152" bIns="36576" anchor="ctr">
            <a:spAutoFit/>
          </a:bodyPr>
          <a:lstStyle/>
          <a:p>
            <a:pPr algn="ctr">
              <a:lnSpc>
                <a:spcPct val="120000"/>
              </a:lnSpc>
            </a:pPr>
            <a:r>
              <a:rPr sz="950" b="1" i="0">
                <a:solidFill>
                  <a:srgbClr val="79C0FF"/>
                </a:solidFill>
                <a:latin typeface="Segoe UI"/>
              </a:rPr>
              <a:t>SecurityAlert</a:t>
            </a:r>
          </a:p>
        </p:txBody>
      </p:sp>
      <p:sp>
        <p:nvSpPr>
          <p:cNvPr id="36" name="Rounded Rectangle 35"/>
          <p:cNvSpPr/>
          <p:nvPr/>
        </p:nvSpPr>
        <p:spPr>
          <a:xfrm>
            <a:off x="4876038" y="2487168"/>
            <a:ext cx="1563624" cy="274320"/>
          </a:xfrm>
          <a:prstGeom prst="roundRect">
            <a:avLst>
              <a:gd name="adj" fmla="val 50000"/>
            </a:avLst>
          </a:prstGeom>
          <a:solidFill>
            <a:srgbClr val="0F213A"/>
          </a:solidFill>
          <a:ln w="762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4876038" y="2500884"/>
            <a:ext cx="1563624" cy="256031"/>
          </a:xfrm>
          <a:prstGeom prst="rect">
            <a:avLst/>
          </a:prstGeom>
          <a:noFill/>
        </p:spPr>
        <p:txBody>
          <a:bodyPr wrap="square" lIns="73152" tIns="36576" rIns="73152" bIns="36576" anchor="ctr">
            <a:spAutoFit/>
          </a:bodyPr>
          <a:lstStyle/>
          <a:p>
            <a:pPr algn="ctr">
              <a:lnSpc>
                <a:spcPct val="120000"/>
              </a:lnSpc>
            </a:pPr>
            <a:r>
              <a:rPr sz="950" b="1" i="0">
                <a:solidFill>
                  <a:srgbClr val="79C0FF"/>
                </a:solidFill>
                <a:latin typeface="Segoe UI"/>
              </a:rPr>
              <a:t>SecurityIncident</a:t>
            </a:r>
          </a:p>
        </p:txBody>
      </p:sp>
      <p:sp>
        <p:nvSpPr>
          <p:cNvPr id="38" name="Rounded Rectangle 37"/>
          <p:cNvSpPr/>
          <p:nvPr/>
        </p:nvSpPr>
        <p:spPr>
          <a:xfrm>
            <a:off x="6512814" y="2487168"/>
            <a:ext cx="1252728" cy="274320"/>
          </a:xfrm>
          <a:prstGeom prst="roundRect">
            <a:avLst>
              <a:gd name="adj" fmla="val 50000"/>
            </a:avLst>
          </a:prstGeom>
          <a:solidFill>
            <a:srgbClr val="0F213A"/>
          </a:solidFill>
          <a:ln w="762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512814" y="2500884"/>
            <a:ext cx="1252728" cy="256031"/>
          </a:xfrm>
          <a:prstGeom prst="rect">
            <a:avLst/>
          </a:prstGeom>
          <a:noFill/>
        </p:spPr>
        <p:txBody>
          <a:bodyPr wrap="square" lIns="73152" tIns="36576" rIns="73152" bIns="36576" anchor="ctr">
            <a:spAutoFit/>
          </a:bodyPr>
          <a:lstStyle/>
          <a:p>
            <a:pPr algn="ctr">
              <a:lnSpc>
                <a:spcPct val="120000"/>
              </a:lnSpc>
            </a:pPr>
            <a:r>
              <a:rPr sz="950" b="1" i="0">
                <a:solidFill>
                  <a:srgbClr val="79C0FF"/>
                </a:solidFill>
                <a:latin typeface="Segoe UI"/>
              </a:rPr>
              <a:t>DeviceEvents</a:t>
            </a:r>
          </a:p>
        </p:txBody>
      </p:sp>
      <p:sp>
        <p:nvSpPr>
          <p:cNvPr id="40" name="Rounded Rectangle 39"/>
          <p:cNvSpPr/>
          <p:nvPr/>
        </p:nvSpPr>
        <p:spPr>
          <a:xfrm>
            <a:off x="7838694" y="2487168"/>
            <a:ext cx="1019556" cy="274320"/>
          </a:xfrm>
          <a:prstGeom prst="roundRect">
            <a:avLst>
              <a:gd name="adj" fmla="val 50000"/>
            </a:avLst>
          </a:prstGeom>
          <a:solidFill>
            <a:srgbClr val="0F213A"/>
          </a:solidFill>
          <a:ln w="762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7838694" y="2500884"/>
            <a:ext cx="1019556" cy="256031"/>
          </a:xfrm>
          <a:prstGeom prst="rect">
            <a:avLst/>
          </a:prstGeom>
          <a:noFill/>
        </p:spPr>
        <p:txBody>
          <a:bodyPr wrap="square" lIns="73152" tIns="36576" rIns="73152" bIns="36576" anchor="ctr">
            <a:spAutoFit/>
          </a:bodyPr>
          <a:lstStyle/>
          <a:p>
            <a:pPr algn="ctr">
              <a:lnSpc>
                <a:spcPct val="120000"/>
              </a:lnSpc>
            </a:pPr>
            <a:r>
              <a:rPr sz="950" b="1" i="0">
                <a:solidFill>
                  <a:srgbClr val="79C0FF"/>
                </a:solidFill>
                <a:latin typeface="Segoe UI"/>
              </a:rPr>
              <a:t>AuditLogs</a:t>
            </a:r>
          </a:p>
        </p:txBody>
      </p:sp>
      <p:sp>
        <p:nvSpPr>
          <p:cNvPr id="42" name="Rounded Rectangle 41"/>
          <p:cNvSpPr/>
          <p:nvPr/>
        </p:nvSpPr>
        <p:spPr>
          <a:xfrm>
            <a:off x="8931402" y="2487168"/>
            <a:ext cx="1019556" cy="274320"/>
          </a:xfrm>
          <a:prstGeom prst="roundRect">
            <a:avLst>
              <a:gd name="adj" fmla="val 50000"/>
            </a:avLst>
          </a:prstGeom>
          <a:solidFill>
            <a:srgbClr val="0F213A"/>
          </a:solidFill>
          <a:ln w="762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8931402" y="2500884"/>
            <a:ext cx="1019556" cy="256031"/>
          </a:xfrm>
          <a:prstGeom prst="rect">
            <a:avLst/>
          </a:prstGeom>
          <a:noFill/>
        </p:spPr>
        <p:txBody>
          <a:bodyPr wrap="square" lIns="73152" tIns="36576" rIns="73152" bIns="36576" anchor="ctr">
            <a:spAutoFit/>
          </a:bodyPr>
          <a:lstStyle/>
          <a:p>
            <a:pPr algn="ctr">
              <a:lnSpc>
                <a:spcPct val="120000"/>
              </a:lnSpc>
            </a:pPr>
            <a:r>
              <a:rPr sz="950" b="1" i="0">
                <a:solidFill>
                  <a:srgbClr val="79C0FF"/>
                </a:solidFill>
                <a:latin typeface="Segoe UI"/>
              </a:rPr>
              <a:t>Custom_CL</a:t>
            </a:r>
          </a:p>
        </p:txBody>
      </p:sp>
      <p:sp>
        <p:nvSpPr>
          <p:cNvPr id="44" name="Rectangle 43"/>
          <p:cNvSpPr/>
          <p:nvPr/>
        </p:nvSpPr>
        <p:spPr>
          <a:xfrm>
            <a:off x="6021324" y="2862072"/>
            <a:ext cx="27432" cy="1645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Isosceles Triangle 44"/>
          <p:cNvSpPr/>
          <p:nvPr/>
        </p:nvSpPr>
        <p:spPr>
          <a:xfrm rot="10800000">
            <a:off x="5943600" y="3008376"/>
            <a:ext cx="182880" cy="146304"/>
          </a:xfrm>
          <a:prstGeom prst="triangl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ounded Rectangle 45"/>
          <p:cNvSpPr/>
          <p:nvPr/>
        </p:nvSpPr>
        <p:spPr>
          <a:xfrm>
            <a:off x="548640" y="3054096"/>
            <a:ext cx="3611880" cy="868680"/>
          </a:xfrm>
          <a:prstGeom prst="roundRect">
            <a:avLst>
              <a:gd name="adj" fmla="val 5000"/>
            </a:avLst>
          </a:prstGeom>
          <a:solidFill>
            <a:srgbClr val="102B1A"/>
          </a:solidFill>
          <a:ln w="12700">
            <a:solidFill>
              <a:srgbClr val="3FB9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658368" y="3090672"/>
            <a:ext cx="3392424" cy="274320"/>
          </a:xfrm>
          <a:prstGeom prst="rect">
            <a:avLst/>
          </a:prstGeom>
          <a:noFill/>
        </p:spPr>
        <p:txBody>
          <a:bodyPr wrap="square" lIns="73152" tIns="36576" rIns="73152" bIns="36576" anchor="t">
            <a:spAutoFit/>
          </a:bodyPr>
          <a:lstStyle/>
          <a:p>
            <a:pPr algn="l">
              <a:lnSpc>
                <a:spcPct val="120000"/>
              </a:lnSpc>
            </a:pPr>
            <a:r>
              <a:rPr sz="1150" b="1" i="0">
                <a:solidFill>
                  <a:srgbClr val="56D364"/>
                </a:solidFill>
                <a:latin typeface="Segoe UI"/>
              </a:rPr>
              <a:t>🔗 Exposure Management</a:t>
            </a:r>
          </a:p>
        </p:txBody>
      </p:sp>
      <p:sp>
        <p:nvSpPr>
          <p:cNvPr id="48" name="TextBox 47"/>
          <p:cNvSpPr txBox="1"/>
          <p:nvPr/>
        </p:nvSpPr>
        <p:spPr>
          <a:xfrm>
            <a:off x="658368" y="3310128"/>
            <a:ext cx="3392424" cy="201168"/>
          </a:xfrm>
          <a:prstGeom prst="rect">
            <a:avLst/>
          </a:prstGeom>
          <a:noFill/>
        </p:spPr>
        <p:txBody>
          <a:bodyPr wrap="square" lIns="73152" tIns="36576" rIns="73152" bIns="36576" anchor="t">
            <a:spAutoFit/>
          </a:bodyPr>
          <a:lstStyle/>
          <a:p>
            <a:pPr algn="l">
              <a:lnSpc>
                <a:spcPct val="120000"/>
              </a:lnSpc>
            </a:pPr>
            <a:r>
              <a:rPr sz="900" b="0" i="1">
                <a:solidFill>
                  <a:srgbClr val="9AA7BD"/>
                </a:solidFill>
                <a:latin typeface="Segoe UI"/>
              </a:rPr>
              <a:t>Attack Surface Graph</a:t>
            </a:r>
          </a:p>
        </p:txBody>
      </p:sp>
      <p:sp>
        <p:nvSpPr>
          <p:cNvPr id="49" name="TextBox 48"/>
          <p:cNvSpPr txBox="1"/>
          <p:nvPr/>
        </p:nvSpPr>
        <p:spPr>
          <a:xfrm>
            <a:off x="658368" y="3520440"/>
            <a:ext cx="3392424" cy="384048"/>
          </a:xfrm>
          <a:prstGeom prst="rect">
            <a:avLst/>
          </a:prstGeom>
          <a:noFill/>
        </p:spPr>
        <p:txBody>
          <a:bodyPr wrap="square" lIns="73152" tIns="36576" rIns="73152" bIns="36576" anchor="t">
            <a:spAutoFit/>
          </a:bodyPr>
          <a:lstStyle/>
          <a:p>
            <a:pPr algn="l">
              <a:lnSpc>
                <a:spcPct val="125000"/>
              </a:lnSpc>
            </a:pPr>
            <a:r>
              <a:rPr sz="900" b="0" i="0">
                <a:solidFill>
                  <a:srgbClr val="56D364"/>
                </a:solidFill>
                <a:latin typeface="Cascadia Code"/>
              </a:rPr>
              <a:t>ExposureGraphNodes · ExposureGraphEdges · Attack Paths</a:t>
            </a:r>
          </a:p>
        </p:txBody>
      </p:sp>
      <p:sp>
        <p:nvSpPr>
          <p:cNvPr id="50" name="Rounded Rectangle 49"/>
          <p:cNvSpPr/>
          <p:nvPr/>
        </p:nvSpPr>
        <p:spPr>
          <a:xfrm>
            <a:off x="4251959" y="3054096"/>
            <a:ext cx="3611880" cy="868680"/>
          </a:xfrm>
          <a:prstGeom prst="roundRect">
            <a:avLst>
              <a:gd name="adj" fmla="val 5000"/>
            </a:avLst>
          </a:prstGeom>
          <a:solidFill>
            <a:srgbClr val="2A1F10"/>
          </a:solidFill>
          <a:ln w="12700">
            <a:solidFill>
              <a:srgbClr val="D299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4361688" y="3090672"/>
            <a:ext cx="3392424" cy="274320"/>
          </a:xfrm>
          <a:prstGeom prst="rect">
            <a:avLst/>
          </a:prstGeom>
          <a:noFill/>
        </p:spPr>
        <p:txBody>
          <a:bodyPr wrap="square" lIns="73152" tIns="36576" rIns="73152" bIns="36576" anchor="t">
            <a:spAutoFit/>
          </a:bodyPr>
          <a:lstStyle/>
          <a:p>
            <a:pPr algn="l">
              <a:lnSpc>
                <a:spcPct val="120000"/>
              </a:lnSpc>
            </a:pPr>
            <a:r>
              <a:rPr sz="1150" b="1" i="0">
                <a:solidFill>
                  <a:srgbClr val="E3B341"/>
                </a:solidFill>
                <a:latin typeface="Segoe UI"/>
              </a:rPr>
              <a:t>🔍 Advanced Hunting</a:t>
            </a:r>
          </a:p>
        </p:txBody>
      </p:sp>
      <p:sp>
        <p:nvSpPr>
          <p:cNvPr id="52" name="TextBox 51"/>
          <p:cNvSpPr txBox="1"/>
          <p:nvPr/>
        </p:nvSpPr>
        <p:spPr>
          <a:xfrm>
            <a:off x="4361688" y="3310128"/>
            <a:ext cx="3392424" cy="201168"/>
          </a:xfrm>
          <a:prstGeom prst="rect">
            <a:avLst/>
          </a:prstGeom>
          <a:noFill/>
        </p:spPr>
        <p:txBody>
          <a:bodyPr wrap="square" lIns="73152" tIns="36576" rIns="73152" bIns="36576" anchor="t">
            <a:spAutoFit/>
          </a:bodyPr>
          <a:lstStyle/>
          <a:p>
            <a:pPr algn="l">
              <a:lnSpc>
                <a:spcPct val="120000"/>
              </a:lnSpc>
            </a:pPr>
            <a:r>
              <a:rPr sz="900" b="0" i="1">
                <a:solidFill>
                  <a:srgbClr val="9AA7BD"/>
                </a:solidFill>
                <a:latin typeface="Segoe UI"/>
              </a:rPr>
              <a:t>KQL Query Engine</a:t>
            </a:r>
          </a:p>
        </p:txBody>
      </p:sp>
      <p:sp>
        <p:nvSpPr>
          <p:cNvPr id="53" name="TextBox 52"/>
          <p:cNvSpPr txBox="1"/>
          <p:nvPr/>
        </p:nvSpPr>
        <p:spPr>
          <a:xfrm>
            <a:off x="4361688" y="3520440"/>
            <a:ext cx="3392424" cy="384048"/>
          </a:xfrm>
          <a:prstGeom prst="rect">
            <a:avLst/>
          </a:prstGeom>
          <a:noFill/>
        </p:spPr>
        <p:txBody>
          <a:bodyPr wrap="square" lIns="73152" tIns="36576" rIns="73152" bIns="36576" anchor="t">
            <a:spAutoFit/>
          </a:bodyPr>
          <a:lstStyle/>
          <a:p>
            <a:pPr algn="l">
              <a:lnSpc>
                <a:spcPct val="125000"/>
              </a:lnSpc>
            </a:pPr>
            <a:r>
              <a:rPr sz="900" b="0" i="0">
                <a:solidFill>
                  <a:srgbClr val="E3B341"/>
                </a:solidFill>
                <a:latin typeface="Cascadia Code"/>
              </a:rPr>
              <a:t>DeviceTvm* · Device* · Alert* · Identity* · CloudAppEvents</a:t>
            </a:r>
          </a:p>
        </p:txBody>
      </p:sp>
      <p:sp>
        <p:nvSpPr>
          <p:cNvPr id="54" name="Rounded Rectangle 53"/>
          <p:cNvSpPr/>
          <p:nvPr/>
        </p:nvSpPr>
        <p:spPr>
          <a:xfrm>
            <a:off x="7955279" y="3054096"/>
            <a:ext cx="3611880" cy="868680"/>
          </a:xfrm>
          <a:prstGeom prst="roundRect">
            <a:avLst>
              <a:gd name="adj" fmla="val 5000"/>
            </a:avLst>
          </a:prstGeom>
          <a:solidFill>
            <a:srgbClr val="1C1032"/>
          </a:solidFill>
          <a:ln w="12700">
            <a:solidFill>
              <a:srgbClr val="8957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8065007" y="3090672"/>
            <a:ext cx="3392424" cy="274320"/>
          </a:xfrm>
          <a:prstGeom prst="rect">
            <a:avLst/>
          </a:prstGeom>
          <a:noFill/>
        </p:spPr>
        <p:txBody>
          <a:bodyPr wrap="square" lIns="73152" tIns="36576" rIns="73152" bIns="36576" anchor="t">
            <a:spAutoFit/>
          </a:bodyPr>
          <a:lstStyle/>
          <a:p>
            <a:pPr algn="l">
              <a:lnSpc>
                <a:spcPct val="120000"/>
              </a:lnSpc>
            </a:pPr>
            <a:r>
              <a:rPr sz="1150" b="1" i="0">
                <a:solidFill>
                  <a:srgbClr val="BC8CFF"/>
                </a:solidFill>
                <a:latin typeface="Segoe UI"/>
              </a:rPr>
              <a:t>📊 Azure Resource Graph</a:t>
            </a:r>
          </a:p>
        </p:txBody>
      </p:sp>
      <p:sp>
        <p:nvSpPr>
          <p:cNvPr id="56" name="TextBox 55"/>
          <p:cNvSpPr txBox="1"/>
          <p:nvPr/>
        </p:nvSpPr>
        <p:spPr>
          <a:xfrm>
            <a:off x="8065007" y="3310128"/>
            <a:ext cx="3392424" cy="201168"/>
          </a:xfrm>
          <a:prstGeom prst="rect">
            <a:avLst/>
          </a:prstGeom>
          <a:noFill/>
        </p:spPr>
        <p:txBody>
          <a:bodyPr wrap="square" lIns="73152" tIns="36576" rIns="73152" bIns="36576" anchor="t">
            <a:spAutoFit/>
          </a:bodyPr>
          <a:lstStyle/>
          <a:p>
            <a:pPr algn="l">
              <a:lnSpc>
                <a:spcPct val="120000"/>
              </a:lnSpc>
            </a:pPr>
            <a:r>
              <a:rPr sz="900" b="0" i="1">
                <a:solidFill>
                  <a:srgbClr val="9AA7BD"/>
                </a:solidFill>
                <a:latin typeface="Segoe UI"/>
              </a:rPr>
              <a:t>Cloud Posture</a:t>
            </a:r>
          </a:p>
        </p:txBody>
      </p:sp>
      <p:sp>
        <p:nvSpPr>
          <p:cNvPr id="57" name="TextBox 56"/>
          <p:cNvSpPr txBox="1"/>
          <p:nvPr/>
        </p:nvSpPr>
        <p:spPr>
          <a:xfrm>
            <a:off x="8065007" y="3520440"/>
            <a:ext cx="3392424" cy="384048"/>
          </a:xfrm>
          <a:prstGeom prst="rect">
            <a:avLst/>
          </a:prstGeom>
          <a:noFill/>
        </p:spPr>
        <p:txBody>
          <a:bodyPr wrap="square" lIns="73152" tIns="36576" rIns="73152" bIns="36576" anchor="t">
            <a:spAutoFit/>
          </a:bodyPr>
          <a:lstStyle/>
          <a:p>
            <a:pPr algn="l">
              <a:lnSpc>
                <a:spcPct val="125000"/>
              </a:lnSpc>
            </a:pPr>
            <a:r>
              <a:rPr sz="900" b="0" i="0">
                <a:solidFill>
                  <a:srgbClr val="BC8CFF"/>
                </a:solidFill>
                <a:latin typeface="Cascadia Code"/>
              </a:rPr>
              <a:t>securityresources · Compliance · Recommendations</a:t>
            </a:r>
          </a:p>
        </p:txBody>
      </p:sp>
      <p:sp>
        <p:nvSpPr>
          <p:cNvPr id="58" name="Rectangle 57"/>
          <p:cNvSpPr/>
          <p:nvPr/>
        </p:nvSpPr>
        <p:spPr>
          <a:xfrm>
            <a:off x="6021324" y="3950208"/>
            <a:ext cx="27432" cy="1463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Isosceles Triangle 58"/>
          <p:cNvSpPr/>
          <p:nvPr/>
        </p:nvSpPr>
        <p:spPr>
          <a:xfrm rot="10800000">
            <a:off x="5943600" y="4078224"/>
            <a:ext cx="182880" cy="146304"/>
          </a:xfrm>
          <a:prstGeom prst="triangl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Rounded Rectangle 59"/>
          <p:cNvSpPr/>
          <p:nvPr/>
        </p:nvSpPr>
        <p:spPr>
          <a:xfrm>
            <a:off x="548640" y="4114800"/>
            <a:ext cx="11155680" cy="502920"/>
          </a:xfrm>
          <a:prstGeom prst="roundRect">
            <a:avLst>
              <a:gd name="adj" fmla="val 4000"/>
            </a:avLst>
          </a:prstGeom>
          <a:solidFill>
            <a:srgbClr val="161B22"/>
          </a:solidFill>
          <a:ln w="9525">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731520" y="4224528"/>
            <a:ext cx="2194560" cy="292608"/>
          </a:xfrm>
          <a:prstGeom prst="rect">
            <a:avLst/>
          </a:prstGeom>
          <a:noFill/>
        </p:spPr>
        <p:txBody>
          <a:bodyPr wrap="square" lIns="73152" tIns="36576" rIns="73152" bIns="36576" anchor="t">
            <a:spAutoFit/>
          </a:bodyPr>
          <a:lstStyle/>
          <a:p>
            <a:pPr algn="l">
              <a:lnSpc>
                <a:spcPct val="120000"/>
              </a:lnSpc>
            </a:pPr>
            <a:r>
              <a:rPr sz="1100" b="1" i="0">
                <a:solidFill>
                  <a:srgbClr val="FFFFFF"/>
                </a:solidFill>
                <a:latin typeface="Segoe UI"/>
              </a:rPr>
              <a:t>● MCP SERVERS</a:t>
            </a:r>
          </a:p>
        </p:txBody>
      </p:sp>
      <p:sp>
        <p:nvSpPr>
          <p:cNvPr id="62" name="Rounded Rectangle 61"/>
          <p:cNvSpPr/>
          <p:nvPr/>
        </p:nvSpPr>
        <p:spPr>
          <a:xfrm>
            <a:off x="3195828" y="4224528"/>
            <a:ext cx="1563624" cy="274320"/>
          </a:xfrm>
          <a:prstGeom prst="roundRect">
            <a:avLst>
              <a:gd name="adj" fmla="val 50000"/>
            </a:avLst>
          </a:prstGeom>
          <a:solidFill>
            <a:srgbClr val="0F213A"/>
          </a:solidFill>
          <a:ln w="762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3195828" y="4238244"/>
            <a:ext cx="1563624" cy="256032"/>
          </a:xfrm>
          <a:prstGeom prst="rect">
            <a:avLst/>
          </a:prstGeom>
          <a:noFill/>
        </p:spPr>
        <p:txBody>
          <a:bodyPr wrap="square" lIns="73152" tIns="36576" rIns="73152" bIns="36576" anchor="ctr">
            <a:spAutoFit/>
          </a:bodyPr>
          <a:lstStyle/>
          <a:p>
            <a:pPr algn="ctr">
              <a:lnSpc>
                <a:spcPct val="120000"/>
              </a:lnSpc>
            </a:pPr>
            <a:r>
              <a:rPr sz="950" b="1" i="0">
                <a:solidFill>
                  <a:srgbClr val="79C0FF"/>
                </a:solidFill>
                <a:latin typeface="Segoe UI"/>
              </a:rPr>
              <a:t>Data Exploration</a:t>
            </a:r>
          </a:p>
        </p:txBody>
      </p:sp>
      <p:sp>
        <p:nvSpPr>
          <p:cNvPr id="64" name="Rounded Rectangle 63"/>
          <p:cNvSpPr/>
          <p:nvPr/>
        </p:nvSpPr>
        <p:spPr>
          <a:xfrm>
            <a:off x="4832604" y="4224528"/>
            <a:ext cx="786384" cy="274320"/>
          </a:xfrm>
          <a:prstGeom prst="roundRect">
            <a:avLst>
              <a:gd name="adj" fmla="val 50000"/>
            </a:avLst>
          </a:prstGeom>
          <a:solidFill>
            <a:srgbClr val="0F213A"/>
          </a:solidFill>
          <a:ln w="762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4832604" y="4238244"/>
            <a:ext cx="786384" cy="256032"/>
          </a:xfrm>
          <a:prstGeom prst="rect">
            <a:avLst/>
          </a:prstGeom>
          <a:noFill/>
        </p:spPr>
        <p:txBody>
          <a:bodyPr wrap="square" lIns="73152" tIns="36576" rIns="73152" bIns="36576" anchor="ctr">
            <a:spAutoFit/>
          </a:bodyPr>
          <a:lstStyle/>
          <a:p>
            <a:pPr algn="ctr">
              <a:lnSpc>
                <a:spcPct val="120000"/>
              </a:lnSpc>
            </a:pPr>
            <a:r>
              <a:rPr sz="950" b="1" i="0">
                <a:solidFill>
                  <a:srgbClr val="79C0FF"/>
                </a:solidFill>
                <a:latin typeface="Segoe UI"/>
              </a:rPr>
              <a:t>Triage</a:t>
            </a:r>
          </a:p>
        </p:txBody>
      </p:sp>
      <p:sp>
        <p:nvSpPr>
          <p:cNvPr id="66" name="Rounded Rectangle 65"/>
          <p:cNvSpPr/>
          <p:nvPr/>
        </p:nvSpPr>
        <p:spPr>
          <a:xfrm>
            <a:off x="5692140" y="4224528"/>
            <a:ext cx="708660" cy="274320"/>
          </a:xfrm>
          <a:prstGeom prst="roundRect">
            <a:avLst>
              <a:gd name="adj" fmla="val 50000"/>
            </a:avLst>
          </a:prstGeom>
          <a:solidFill>
            <a:srgbClr val="0F213A"/>
          </a:solidFill>
          <a:ln w="762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5692140" y="4238244"/>
            <a:ext cx="708660" cy="256032"/>
          </a:xfrm>
          <a:prstGeom prst="rect">
            <a:avLst/>
          </a:prstGeom>
          <a:noFill/>
        </p:spPr>
        <p:txBody>
          <a:bodyPr wrap="square" lIns="73152" tIns="36576" rIns="73152" bIns="36576" anchor="ctr">
            <a:spAutoFit/>
          </a:bodyPr>
          <a:lstStyle/>
          <a:p>
            <a:pPr algn="ctr">
              <a:lnSpc>
                <a:spcPct val="120000"/>
              </a:lnSpc>
            </a:pPr>
            <a:r>
              <a:rPr sz="950" b="1" i="0">
                <a:solidFill>
                  <a:srgbClr val="79C0FF"/>
                </a:solidFill>
                <a:latin typeface="Segoe UI"/>
              </a:rPr>
              <a:t>Azure</a:t>
            </a:r>
          </a:p>
        </p:txBody>
      </p:sp>
      <p:sp>
        <p:nvSpPr>
          <p:cNvPr id="68" name="Rounded Rectangle 67"/>
          <p:cNvSpPr/>
          <p:nvPr/>
        </p:nvSpPr>
        <p:spPr>
          <a:xfrm>
            <a:off x="6473952" y="4224528"/>
            <a:ext cx="1408176" cy="274320"/>
          </a:xfrm>
          <a:prstGeom prst="roundRect">
            <a:avLst>
              <a:gd name="adj" fmla="val 50000"/>
            </a:avLst>
          </a:prstGeom>
          <a:solidFill>
            <a:srgbClr val="0F213A"/>
          </a:solidFill>
          <a:ln w="762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6473952" y="4238244"/>
            <a:ext cx="1408176" cy="256032"/>
          </a:xfrm>
          <a:prstGeom prst="rect">
            <a:avLst/>
          </a:prstGeom>
          <a:noFill/>
        </p:spPr>
        <p:txBody>
          <a:bodyPr wrap="square" lIns="73152" tIns="36576" rIns="73152" bIns="36576" anchor="ctr">
            <a:spAutoFit/>
          </a:bodyPr>
          <a:lstStyle/>
          <a:p>
            <a:pPr algn="ctr">
              <a:lnSpc>
                <a:spcPct val="120000"/>
              </a:lnSpc>
            </a:pPr>
            <a:r>
              <a:rPr sz="950" b="1" i="0">
                <a:solidFill>
                  <a:srgbClr val="79C0FF"/>
                </a:solidFill>
                <a:latin typeface="Segoe UI"/>
              </a:rPr>
              <a:t>Sentinel Graph</a:t>
            </a:r>
          </a:p>
        </p:txBody>
      </p:sp>
      <p:sp>
        <p:nvSpPr>
          <p:cNvPr id="70" name="Rounded Rectangle 69"/>
          <p:cNvSpPr/>
          <p:nvPr/>
        </p:nvSpPr>
        <p:spPr>
          <a:xfrm>
            <a:off x="7955280" y="4224528"/>
            <a:ext cx="786384" cy="274320"/>
          </a:xfrm>
          <a:prstGeom prst="roundRect">
            <a:avLst>
              <a:gd name="adj" fmla="val 50000"/>
            </a:avLst>
          </a:prstGeom>
          <a:solidFill>
            <a:srgbClr val="0F213A"/>
          </a:solidFill>
          <a:ln w="762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7955280" y="4238244"/>
            <a:ext cx="786384" cy="256032"/>
          </a:xfrm>
          <a:prstGeom prst="rect">
            <a:avLst/>
          </a:prstGeom>
          <a:noFill/>
        </p:spPr>
        <p:txBody>
          <a:bodyPr wrap="square" lIns="73152" tIns="36576" rIns="73152" bIns="36576" anchor="ctr">
            <a:spAutoFit/>
          </a:bodyPr>
          <a:lstStyle/>
          <a:p>
            <a:pPr algn="ctr">
              <a:lnSpc>
                <a:spcPct val="120000"/>
              </a:lnSpc>
            </a:pPr>
            <a:r>
              <a:rPr sz="950" b="1" i="0">
                <a:solidFill>
                  <a:srgbClr val="79C0FF"/>
                </a:solidFill>
                <a:latin typeface="Segoe UI"/>
              </a:rPr>
              <a:t>GitHub</a:t>
            </a:r>
          </a:p>
        </p:txBody>
      </p:sp>
      <p:sp>
        <p:nvSpPr>
          <p:cNvPr id="72" name="Rounded Rectangle 71"/>
          <p:cNvSpPr/>
          <p:nvPr/>
        </p:nvSpPr>
        <p:spPr>
          <a:xfrm>
            <a:off x="8814816" y="4224528"/>
            <a:ext cx="1330452" cy="274320"/>
          </a:xfrm>
          <a:prstGeom prst="roundRect">
            <a:avLst>
              <a:gd name="adj" fmla="val 50000"/>
            </a:avLst>
          </a:prstGeom>
          <a:solidFill>
            <a:srgbClr val="0F213A"/>
          </a:solidFill>
          <a:ln w="762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8814816" y="4238244"/>
            <a:ext cx="1330452" cy="256032"/>
          </a:xfrm>
          <a:prstGeom prst="rect">
            <a:avLst/>
          </a:prstGeom>
          <a:noFill/>
        </p:spPr>
        <p:txBody>
          <a:bodyPr wrap="square" lIns="73152" tIns="36576" rIns="73152" bIns="36576" anchor="ctr">
            <a:spAutoFit/>
          </a:bodyPr>
          <a:lstStyle/>
          <a:p>
            <a:pPr algn="ctr">
              <a:lnSpc>
                <a:spcPct val="120000"/>
              </a:lnSpc>
            </a:pPr>
            <a:r>
              <a:rPr sz="950" b="1" i="0">
                <a:solidFill>
                  <a:srgbClr val="79C0FF"/>
                </a:solidFill>
                <a:latin typeface="Segoe UI"/>
              </a:rPr>
              <a:t>Exposure Mgmt</a:t>
            </a:r>
          </a:p>
        </p:txBody>
      </p:sp>
      <p:sp>
        <p:nvSpPr>
          <p:cNvPr id="74" name="Rounded Rectangle 73"/>
          <p:cNvSpPr/>
          <p:nvPr/>
        </p:nvSpPr>
        <p:spPr>
          <a:xfrm>
            <a:off x="10218420" y="4224528"/>
            <a:ext cx="1485900" cy="274320"/>
          </a:xfrm>
          <a:prstGeom prst="roundRect">
            <a:avLst>
              <a:gd name="adj" fmla="val 50000"/>
            </a:avLst>
          </a:prstGeom>
          <a:solidFill>
            <a:srgbClr val="0F213A"/>
          </a:solidFill>
          <a:ln w="762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10218420" y="4238244"/>
            <a:ext cx="1485900" cy="256032"/>
          </a:xfrm>
          <a:prstGeom prst="rect">
            <a:avLst/>
          </a:prstGeom>
          <a:noFill/>
        </p:spPr>
        <p:txBody>
          <a:bodyPr wrap="square" lIns="73152" tIns="36576" rIns="73152" bIns="36576" anchor="ctr">
            <a:spAutoFit/>
          </a:bodyPr>
          <a:lstStyle/>
          <a:p>
            <a:pPr algn="ctr">
              <a:lnSpc>
                <a:spcPct val="120000"/>
              </a:lnSpc>
            </a:pPr>
            <a:r>
              <a:rPr sz="950" b="1" i="0">
                <a:solidFill>
                  <a:srgbClr val="79C0FF"/>
                </a:solidFill>
                <a:latin typeface="Segoe UI"/>
              </a:rPr>
              <a:t>Microsoft Learn</a:t>
            </a:r>
          </a:p>
        </p:txBody>
      </p:sp>
      <p:sp>
        <p:nvSpPr>
          <p:cNvPr id="76" name="Rectangle 75"/>
          <p:cNvSpPr/>
          <p:nvPr/>
        </p:nvSpPr>
        <p:spPr>
          <a:xfrm>
            <a:off x="6021324" y="4645152"/>
            <a:ext cx="27432" cy="146304"/>
          </a:xfrm>
          <a:prstGeom prst="rect">
            <a:avLst/>
          </a:prstGeom>
          <a:solidFill>
            <a:srgbClr val="895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Isosceles Triangle 76"/>
          <p:cNvSpPr/>
          <p:nvPr/>
        </p:nvSpPr>
        <p:spPr>
          <a:xfrm rot="10800000">
            <a:off x="5943600" y="4773168"/>
            <a:ext cx="182880" cy="146304"/>
          </a:xfrm>
          <a:prstGeom prst="triangle">
            <a:avLst/>
          </a:prstGeom>
          <a:solidFill>
            <a:srgbClr val="8957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Rounded Rectangle 77"/>
          <p:cNvSpPr/>
          <p:nvPr/>
        </p:nvSpPr>
        <p:spPr>
          <a:xfrm>
            <a:off x="548640" y="4809744"/>
            <a:ext cx="11155680" cy="566928"/>
          </a:xfrm>
          <a:prstGeom prst="roundRect">
            <a:avLst>
              <a:gd name="adj" fmla="val 4000"/>
            </a:avLst>
          </a:prstGeom>
          <a:solidFill>
            <a:srgbClr val="1C1032"/>
          </a:solidFill>
          <a:ln w="15875">
            <a:solidFill>
              <a:srgbClr val="8957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TextBox 78"/>
          <p:cNvSpPr txBox="1"/>
          <p:nvPr/>
        </p:nvSpPr>
        <p:spPr>
          <a:xfrm>
            <a:off x="731520" y="4855464"/>
            <a:ext cx="6858000" cy="274320"/>
          </a:xfrm>
          <a:prstGeom prst="rect">
            <a:avLst/>
          </a:prstGeom>
          <a:noFill/>
        </p:spPr>
        <p:txBody>
          <a:bodyPr wrap="square" lIns="73152" tIns="36576" rIns="73152" bIns="36576" anchor="t">
            <a:spAutoFit/>
          </a:bodyPr>
          <a:lstStyle/>
          <a:p>
            <a:pPr algn="l">
              <a:lnSpc>
                <a:spcPct val="120000"/>
              </a:lnSpc>
            </a:pPr>
            <a:r>
              <a:rPr sz="1200" b="0" i="0">
                <a:solidFill>
                  <a:srgbClr val="FFFFFF"/>
                </a:solidFill>
                <a:latin typeface="Segoe UI"/>
              </a:rPr>
              <a:t>🤖 </a:t>
            </a:r>
            <a:r>
              <a:rPr sz="1150" b="1" i="0">
                <a:solidFill>
                  <a:srgbClr val="BC8CFF"/>
                </a:solidFill>
                <a:latin typeface="Segoe UI"/>
              </a:rPr>
              <a:t>AI AGENT — GITHUB COPILOT + MCP</a:t>
            </a:r>
          </a:p>
        </p:txBody>
      </p:sp>
      <p:sp>
        <p:nvSpPr>
          <p:cNvPr id="80" name="TextBox 79"/>
          <p:cNvSpPr txBox="1"/>
          <p:nvPr/>
        </p:nvSpPr>
        <p:spPr>
          <a:xfrm>
            <a:off x="731520" y="5074920"/>
            <a:ext cx="6858000" cy="256032"/>
          </a:xfrm>
          <a:prstGeom prst="rect">
            <a:avLst/>
          </a:prstGeom>
          <a:noFill/>
        </p:spPr>
        <p:txBody>
          <a:bodyPr wrap="square" lIns="73152" tIns="36576" rIns="73152" bIns="36576" anchor="t">
            <a:spAutoFit/>
          </a:bodyPr>
          <a:lstStyle/>
          <a:p>
            <a:pPr algn="l">
              <a:lnSpc>
                <a:spcPct val="120000"/>
              </a:lnSpc>
            </a:pPr>
            <a:r>
              <a:rPr sz="950" b="0" i="1">
                <a:solidFill>
                  <a:srgbClr val="9AA7BD"/>
                </a:solidFill>
                <a:latin typeface="Segoe UI"/>
              </a:rPr>
              <a:t>Natural language → multi-source queries → persona reports</a:t>
            </a:r>
          </a:p>
        </p:txBody>
      </p:sp>
      <p:sp>
        <p:nvSpPr>
          <p:cNvPr id="81" name="Rounded Rectangle 80"/>
          <p:cNvSpPr/>
          <p:nvPr/>
        </p:nvSpPr>
        <p:spPr>
          <a:xfrm>
            <a:off x="7246620" y="4956048"/>
            <a:ext cx="708660" cy="274320"/>
          </a:xfrm>
          <a:prstGeom prst="roundRect">
            <a:avLst>
              <a:gd name="adj" fmla="val 50000"/>
            </a:avLst>
          </a:prstGeom>
          <a:solidFill>
            <a:srgbClr val="1C1032"/>
          </a:solidFill>
          <a:ln w="7620">
            <a:solidFill>
              <a:srgbClr val="8957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TextBox 81"/>
          <p:cNvSpPr txBox="1"/>
          <p:nvPr/>
        </p:nvSpPr>
        <p:spPr>
          <a:xfrm>
            <a:off x="7246620" y="4969764"/>
            <a:ext cx="708660" cy="256032"/>
          </a:xfrm>
          <a:prstGeom prst="rect">
            <a:avLst/>
          </a:prstGeom>
          <a:noFill/>
        </p:spPr>
        <p:txBody>
          <a:bodyPr wrap="square" lIns="73152" tIns="36576" rIns="73152" bIns="36576" anchor="ctr">
            <a:spAutoFit/>
          </a:bodyPr>
          <a:lstStyle/>
          <a:p>
            <a:pPr algn="ctr">
              <a:lnSpc>
                <a:spcPct val="120000"/>
              </a:lnSpc>
            </a:pPr>
            <a:r>
              <a:rPr sz="950" b="1" i="0">
                <a:solidFill>
                  <a:srgbClr val="BC8CFF"/>
                </a:solidFill>
                <a:latin typeface="Segoe UI"/>
              </a:rPr>
              <a:t>Query</a:t>
            </a:r>
          </a:p>
        </p:txBody>
      </p:sp>
      <p:sp>
        <p:nvSpPr>
          <p:cNvPr id="83" name="Rounded Rectangle 82"/>
          <p:cNvSpPr/>
          <p:nvPr/>
        </p:nvSpPr>
        <p:spPr>
          <a:xfrm>
            <a:off x="8028432" y="4956048"/>
            <a:ext cx="1019556" cy="274320"/>
          </a:xfrm>
          <a:prstGeom prst="roundRect">
            <a:avLst>
              <a:gd name="adj" fmla="val 50000"/>
            </a:avLst>
          </a:prstGeom>
          <a:solidFill>
            <a:srgbClr val="1C1032"/>
          </a:solidFill>
          <a:ln w="7620">
            <a:solidFill>
              <a:srgbClr val="8957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TextBox 83"/>
          <p:cNvSpPr txBox="1"/>
          <p:nvPr/>
        </p:nvSpPr>
        <p:spPr>
          <a:xfrm>
            <a:off x="8028432" y="4969764"/>
            <a:ext cx="1019556" cy="256032"/>
          </a:xfrm>
          <a:prstGeom prst="rect">
            <a:avLst/>
          </a:prstGeom>
          <a:noFill/>
        </p:spPr>
        <p:txBody>
          <a:bodyPr wrap="square" lIns="73152" tIns="36576" rIns="73152" bIns="36576" anchor="ctr">
            <a:spAutoFit/>
          </a:bodyPr>
          <a:lstStyle/>
          <a:p>
            <a:pPr algn="ctr">
              <a:lnSpc>
                <a:spcPct val="120000"/>
              </a:lnSpc>
            </a:pPr>
            <a:r>
              <a:rPr sz="950" b="1" i="0">
                <a:solidFill>
                  <a:srgbClr val="BC8CFF"/>
                </a:solidFill>
                <a:latin typeface="Segoe UI"/>
              </a:rPr>
              <a:t>Correlate</a:t>
            </a:r>
          </a:p>
        </p:txBody>
      </p:sp>
      <p:sp>
        <p:nvSpPr>
          <p:cNvPr id="85" name="Rounded Rectangle 84"/>
          <p:cNvSpPr/>
          <p:nvPr/>
        </p:nvSpPr>
        <p:spPr>
          <a:xfrm>
            <a:off x="9121140" y="4956048"/>
            <a:ext cx="786384" cy="274320"/>
          </a:xfrm>
          <a:prstGeom prst="roundRect">
            <a:avLst>
              <a:gd name="adj" fmla="val 50000"/>
            </a:avLst>
          </a:prstGeom>
          <a:solidFill>
            <a:srgbClr val="1C1032"/>
          </a:solidFill>
          <a:ln w="7620">
            <a:solidFill>
              <a:srgbClr val="8957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TextBox 85"/>
          <p:cNvSpPr txBox="1"/>
          <p:nvPr/>
        </p:nvSpPr>
        <p:spPr>
          <a:xfrm>
            <a:off x="9121140" y="4969764"/>
            <a:ext cx="786384" cy="256032"/>
          </a:xfrm>
          <a:prstGeom prst="rect">
            <a:avLst/>
          </a:prstGeom>
          <a:noFill/>
        </p:spPr>
        <p:txBody>
          <a:bodyPr wrap="square" lIns="73152" tIns="36576" rIns="73152" bIns="36576" anchor="ctr">
            <a:spAutoFit/>
          </a:bodyPr>
          <a:lstStyle/>
          <a:p>
            <a:pPr algn="ctr">
              <a:lnSpc>
                <a:spcPct val="120000"/>
              </a:lnSpc>
            </a:pPr>
            <a:r>
              <a:rPr sz="950" b="1" i="0">
                <a:solidFill>
                  <a:srgbClr val="BC8CFF"/>
                </a:solidFill>
                <a:latin typeface="Segoe UI"/>
              </a:rPr>
              <a:t>Enrich</a:t>
            </a:r>
          </a:p>
        </p:txBody>
      </p:sp>
      <p:sp>
        <p:nvSpPr>
          <p:cNvPr id="87" name="Rounded Rectangle 86"/>
          <p:cNvSpPr/>
          <p:nvPr/>
        </p:nvSpPr>
        <p:spPr>
          <a:xfrm>
            <a:off x="9980676" y="4956048"/>
            <a:ext cx="864108" cy="274320"/>
          </a:xfrm>
          <a:prstGeom prst="roundRect">
            <a:avLst>
              <a:gd name="adj" fmla="val 50000"/>
            </a:avLst>
          </a:prstGeom>
          <a:solidFill>
            <a:srgbClr val="1C1032"/>
          </a:solidFill>
          <a:ln w="7620">
            <a:solidFill>
              <a:srgbClr val="8957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TextBox 87"/>
          <p:cNvSpPr txBox="1"/>
          <p:nvPr/>
        </p:nvSpPr>
        <p:spPr>
          <a:xfrm>
            <a:off x="9980676" y="4969764"/>
            <a:ext cx="864108" cy="256032"/>
          </a:xfrm>
          <a:prstGeom prst="rect">
            <a:avLst/>
          </a:prstGeom>
          <a:noFill/>
        </p:spPr>
        <p:txBody>
          <a:bodyPr wrap="square" lIns="73152" tIns="36576" rIns="73152" bIns="36576" anchor="ctr">
            <a:spAutoFit/>
          </a:bodyPr>
          <a:lstStyle/>
          <a:p>
            <a:pPr algn="ctr">
              <a:lnSpc>
                <a:spcPct val="120000"/>
              </a:lnSpc>
            </a:pPr>
            <a:r>
              <a:rPr sz="950" b="1" i="0">
                <a:solidFill>
                  <a:srgbClr val="BC8CFF"/>
                </a:solidFill>
                <a:latin typeface="Segoe UI"/>
              </a:rPr>
              <a:t>Analyze</a:t>
            </a:r>
          </a:p>
        </p:txBody>
      </p:sp>
      <p:sp>
        <p:nvSpPr>
          <p:cNvPr id="89" name="Rounded Rectangle 88"/>
          <p:cNvSpPr/>
          <p:nvPr/>
        </p:nvSpPr>
        <p:spPr>
          <a:xfrm>
            <a:off x="10917936" y="4956048"/>
            <a:ext cx="786384" cy="274320"/>
          </a:xfrm>
          <a:prstGeom prst="roundRect">
            <a:avLst>
              <a:gd name="adj" fmla="val 50000"/>
            </a:avLst>
          </a:prstGeom>
          <a:solidFill>
            <a:srgbClr val="1C1032"/>
          </a:solidFill>
          <a:ln w="7620">
            <a:solidFill>
              <a:srgbClr val="8957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TextBox 89"/>
          <p:cNvSpPr txBox="1"/>
          <p:nvPr/>
        </p:nvSpPr>
        <p:spPr>
          <a:xfrm>
            <a:off x="10917936" y="4969764"/>
            <a:ext cx="786384" cy="256032"/>
          </a:xfrm>
          <a:prstGeom prst="rect">
            <a:avLst/>
          </a:prstGeom>
          <a:noFill/>
        </p:spPr>
        <p:txBody>
          <a:bodyPr wrap="square" lIns="73152" tIns="36576" rIns="73152" bIns="36576" anchor="ctr">
            <a:spAutoFit/>
          </a:bodyPr>
          <a:lstStyle/>
          <a:p>
            <a:pPr algn="ctr">
              <a:lnSpc>
                <a:spcPct val="120000"/>
              </a:lnSpc>
            </a:pPr>
            <a:r>
              <a:rPr sz="950" b="1" i="0">
                <a:solidFill>
                  <a:srgbClr val="BC8CFF"/>
                </a:solidFill>
                <a:latin typeface="Segoe UI"/>
              </a:rPr>
              <a:t>Report</a:t>
            </a:r>
          </a:p>
        </p:txBody>
      </p:sp>
      <p:sp>
        <p:nvSpPr>
          <p:cNvPr id="91" name="Rectangle 90"/>
          <p:cNvSpPr/>
          <p:nvPr/>
        </p:nvSpPr>
        <p:spPr>
          <a:xfrm>
            <a:off x="6021324" y="5404104"/>
            <a:ext cx="27432" cy="128016"/>
          </a:xfrm>
          <a:prstGeom prst="rect">
            <a:avLst/>
          </a:prstGeom>
          <a:solidFill>
            <a:srgbClr val="895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Isosceles Triangle 91"/>
          <p:cNvSpPr/>
          <p:nvPr/>
        </p:nvSpPr>
        <p:spPr>
          <a:xfrm rot="10800000">
            <a:off x="5943600" y="5513832"/>
            <a:ext cx="182880" cy="146304"/>
          </a:xfrm>
          <a:prstGeom prst="triangle">
            <a:avLst/>
          </a:prstGeom>
          <a:solidFill>
            <a:srgbClr val="8957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Rounded Rectangle 92"/>
          <p:cNvSpPr/>
          <p:nvPr/>
        </p:nvSpPr>
        <p:spPr>
          <a:xfrm>
            <a:off x="548640" y="5550408"/>
            <a:ext cx="2715768" cy="868680"/>
          </a:xfrm>
          <a:prstGeom prst="roundRect">
            <a:avLst>
              <a:gd name="adj" fmla="val 5000"/>
            </a:avLst>
          </a:prstGeom>
          <a:solidFill>
            <a:srgbClr val="2E131C"/>
          </a:solidFill>
          <a:ln w="12700">
            <a:solidFill>
              <a:srgbClr val="F8514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TextBox 93"/>
          <p:cNvSpPr txBox="1"/>
          <p:nvPr/>
        </p:nvSpPr>
        <p:spPr>
          <a:xfrm>
            <a:off x="640080" y="5586984"/>
            <a:ext cx="2532888" cy="274320"/>
          </a:xfrm>
          <a:prstGeom prst="rect">
            <a:avLst/>
          </a:prstGeom>
          <a:noFill/>
        </p:spPr>
        <p:txBody>
          <a:bodyPr wrap="square" lIns="73152" tIns="36576" rIns="73152" bIns="36576" anchor="t">
            <a:spAutoFit/>
          </a:bodyPr>
          <a:lstStyle/>
          <a:p>
            <a:pPr algn="l">
              <a:lnSpc>
                <a:spcPct val="120000"/>
              </a:lnSpc>
            </a:pPr>
            <a:r>
              <a:rPr sz="1100" b="1" i="0">
                <a:solidFill>
                  <a:srgbClr val="FF7B72"/>
                </a:solidFill>
                <a:latin typeface="Segoe UI"/>
              </a:rPr>
              <a:t>📊 CISO Dashboard</a:t>
            </a:r>
          </a:p>
        </p:txBody>
      </p:sp>
      <p:sp>
        <p:nvSpPr>
          <p:cNvPr id="95" name="TextBox 94"/>
          <p:cNvSpPr txBox="1"/>
          <p:nvPr/>
        </p:nvSpPr>
        <p:spPr>
          <a:xfrm>
            <a:off x="640080" y="5815584"/>
            <a:ext cx="2532888" cy="201168"/>
          </a:xfrm>
          <a:prstGeom prst="rect">
            <a:avLst/>
          </a:prstGeom>
          <a:noFill/>
        </p:spPr>
        <p:txBody>
          <a:bodyPr wrap="square" lIns="73152" tIns="36576" rIns="73152" bIns="36576" anchor="t">
            <a:spAutoFit/>
          </a:bodyPr>
          <a:lstStyle/>
          <a:p>
            <a:pPr algn="l">
              <a:lnSpc>
                <a:spcPct val="120000"/>
              </a:lnSpc>
            </a:pPr>
            <a:r>
              <a:rPr sz="900" b="0" i="1">
                <a:solidFill>
                  <a:srgbClr val="FF7B72"/>
                </a:solidFill>
                <a:latin typeface="Segoe UI"/>
              </a:rPr>
              <a:t>CISO · VP · Board</a:t>
            </a:r>
          </a:p>
        </p:txBody>
      </p:sp>
      <p:sp>
        <p:nvSpPr>
          <p:cNvPr id="96" name="TextBox 95"/>
          <p:cNvSpPr txBox="1"/>
          <p:nvPr/>
        </p:nvSpPr>
        <p:spPr>
          <a:xfrm>
            <a:off x="640080" y="6035040"/>
            <a:ext cx="2532888" cy="365760"/>
          </a:xfrm>
          <a:prstGeom prst="rect">
            <a:avLst/>
          </a:prstGeom>
          <a:noFill/>
        </p:spPr>
        <p:txBody>
          <a:bodyPr wrap="square" lIns="73152" tIns="36576" rIns="73152" bIns="36576" anchor="t">
            <a:spAutoFit/>
          </a:bodyPr>
          <a:lstStyle/>
          <a:p>
            <a:pPr algn="l">
              <a:lnSpc>
                <a:spcPct val="125000"/>
              </a:lnSpc>
            </a:pPr>
            <a:r>
              <a:rPr sz="900" b="0" i="0">
                <a:solidFill>
                  <a:srgbClr val="9AA7BD"/>
                </a:solidFill>
                <a:latin typeface="Segoe UI"/>
              </a:rPr>
              <a:t>KPIs · Secure Score · Risk</a:t>
            </a:r>
          </a:p>
        </p:txBody>
      </p:sp>
      <p:sp>
        <p:nvSpPr>
          <p:cNvPr id="97" name="Rounded Rectangle 96"/>
          <p:cNvSpPr/>
          <p:nvPr/>
        </p:nvSpPr>
        <p:spPr>
          <a:xfrm>
            <a:off x="3355848" y="5550408"/>
            <a:ext cx="2715768" cy="868680"/>
          </a:xfrm>
          <a:prstGeom prst="roundRect">
            <a:avLst>
              <a:gd name="adj" fmla="val 5000"/>
            </a:avLst>
          </a:prstGeom>
          <a:solidFill>
            <a:srgbClr val="0F213A"/>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TextBox 97"/>
          <p:cNvSpPr txBox="1"/>
          <p:nvPr/>
        </p:nvSpPr>
        <p:spPr>
          <a:xfrm>
            <a:off x="3447288" y="5586984"/>
            <a:ext cx="2532888" cy="274320"/>
          </a:xfrm>
          <a:prstGeom prst="rect">
            <a:avLst/>
          </a:prstGeom>
          <a:noFill/>
        </p:spPr>
        <p:txBody>
          <a:bodyPr wrap="square" lIns="73152" tIns="36576" rIns="73152" bIns="36576" anchor="t">
            <a:spAutoFit/>
          </a:bodyPr>
          <a:lstStyle/>
          <a:p>
            <a:pPr algn="l">
              <a:lnSpc>
                <a:spcPct val="120000"/>
              </a:lnSpc>
            </a:pPr>
            <a:r>
              <a:rPr sz="1100" b="1" i="0">
                <a:solidFill>
                  <a:srgbClr val="79C0FF"/>
                </a:solidFill>
                <a:latin typeface="Segoe UI"/>
              </a:rPr>
              <a:t>💥 Attack Path View</a:t>
            </a:r>
          </a:p>
        </p:txBody>
      </p:sp>
      <p:sp>
        <p:nvSpPr>
          <p:cNvPr id="99" name="TextBox 98"/>
          <p:cNvSpPr txBox="1"/>
          <p:nvPr/>
        </p:nvSpPr>
        <p:spPr>
          <a:xfrm>
            <a:off x="3447288" y="5815584"/>
            <a:ext cx="2532888" cy="201168"/>
          </a:xfrm>
          <a:prstGeom prst="rect">
            <a:avLst/>
          </a:prstGeom>
          <a:noFill/>
        </p:spPr>
        <p:txBody>
          <a:bodyPr wrap="square" lIns="73152" tIns="36576" rIns="73152" bIns="36576" anchor="t">
            <a:spAutoFit/>
          </a:bodyPr>
          <a:lstStyle/>
          <a:p>
            <a:pPr algn="l">
              <a:lnSpc>
                <a:spcPct val="120000"/>
              </a:lnSpc>
            </a:pPr>
            <a:r>
              <a:rPr sz="900" b="0" i="1">
                <a:solidFill>
                  <a:srgbClr val="79C0FF"/>
                </a:solidFill>
                <a:latin typeface="Segoe UI"/>
              </a:rPr>
              <a:t>Security Architect</a:t>
            </a:r>
          </a:p>
        </p:txBody>
      </p:sp>
      <p:sp>
        <p:nvSpPr>
          <p:cNvPr id="100" name="TextBox 99"/>
          <p:cNvSpPr txBox="1"/>
          <p:nvPr/>
        </p:nvSpPr>
        <p:spPr>
          <a:xfrm>
            <a:off x="3447288" y="6035040"/>
            <a:ext cx="2532888" cy="365760"/>
          </a:xfrm>
          <a:prstGeom prst="rect">
            <a:avLst/>
          </a:prstGeom>
          <a:noFill/>
        </p:spPr>
        <p:txBody>
          <a:bodyPr wrap="square" lIns="73152" tIns="36576" rIns="73152" bIns="36576" anchor="t">
            <a:spAutoFit/>
          </a:bodyPr>
          <a:lstStyle/>
          <a:p>
            <a:pPr algn="l">
              <a:lnSpc>
                <a:spcPct val="125000"/>
              </a:lnSpc>
            </a:pPr>
            <a:r>
              <a:rPr sz="900" b="0" i="0">
                <a:solidFill>
                  <a:srgbClr val="9AA7BD"/>
                </a:solidFill>
                <a:latin typeface="Segoe UI"/>
              </a:rPr>
              <a:t>Choke points · Blast radius</a:t>
            </a:r>
          </a:p>
        </p:txBody>
      </p:sp>
      <p:sp>
        <p:nvSpPr>
          <p:cNvPr id="101" name="Rounded Rectangle 100"/>
          <p:cNvSpPr/>
          <p:nvPr/>
        </p:nvSpPr>
        <p:spPr>
          <a:xfrm>
            <a:off x="6163056" y="5550408"/>
            <a:ext cx="2715768" cy="868680"/>
          </a:xfrm>
          <a:prstGeom prst="roundRect">
            <a:avLst>
              <a:gd name="adj" fmla="val 5000"/>
            </a:avLst>
          </a:prstGeom>
          <a:solidFill>
            <a:srgbClr val="2A1F10"/>
          </a:solidFill>
          <a:ln w="12700">
            <a:solidFill>
              <a:srgbClr val="D299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 name="TextBox 101"/>
          <p:cNvSpPr txBox="1"/>
          <p:nvPr/>
        </p:nvSpPr>
        <p:spPr>
          <a:xfrm>
            <a:off x="6254496" y="5586984"/>
            <a:ext cx="2532888" cy="274320"/>
          </a:xfrm>
          <a:prstGeom prst="rect">
            <a:avLst/>
          </a:prstGeom>
          <a:noFill/>
        </p:spPr>
        <p:txBody>
          <a:bodyPr wrap="square" lIns="73152" tIns="36576" rIns="73152" bIns="36576" anchor="t">
            <a:spAutoFit/>
          </a:bodyPr>
          <a:lstStyle/>
          <a:p>
            <a:pPr algn="l">
              <a:lnSpc>
                <a:spcPct val="120000"/>
              </a:lnSpc>
            </a:pPr>
            <a:r>
              <a:rPr sz="1100" b="1" i="0">
                <a:solidFill>
                  <a:srgbClr val="E3B341"/>
                </a:solidFill>
                <a:latin typeface="Segoe UI"/>
              </a:rPr>
              <a:t>📋 Remediation Backlog</a:t>
            </a:r>
          </a:p>
        </p:txBody>
      </p:sp>
      <p:sp>
        <p:nvSpPr>
          <p:cNvPr id="103" name="TextBox 102"/>
          <p:cNvSpPr txBox="1"/>
          <p:nvPr/>
        </p:nvSpPr>
        <p:spPr>
          <a:xfrm>
            <a:off x="6254496" y="5815584"/>
            <a:ext cx="2532888" cy="201168"/>
          </a:xfrm>
          <a:prstGeom prst="rect">
            <a:avLst/>
          </a:prstGeom>
          <a:noFill/>
        </p:spPr>
        <p:txBody>
          <a:bodyPr wrap="square" lIns="73152" tIns="36576" rIns="73152" bIns="36576" anchor="t">
            <a:spAutoFit/>
          </a:bodyPr>
          <a:lstStyle/>
          <a:p>
            <a:pPr algn="l">
              <a:lnSpc>
                <a:spcPct val="120000"/>
              </a:lnSpc>
            </a:pPr>
            <a:r>
              <a:rPr sz="900" b="0" i="1">
                <a:solidFill>
                  <a:srgbClr val="E3B341"/>
                </a:solidFill>
                <a:latin typeface="Segoe UI"/>
              </a:rPr>
              <a:t>PM · IT Director</a:t>
            </a:r>
          </a:p>
        </p:txBody>
      </p:sp>
      <p:sp>
        <p:nvSpPr>
          <p:cNvPr id="104" name="TextBox 103"/>
          <p:cNvSpPr txBox="1"/>
          <p:nvPr/>
        </p:nvSpPr>
        <p:spPr>
          <a:xfrm>
            <a:off x="6254496" y="6035040"/>
            <a:ext cx="2532888" cy="365760"/>
          </a:xfrm>
          <a:prstGeom prst="rect">
            <a:avLst/>
          </a:prstGeom>
          <a:noFill/>
        </p:spPr>
        <p:txBody>
          <a:bodyPr wrap="square" lIns="73152" tIns="36576" rIns="73152" bIns="36576" anchor="t">
            <a:spAutoFit/>
          </a:bodyPr>
          <a:lstStyle/>
          <a:p>
            <a:pPr algn="l">
              <a:lnSpc>
                <a:spcPct val="125000"/>
              </a:lnSpc>
            </a:pPr>
            <a:r>
              <a:rPr sz="900" b="0" i="0">
                <a:solidFill>
                  <a:srgbClr val="9AA7BD"/>
                </a:solidFill>
                <a:latin typeface="Segoe UI"/>
              </a:rPr>
              <a:t>P1–P4 · SLAs · Owners</a:t>
            </a:r>
          </a:p>
        </p:txBody>
      </p:sp>
      <p:sp>
        <p:nvSpPr>
          <p:cNvPr id="105" name="Rounded Rectangle 104"/>
          <p:cNvSpPr/>
          <p:nvPr/>
        </p:nvSpPr>
        <p:spPr>
          <a:xfrm>
            <a:off x="8970264" y="5550408"/>
            <a:ext cx="2715768" cy="868680"/>
          </a:xfrm>
          <a:prstGeom prst="roundRect">
            <a:avLst>
              <a:gd name="adj" fmla="val 5000"/>
            </a:avLst>
          </a:prstGeom>
          <a:solidFill>
            <a:srgbClr val="102B1A"/>
          </a:solidFill>
          <a:ln w="12700">
            <a:solidFill>
              <a:srgbClr val="3FB9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 name="TextBox 105"/>
          <p:cNvSpPr txBox="1"/>
          <p:nvPr/>
        </p:nvSpPr>
        <p:spPr>
          <a:xfrm>
            <a:off x="9061704" y="5586984"/>
            <a:ext cx="2532888" cy="274320"/>
          </a:xfrm>
          <a:prstGeom prst="rect">
            <a:avLst/>
          </a:prstGeom>
          <a:noFill/>
        </p:spPr>
        <p:txBody>
          <a:bodyPr wrap="square" lIns="73152" tIns="36576" rIns="73152" bIns="36576" anchor="t">
            <a:spAutoFit/>
          </a:bodyPr>
          <a:lstStyle/>
          <a:p>
            <a:pPr algn="l">
              <a:lnSpc>
                <a:spcPct val="120000"/>
              </a:lnSpc>
            </a:pPr>
            <a:r>
              <a:rPr sz="1100" b="1" i="0">
                <a:solidFill>
                  <a:srgbClr val="56D364"/>
                </a:solidFill>
                <a:latin typeface="Segoe UI"/>
              </a:rPr>
              <a:t>🔧 Ops Work Queue</a:t>
            </a:r>
          </a:p>
        </p:txBody>
      </p:sp>
      <p:sp>
        <p:nvSpPr>
          <p:cNvPr id="107" name="TextBox 106"/>
          <p:cNvSpPr txBox="1"/>
          <p:nvPr/>
        </p:nvSpPr>
        <p:spPr>
          <a:xfrm>
            <a:off x="9061704" y="5815584"/>
            <a:ext cx="2532888" cy="201168"/>
          </a:xfrm>
          <a:prstGeom prst="rect">
            <a:avLst/>
          </a:prstGeom>
          <a:noFill/>
        </p:spPr>
        <p:txBody>
          <a:bodyPr wrap="square" lIns="73152" tIns="36576" rIns="73152" bIns="36576" anchor="t">
            <a:spAutoFit/>
          </a:bodyPr>
          <a:lstStyle/>
          <a:p>
            <a:pPr algn="l">
              <a:lnSpc>
                <a:spcPct val="120000"/>
              </a:lnSpc>
            </a:pPr>
            <a:r>
              <a:rPr sz="900" b="0" i="1">
                <a:solidFill>
                  <a:srgbClr val="56D364"/>
                </a:solidFill>
                <a:latin typeface="Segoe UI"/>
              </a:rPr>
              <a:t>Infra · Operations</a:t>
            </a:r>
          </a:p>
        </p:txBody>
      </p:sp>
      <p:sp>
        <p:nvSpPr>
          <p:cNvPr id="108" name="TextBox 107"/>
          <p:cNvSpPr txBox="1"/>
          <p:nvPr/>
        </p:nvSpPr>
        <p:spPr>
          <a:xfrm>
            <a:off x="9061704" y="6035040"/>
            <a:ext cx="2532888" cy="365760"/>
          </a:xfrm>
          <a:prstGeom prst="rect">
            <a:avLst/>
          </a:prstGeom>
          <a:noFill/>
        </p:spPr>
        <p:txBody>
          <a:bodyPr wrap="square" lIns="73152" tIns="36576" rIns="73152" bIns="36576" anchor="t">
            <a:spAutoFit/>
          </a:bodyPr>
          <a:lstStyle/>
          <a:p>
            <a:pPr algn="l">
              <a:lnSpc>
                <a:spcPct val="125000"/>
              </a:lnSpc>
            </a:pPr>
            <a:r>
              <a:rPr sz="900" b="0" i="0">
                <a:solidFill>
                  <a:srgbClr val="9AA7BD"/>
                </a:solidFill>
                <a:latin typeface="Segoe UI"/>
              </a:rPr>
              <a:t>Patch · KBs · Work orders</a:t>
            </a:r>
          </a:p>
        </p:txBody>
      </p:sp>
      <p:sp>
        <p:nvSpPr>
          <p:cNvPr id="109" name="TextBox 108"/>
          <p:cNvSpPr txBox="1"/>
          <p:nvPr/>
        </p:nvSpPr>
        <p:spPr>
          <a:xfrm>
            <a:off x="548640" y="6537960"/>
            <a:ext cx="11155680" cy="274320"/>
          </a:xfrm>
          <a:prstGeom prst="rect">
            <a:avLst/>
          </a:prstGeom>
          <a:noFill/>
        </p:spPr>
        <p:txBody>
          <a:bodyPr wrap="square" lIns="73152" tIns="36576" rIns="73152" bIns="36576" anchor="t">
            <a:spAutoFit/>
          </a:bodyPr>
          <a:lstStyle/>
          <a:p>
            <a:pPr algn="l">
              <a:lnSpc>
                <a:spcPct val="120000"/>
              </a:lnSpc>
            </a:pPr>
            <a:r>
              <a:rPr sz="1000" b="0" i="0">
                <a:solidFill>
                  <a:srgbClr val="9AA7BD"/>
                </a:solidFill>
                <a:latin typeface="Segoe UI"/>
              </a:rPr>
              <a:t>02b · Components behind the agent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B1020"/>
        </a:solidFill>
        <a:effectLst/>
      </p:bgPr>
    </p:bg>
    <p:spTree>
      <p:nvGrpSpPr>
        <p:cNvPr id="1" name=""/>
        <p:cNvGrpSpPr/>
        <p:nvPr/>
      </p:nvGrpSpPr>
      <p:grpSpPr>
        <a:xfrm>
          <a:off x="0" y="0"/>
          <a:ext cx="0" cy="0"/>
          <a:chOff x="0" y="0"/>
          <a:chExt cx="0" cy="0"/>
        </a:xfrm>
      </p:grpSpPr>
      <p:sp>
        <p:nvSpPr>
          <p:cNvPr id="2" name="TextBox 1"/>
          <p:cNvSpPr txBox="1"/>
          <p:nvPr/>
        </p:nvSpPr>
        <p:spPr>
          <a:xfrm>
            <a:off x="548640" y="91440"/>
            <a:ext cx="10972800" cy="274320"/>
          </a:xfrm>
          <a:prstGeom prst="rect">
            <a:avLst/>
          </a:prstGeom>
          <a:noFill/>
        </p:spPr>
        <p:txBody>
          <a:bodyPr wrap="square" lIns="73152" tIns="36576" rIns="73152" bIns="36576" anchor="t">
            <a:spAutoFit/>
          </a:bodyPr>
          <a:lstStyle/>
          <a:p>
            <a:pPr algn="l">
              <a:lnSpc>
                <a:spcPct val="120000"/>
              </a:lnSpc>
            </a:pPr>
            <a:r>
              <a:rPr sz="1100" b="1" i="0">
                <a:solidFill>
                  <a:srgbClr val="4CC2FF"/>
                </a:solidFill>
                <a:latin typeface="Segoe UI"/>
              </a:rPr>
              <a:t>WHAT IT LOOKS LIKE</a:t>
            </a:r>
          </a:p>
        </p:txBody>
      </p:sp>
      <p:sp>
        <p:nvSpPr>
          <p:cNvPr id="3" name="TextBox 2"/>
          <p:cNvSpPr txBox="1"/>
          <p:nvPr/>
        </p:nvSpPr>
        <p:spPr>
          <a:xfrm>
            <a:off x="548640" y="320040"/>
            <a:ext cx="11155680" cy="731520"/>
          </a:xfrm>
          <a:prstGeom prst="rect">
            <a:avLst/>
          </a:prstGeom>
          <a:noFill/>
        </p:spPr>
        <p:txBody>
          <a:bodyPr wrap="square" lIns="73152" tIns="36576" rIns="73152" bIns="36576" anchor="t">
            <a:spAutoFit/>
          </a:bodyPr>
          <a:lstStyle/>
          <a:p>
            <a:pPr algn="l">
              <a:lnSpc>
                <a:spcPct val="120000"/>
              </a:lnSpc>
            </a:pPr>
            <a:r>
              <a:rPr sz="2800" b="1" i="0">
                <a:solidFill>
                  <a:srgbClr val="FFFFFF"/>
                </a:solidFill>
                <a:latin typeface="Segoe UI"/>
              </a:rPr>
              <a:t>One prompt per persona — Copilot does the rest</a:t>
            </a:r>
          </a:p>
        </p:txBody>
      </p:sp>
      <p:sp>
        <p:nvSpPr>
          <p:cNvPr id="4" name="Rounded Rectangle 3"/>
          <p:cNvSpPr/>
          <p:nvPr/>
        </p:nvSpPr>
        <p:spPr>
          <a:xfrm>
            <a:off x="548640" y="1280160"/>
            <a:ext cx="11155680" cy="1143000"/>
          </a:xfrm>
          <a:prstGeom prst="roundRect">
            <a:avLst>
              <a:gd name="adj" fmla="val 4000"/>
            </a:avLst>
          </a:prstGeom>
          <a:solidFill>
            <a:srgbClr val="111A33"/>
          </a:solidFill>
          <a:ln w="12700">
            <a:solidFill>
              <a:srgbClr val="7C5C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1280160"/>
            <a:ext cx="109728" cy="1143000"/>
          </a:xfrm>
          <a:prstGeom prst="rect">
            <a:avLst/>
          </a:prstGeom>
          <a:solidFill>
            <a:srgbClr val="7C5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1353312"/>
            <a:ext cx="2377440" cy="457200"/>
          </a:xfrm>
          <a:prstGeom prst="rect">
            <a:avLst/>
          </a:prstGeom>
          <a:noFill/>
        </p:spPr>
        <p:txBody>
          <a:bodyPr wrap="square" lIns="73152" tIns="36576" rIns="73152" bIns="36576" anchor="t">
            <a:spAutoFit/>
          </a:bodyPr>
          <a:lstStyle/>
          <a:p>
            <a:pPr algn="l">
              <a:lnSpc>
                <a:spcPct val="120000"/>
              </a:lnSpc>
            </a:pPr>
            <a:r>
              <a:rPr sz="1400" b="1" i="0">
                <a:solidFill>
                  <a:srgbClr val="7C5CFF"/>
                </a:solidFill>
                <a:latin typeface="Segoe UI"/>
              </a:rPr>
              <a:t>SOC Analyst</a:t>
            </a:r>
          </a:p>
        </p:txBody>
      </p:sp>
      <p:sp>
        <p:nvSpPr>
          <p:cNvPr id="7" name="TextBox 6"/>
          <p:cNvSpPr txBox="1"/>
          <p:nvPr/>
        </p:nvSpPr>
        <p:spPr>
          <a:xfrm>
            <a:off x="3200400" y="1353312"/>
            <a:ext cx="8412480" cy="502920"/>
          </a:xfrm>
          <a:prstGeom prst="rect">
            <a:avLst/>
          </a:prstGeom>
          <a:noFill/>
        </p:spPr>
        <p:txBody>
          <a:bodyPr wrap="square" lIns="73152" tIns="36576" rIns="73152" bIns="36576" anchor="t">
            <a:spAutoFit/>
          </a:bodyPr>
          <a:lstStyle/>
          <a:p>
            <a:pPr algn="l">
              <a:lnSpc>
                <a:spcPct val="120000"/>
              </a:lnSpc>
            </a:pPr>
            <a:r>
              <a:rPr sz="1400" b="0" i="1">
                <a:solidFill>
                  <a:srgbClr val="FFFFFF"/>
                </a:solidFill>
                <a:latin typeface="Segoe UI"/>
              </a:rPr>
              <a:t>“Investigate incident 12345.”</a:t>
            </a:r>
          </a:p>
        </p:txBody>
      </p:sp>
      <p:sp>
        <p:nvSpPr>
          <p:cNvPr id="8" name="TextBox 7"/>
          <p:cNvSpPr txBox="1"/>
          <p:nvPr/>
        </p:nvSpPr>
        <p:spPr>
          <a:xfrm>
            <a:off x="3200400" y="1828800"/>
            <a:ext cx="8412480" cy="548640"/>
          </a:xfrm>
          <a:prstGeom prst="rect">
            <a:avLst/>
          </a:prstGeom>
          <a:noFill/>
        </p:spPr>
        <p:txBody>
          <a:bodyPr wrap="square" lIns="73152" tIns="36576" rIns="73152" bIns="36576" anchor="t">
            <a:spAutoFit/>
          </a:bodyPr>
          <a:lstStyle/>
          <a:p>
            <a:pPr algn="l">
              <a:lnSpc>
                <a:spcPct val="120000"/>
              </a:lnSpc>
            </a:pPr>
            <a:r>
              <a:rPr sz="1100" b="0" i="0">
                <a:solidFill>
                  <a:srgbClr val="9AA7BD"/>
                </a:solidFill>
                <a:latin typeface="Segoe UI"/>
              </a:rPr>
              <a:t>incident-investigation skill: pulls alerts, entities, sign-ins, enriches IPs, generates HTML/JSON report.</a:t>
            </a:r>
          </a:p>
        </p:txBody>
      </p:sp>
      <p:sp>
        <p:nvSpPr>
          <p:cNvPr id="9" name="Rounded Rectangle 8"/>
          <p:cNvSpPr/>
          <p:nvPr/>
        </p:nvSpPr>
        <p:spPr>
          <a:xfrm>
            <a:off x="548640" y="2560320"/>
            <a:ext cx="11155680" cy="1143000"/>
          </a:xfrm>
          <a:prstGeom prst="roundRect">
            <a:avLst>
              <a:gd name="adj" fmla="val 4000"/>
            </a:avLst>
          </a:prstGeom>
          <a:solidFill>
            <a:srgbClr val="111A33"/>
          </a:solidFill>
          <a:ln w="12700">
            <a:solidFill>
              <a:srgbClr val="FFB4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2560320"/>
            <a:ext cx="109728" cy="1143000"/>
          </a:xfrm>
          <a:prstGeom prst="rect">
            <a:avLst/>
          </a:prstGeom>
          <a:solidFill>
            <a:srgbClr val="FFB4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77240" y="2633472"/>
            <a:ext cx="2377440" cy="457200"/>
          </a:xfrm>
          <a:prstGeom prst="rect">
            <a:avLst/>
          </a:prstGeom>
          <a:noFill/>
        </p:spPr>
        <p:txBody>
          <a:bodyPr wrap="square" lIns="73152" tIns="36576" rIns="73152" bIns="36576" anchor="t">
            <a:spAutoFit/>
          </a:bodyPr>
          <a:lstStyle/>
          <a:p>
            <a:pPr algn="l">
              <a:lnSpc>
                <a:spcPct val="120000"/>
              </a:lnSpc>
            </a:pPr>
            <a:r>
              <a:rPr sz="1400" b="1" i="0">
                <a:solidFill>
                  <a:srgbClr val="FFB454"/>
                </a:solidFill>
                <a:latin typeface="Segoe UI"/>
              </a:rPr>
              <a:t>Threat Hunter</a:t>
            </a:r>
          </a:p>
        </p:txBody>
      </p:sp>
      <p:sp>
        <p:nvSpPr>
          <p:cNvPr id="12" name="TextBox 11"/>
          <p:cNvSpPr txBox="1"/>
          <p:nvPr/>
        </p:nvSpPr>
        <p:spPr>
          <a:xfrm>
            <a:off x="3200400" y="2633472"/>
            <a:ext cx="8412480" cy="502920"/>
          </a:xfrm>
          <a:prstGeom prst="rect">
            <a:avLst/>
          </a:prstGeom>
          <a:noFill/>
        </p:spPr>
        <p:txBody>
          <a:bodyPr wrap="square" lIns="73152" tIns="36576" rIns="73152" bIns="36576" anchor="t">
            <a:spAutoFit/>
          </a:bodyPr>
          <a:lstStyle/>
          <a:p>
            <a:pPr algn="l">
              <a:lnSpc>
                <a:spcPct val="120000"/>
              </a:lnSpc>
            </a:pPr>
            <a:r>
              <a:rPr sz="1400" b="0" i="1">
                <a:solidFill>
                  <a:srgbClr val="FFFFFF"/>
                </a:solidFill>
                <a:latin typeface="Segoe UI"/>
              </a:rPr>
              <a:t>“Find risky sign-ins from new ASNs in the last 7 days.”</a:t>
            </a:r>
          </a:p>
        </p:txBody>
      </p:sp>
      <p:sp>
        <p:nvSpPr>
          <p:cNvPr id="13" name="TextBox 12"/>
          <p:cNvSpPr txBox="1"/>
          <p:nvPr/>
        </p:nvSpPr>
        <p:spPr>
          <a:xfrm>
            <a:off x="3200400" y="3108960"/>
            <a:ext cx="8412480" cy="548640"/>
          </a:xfrm>
          <a:prstGeom prst="rect">
            <a:avLst/>
          </a:prstGeom>
          <a:noFill/>
        </p:spPr>
        <p:txBody>
          <a:bodyPr wrap="square" lIns="73152" tIns="36576" rIns="73152" bIns="36576" anchor="t">
            <a:spAutoFit/>
          </a:bodyPr>
          <a:lstStyle/>
          <a:p>
            <a:pPr algn="l">
              <a:lnSpc>
                <a:spcPct val="120000"/>
              </a:lnSpc>
            </a:pPr>
            <a:r>
              <a:rPr sz="1100" b="0" i="0">
                <a:solidFill>
                  <a:srgbClr val="9AA7BD"/>
                </a:solidFill>
                <a:latin typeface="Segoe UI"/>
              </a:rPr>
              <a:t>kql-query-builder + Sentinel MCP: writes &amp; runs KQL, returns anomalies with baseline comparison.</a:t>
            </a:r>
          </a:p>
        </p:txBody>
      </p:sp>
      <p:sp>
        <p:nvSpPr>
          <p:cNvPr id="14" name="Rounded Rectangle 13"/>
          <p:cNvSpPr/>
          <p:nvPr/>
        </p:nvSpPr>
        <p:spPr>
          <a:xfrm>
            <a:off x="548640" y="3840479"/>
            <a:ext cx="11155680" cy="1143000"/>
          </a:xfrm>
          <a:prstGeom prst="roundRect">
            <a:avLst>
              <a:gd name="adj" fmla="val 4000"/>
            </a:avLst>
          </a:prstGeom>
          <a:solidFill>
            <a:srgbClr val="111A33"/>
          </a:solid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48640" y="3840479"/>
            <a:ext cx="109728" cy="1143000"/>
          </a:xfrm>
          <a:prstGeom prst="rect">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77240" y="3913631"/>
            <a:ext cx="2377440" cy="457200"/>
          </a:xfrm>
          <a:prstGeom prst="rect">
            <a:avLst/>
          </a:prstGeom>
          <a:noFill/>
        </p:spPr>
        <p:txBody>
          <a:bodyPr wrap="square" lIns="73152" tIns="36576" rIns="73152" bIns="36576" anchor="t">
            <a:spAutoFit/>
          </a:bodyPr>
          <a:lstStyle/>
          <a:p>
            <a:pPr algn="l">
              <a:lnSpc>
                <a:spcPct val="120000"/>
              </a:lnSpc>
            </a:pPr>
            <a:r>
              <a:rPr sz="1400" b="1" i="0">
                <a:solidFill>
                  <a:srgbClr val="3DDC97"/>
                </a:solidFill>
                <a:latin typeface="Segoe UI"/>
              </a:rPr>
              <a:t>Detection Engineer</a:t>
            </a:r>
          </a:p>
        </p:txBody>
      </p:sp>
      <p:sp>
        <p:nvSpPr>
          <p:cNvPr id="17" name="TextBox 16"/>
          <p:cNvSpPr txBox="1"/>
          <p:nvPr/>
        </p:nvSpPr>
        <p:spPr>
          <a:xfrm>
            <a:off x="3200400" y="3913631"/>
            <a:ext cx="8412480" cy="502920"/>
          </a:xfrm>
          <a:prstGeom prst="rect">
            <a:avLst/>
          </a:prstGeom>
          <a:noFill/>
        </p:spPr>
        <p:txBody>
          <a:bodyPr wrap="square" lIns="73152" tIns="36576" rIns="73152" bIns="36576" anchor="t">
            <a:spAutoFit/>
          </a:bodyPr>
          <a:lstStyle/>
          <a:p>
            <a:pPr algn="l">
              <a:lnSpc>
                <a:spcPct val="120000"/>
              </a:lnSpc>
            </a:pPr>
            <a:r>
              <a:rPr sz="1400" b="0" i="1">
                <a:solidFill>
                  <a:srgbClr val="FFFFFF"/>
                </a:solidFill>
                <a:latin typeface="Segoe UI"/>
              </a:rPr>
              <a:t>“Convert this Sigma rule to a Sentinel analytic rule.”</a:t>
            </a:r>
          </a:p>
        </p:txBody>
      </p:sp>
      <p:sp>
        <p:nvSpPr>
          <p:cNvPr id="18" name="TextBox 17"/>
          <p:cNvSpPr txBox="1"/>
          <p:nvPr/>
        </p:nvSpPr>
        <p:spPr>
          <a:xfrm>
            <a:off x="3200400" y="4389119"/>
            <a:ext cx="8412480" cy="548640"/>
          </a:xfrm>
          <a:prstGeom prst="rect">
            <a:avLst/>
          </a:prstGeom>
          <a:noFill/>
        </p:spPr>
        <p:txBody>
          <a:bodyPr wrap="square" lIns="73152" tIns="36576" rIns="73152" bIns="36576" anchor="t">
            <a:spAutoFit/>
          </a:bodyPr>
          <a:lstStyle/>
          <a:p>
            <a:pPr algn="l">
              <a:lnSpc>
                <a:spcPct val="120000"/>
              </a:lnSpc>
            </a:pPr>
            <a:r>
              <a:rPr sz="1100" b="0" i="0">
                <a:solidFill>
                  <a:srgbClr val="9AA7BD"/>
                </a:solidFill>
                <a:latin typeface="Segoe UI"/>
              </a:rPr>
              <a:t>detection-engineering skill: parse YAML, map logsource, generate KQL + ARM template, validate schema.</a:t>
            </a:r>
          </a:p>
        </p:txBody>
      </p:sp>
      <p:sp>
        <p:nvSpPr>
          <p:cNvPr id="19" name="Rounded Rectangle 18"/>
          <p:cNvSpPr/>
          <p:nvPr/>
        </p:nvSpPr>
        <p:spPr>
          <a:xfrm>
            <a:off x="548640" y="5120640"/>
            <a:ext cx="11155680" cy="1143000"/>
          </a:xfrm>
          <a:prstGeom prst="roundRect">
            <a:avLst>
              <a:gd name="adj" fmla="val 4000"/>
            </a:avLst>
          </a:prstGeom>
          <a:solidFill>
            <a:srgbClr val="111A33"/>
          </a:solidFill>
          <a:ln w="12700">
            <a:solidFill>
              <a:srgbClr val="4CC2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548640" y="5120640"/>
            <a:ext cx="109728" cy="1143000"/>
          </a:xfrm>
          <a:prstGeom prst="rect">
            <a:avLst/>
          </a:prstGeom>
          <a:solidFill>
            <a:srgbClr val="4CC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77240" y="5193792"/>
            <a:ext cx="2377440" cy="457200"/>
          </a:xfrm>
          <a:prstGeom prst="rect">
            <a:avLst/>
          </a:prstGeom>
          <a:noFill/>
        </p:spPr>
        <p:txBody>
          <a:bodyPr wrap="square" lIns="73152" tIns="36576" rIns="73152" bIns="36576" anchor="t">
            <a:spAutoFit/>
          </a:bodyPr>
          <a:lstStyle/>
          <a:p>
            <a:pPr algn="l">
              <a:lnSpc>
                <a:spcPct val="120000"/>
              </a:lnSpc>
            </a:pPr>
            <a:r>
              <a:rPr sz="1400" b="1" i="0">
                <a:solidFill>
                  <a:srgbClr val="4CC2FF"/>
                </a:solidFill>
                <a:latin typeface="Segoe UI"/>
              </a:rPr>
              <a:t>CISO / Posture Lead</a:t>
            </a:r>
          </a:p>
        </p:txBody>
      </p:sp>
      <p:sp>
        <p:nvSpPr>
          <p:cNvPr id="22" name="TextBox 21"/>
          <p:cNvSpPr txBox="1"/>
          <p:nvPr/>
        </p:nvSpPr>
        <p:spPr>
          <a:xfrm>
            <a:off x="3200400" y="5193792"/>
            <a:ext cx="8412480" cy="502920"/>
          </a:xfrm>
          <a:prstGeom prst="rect">
            <a:avLst/>
          </a:prstGeom>
          <a:noFill/>
        </p:spPr>
        <p:txBody>
          <a:bodyPr wrap="square" lIns="73152" tIns="36576" rIns="73152" bIns="36576" anchor="t">
            <a:spAutoFit/>
          </a:bodyPr>
          <a:lstStyle/>
          <a:p>
            <a:pPr algn="l">
              <a:lnSpc>
                <a:spcPct val="120000"/>
              </a:lnSpc>
            </a:pPr>
            <a:r>
              <a:rPr sz="1400" b="0" i="1">
                <a:solidFill>
                  <a:srgbClr val="FFFFFF"/>
                </a:solidFill>
                <a:latin typeface="Segoe UI"/>
              </a:rPr>
              <a:t>“What is our exposure posture today?”</a:t>
            </a:r>
          </a:p>
        </p:txBody>
      </p:sp>
      <p:sp>
        <p:nvSpPr>
          <p:cNvPr id="23" name="TextBox 22"/>
          <p:cNvSpPr txBox="1"/>
          <p:nvPr/>
        </p:nvSpPr>
        <p:spPr>
          <a:xfrm>
            <a:off x="3200400" y="5669279"/>
            <a:ext cx="8412480" cy="548640"/>
          </a:xfrm>
          <a:prstGeom prst="rect">
            <a:avLst/>
          </a:prstGeom>
          <a:noFill/>
        </p:spPr>
        <p:txBody>
          <a:bodyPr wrap="square" lIns="73152" tIns="36576" rIns="73152" bIns="36576" anchor="t">
            <a:spAutoFit/>
          </a:bodyPr>
          <a:lstStyle/>
          <a:p>
            <a:pPr algn="l">
              <a:lnSpc>
                <a:spcPct val="120000"/>
              </a:lnSpc>
            </a:pPr>
            <a:r>
              <a:rPr sz="1100" b="0" i="0">
                <a:solidFill>
                  <a:srgbClr val="9AA7BD"/>
                </a:solidFill>
                <a:latin typeface="Segoe UI"/>
              </a:rPr>
              <a:t>exposure-management skill: choke points, attack paths, internet exposure, CTEM KPIs.</a:t>
            </a:r>
          </a:p>
        </p:txBody>
      </p:sp>
      <p:sp>
        <p:nvSpPr>
          <p:cNvPr id="24" name="TextBox 23"/>
          <p:cNvSpPr txBox="1"/>
          <p:nvPr/>
        </p:nvSpPr>
        <p:spPr>
          <a:xfrm>
            <a:off x="548640" y="6537960"/>
            <a:ext cx="11155680" cy="274320"/>
          </a:xfrm>
          <a:prstGeom prst="rect">
            <a:avLst/>
          </a:prstGeom>
          <a:noFill/>
        </p:spPr>
        <p:txBody>
          <a:bodyPr wrap="square" lIns="73152" tIns="36576" rIns="73152" bIns="36576" anchor="t">
            <a:spAutoFit/>
          </a:bodyPr>
          <a:lstStyle/>
          <a:p>
            <a:pPr algn="l">
              <a:lnSpc>
                <a:spcPct val="120000"/>
              </a:lnSpc>
            </a:pPr>
            <a:r>
              <a:rPr sz="1000" b="0" i="0">
                <a:solidFill>
                  <a:srgbClr val="9AA7BD"/>
                </a:solidFill>
                <a:latin typeface="Segoe UI"/>
              </a:rPr>
              <a:t>03 · Personas in action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B1020"/>
        </a:solidFill>
        <a:effectLst/>
      </p:bgPr>
    </p:bg>
    <p:spTree>
      <p:nvGrpSpPr>
        <p:cNvPr id="1" name=""/>
        <p:cNvGrpSpPr/>
        <p:nvPr/>
      </p:nvGrpSpPr>
      <p:grpSpPr>
        <a:xfrm>
          <a:off x="0" y="0"/>
          <a:ext cx="0" cy="0"/>
          <a:chOff x="0" y="0"/>
          <a:chExt cx="0" cy="0"/>
        </a:xfrm>
      </p:grpSpPr>
      <p:sp>
        <p:nvSpPr>
          <p:cNvPr id="2" name="TextBox 1"/>
          <p:cNvSpPr txBox="1"/>
          <p:nvPr/>
        </p:nvSpPr>
        <p:spPr>
          <a:xfrm>
            <a:off x="548640" y="91440"/>
            <a:ext cx="10972800" cy="274320"/>
          </a:xfrm>
          <a:prstGeom prst="rect">
            <a:avLst/>
          </a:prstGeom>
          <a:noFill/>
        </p:spPr>
        <p:txBody>
          <a:bodyPr wrap="square" lIns="73152" tIns="36576" rIns="73152" bIns="36576" anchor="t">
            <a:spAutoFit/>
          </a:bodyPr>
          <a:lstStyle/>
          <a:p>
            <a:pPr algn="l">
              <a:lnSpc>
                <a:spcPct val="120000"/>
              </a:lnSpc>
            </a:pPr>
            <a:r>
              <a:rPr sz="1100" b="1" i="0">
                <a:solidFill>
                  <a:srgbClr val="4CC2FF"/>
                </a:solidFill>
                <a:latin typeface="Segoe UI"/>
              </a:rPr>
              <a:t>COPILOT CHAT — LIVE</a:t>
            </a:r>
          </a:p>
        </p:txBody>
      </p:sp>
      <p:sp>
        <p:nvSpPr>
          <p:cNvPr id="3" name="TextBox 2"/>
          <p:cNvSpPr txBox="1"/>
          <p:nvPr/>
        </p:nvSpPr>
        <p:spPr>
          <a:xfrm>
            <a:off x="548640" y="320040"/>
            <a:ext cx="11155680" cy="731520"/>
          </a:xfrm>
          <a:prstGeom prst="rect">
            <a:avLst/>
          </a:prstGeom>
          <a:noFill/>
        </p:spPr>
        <p:txBody>
          <a:bodyPr wrap="square" lIns="73152" tIns="36576" rIns="73152" bIns="36576" anchor="t">
            <a:spAutoFit/>
          </a:bodyPr>
          <a:lstStyle/>
          <a:p>
            <a:pPr algn="l">
              <a:lnSpc>
                <a:spcPct val="120000"/>
              </a:lnSpc>
            </a:pPr>
            <a:r>
              <a:rPr sz="2800" b="1" i="0">
                <a:solidFill>
                  <a:srgbClr val="FFFFFF"/>
                </a:solidFill>
                <a:latin typeface="Segoe UI"/>
              </a:rPr>
              <a:t>Natural language → evidence-based answer</a:t>
            </a:r>
          </a:p>
        </p:txBody>
      </p:sp>
      <p:sp>
        <p:nvSpPr>
          <p:cNvPr id="4" name="Rounded Rectangle 3"/>
          <p:cNvSpPr/>
          <p:nvPr/>
        </p:nvSpPr>
        <p:spPr>
          <a:xfrm>
            <a:off x="548640" y="1280160"/>
            <a:ext cx="5029200" cy="4846320"/>
          </a:xfrm>
          <a:prstGeom prst="roundRect">
            <a:avLst>
              <a:gd name="adj" fmla="val 8000"/>
            </a:avLst>
          </a:prstGeom>
          <a:solidFill>
            <a:srgbClr val="1A1536"/>
          </a:solidFill>
          <a:ln w="15875">
            <a:solidFill>
              <a:srgbClr val="7C5C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13232" y="1389888"/>
            <a:ext cx="4709160" cy="365760"/>
          </a:xfrm>
          <a:prstGeom prst="rect">
            <a:avLst/>
          </a:prstGeom>
          <a:noFill/>
        </p:spPr>
        <p:txBody>
          <a:bodyPr wrap="square" lIns="73152" tIns="36576" rIns="73152" bIns="36576" anchor="t">
            <a:spAutoFit/>
          </a:bodyPr>
          <a:lstStyle/>
          <a:p>
            <a:pPr algn="l">
              <a:lnSpc>
                <a:spcPct val="120000"/>
              </a:lnSpc>
            </a:pPr>
            <a:r>
              <a:rPr sz="1600" b="1" i="0">
                <a:solidFill>
                  <a:srgbClr val="7C5CFF"/>
                </a:solidFill>
                <a:latin typeface="Segoe UI"/>
              </a:rPr>
              <a:t>Why Copilot in VS Code</a:t>
            </a:r>
          </a:p>
        </p:txBody>
      </p:sp>
      <p:sp>
        <p:nvSpPr>
          <p:cNvPr id="6" name="TextBox 5"/>
          <p:cNvSpPr txBox="1"/>
          <p:nvPr/>
        </p:nvSpPr>
        <p:spPr>
          <a:xfrm>
            <a:off x="713232" y="1847088"/>
            <a:ext cx="4709160" cy="4206240"/>
          </a:xfrm>
          <a:prstGeom prst="rect">
            <a:avLst/>
          </a:prstGeom>
          <a:noFill/>
        </p:spPr>
        <p:txBody>
          <a:bodyPr wrap="square" lIns="45720" tIns="27432" rIns="45720" bIns="27432">
            <a:spAutoFit/>
          </a:bodyPr>
          <a:lstStyle/>
          <a:p>
            <a:pPr algn="l">
              <a:lnSpc>
                <a:spcPct val="125000"/>
              </a:lnSpc>
            </a:pPr>
            <a:r>
              <a:rPr sz="1300">
                <a:solidFill>
                  <a:srgbClr val="E6ECF5"/>
                </a:solidFill>
                <a:latin typeface="Segoe UI"/>
              </a:rPr>
              <a:t>• Chat alongside the investigation files</a:t>
            </a:r>
          </a:p>
          <a:p>
            <a:pPr algn="l">
              <a:lnSpc>
                <a:spcPct val="125000"/>
              </a:lnSpc>
            </a:pPr>
            <a:r>
              <a:rPr sz="1300">
                <a:solidFill>
                  <a:srgbClr val="E6ECF5"/>
                </a:solidFill>
                <a:latin typeface="Segoe UI"/>
              </a:rPr>
              <a:t>• Skills auto-detected from your prompt</a:t>
            </a:r>
          </a:p>
          <a:p>
            <a:pPr algn="l">
              <a:lnSpc>
                <a:spcPct val="125000"/>
              </a:lnSpc>
            </a:pPr>
            <a:r>
              <a:rPr sz="1300">
                <a:solidFill>
                  <a:srgbClr val="E6ECF5"/>
                </a:solidFill>
                <a:latin typeface="Segoe UI"/>
              </a:rPr>
              <a:t>• MCP tools called transparently — no glue code</a:t>
            </a:r>
          </a:p>
          <a:p>
            <a:pPr algn="l">
              <a:lnSpc>
                <a:spcPct val="125000"/>
              </a:lnSpc>
            </a:pPr>
            <a:r>
              <a:rPr sz="1300">
                <a:solidFill>
                  <a:srgbClr val="E6ECF5"/>
                </a:solidFill>
                <a:latin typeface="Segoe UI"/>
              </a:rPr>
              <a:t>• Outputs land as files: reports, queries, IOCs</a:t>
            </a:r>
          </a:p>
          <a:p>
            <a:pPr algn="l">
              <a:lnSpc>
                <a:spcPct val="125000"/>
              </a:lnSpc>
            </a:pPr>
            <a:r>
              <a:rPr sz="1300">
                <a:solidFill>
                  <a:srgbClr val="E6ECF5"/>
                </a:solidFill>
                <a:latin typeface="Segoe UI"/>
              </a:rPr>
              <a:t>• Auditable: prompt + response + queries logged</a:t>
            </a:r>
          </a:p>
          <a:p>
            <a:pPr algn="l">
              <a:lnSpc>
                <a:spcPct val="125000"/>
              </a:lnSpc>
            </a:pPr>
            <a:r>
              <a:rPr sz="1300">
                <a:solidFill>
                  <a:srgbClr val="E6ECF5"/>
                </a:solidFill>
                <a:latin typeface="Segoe UI"/>
              </a:rPr>
              <a:t>• Humans review and approve — Copilot drafts</a:t>
            </a:r>
          </a:p>
        </p:txBody>
      </p:sp>
      <p:sp>
        <p:nvSpPr>
          <p:cNvPr id="7" name="Rounded Rectangle 6"/>
          <p:cNvSpPr/>
          <p:nvPr/>
        </p:nvSpPr>
        <p:spPr>
          <a:xfrm>
            <a:off x="5852160" y="1280160"/>
            <a:ext cx="5852160" cy="4846320"/>
          </a:xfrm>
          <a:prstGeom prst="roundRect">
            <a:avLst>
              <a:gd name="adj" fmla="val 4000"/>
            </a:avLst>
          </a:prstGeom>
          <a:solidFill>
            <a:srgbClr val="0A0F1F"/>
          </a:solidFill>
          <a:ln w="9525">
            <a:solidFill>
              <a:srgbClr val="7C5C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89320" y="1371600"/>
            <a:ext cx="5577840" cy="4663440"/>
          </a:xfrm>
          <a:prstGeom prst="rect">
            <a:avLst/>
          </a:prstGeom>
          <a:noFill/>
        </p:spPr>
        <p:txBody>
          <a:bodyPr wrap="square" lIns="45720" tIns="27432" rIns="45720" bIns="27432">
            <a:spAutoFit/>
          </a:bodyPr>
          <a:lstStyle/>
          <a:p>
            <a:pPr>
              <a:lnSpc>
                <a:spcPct val="120000"/>
              </a:lnSpc>
            </a:pPr>
            <a:r>
              <a:rPr sz="1100">
                <a:solidFill>
                  <a:srgbClr val="4CC2FF"/>
                </a:solidFill>
                <a:latin typeface="Cascadia Code"/>
              </a:rPr>
              <a:t>👤  Investigate incident 12345 and tell me</a:t>
            </a:r>
          </a:p>
          <a:p>
            <a:pPr>
              <a:lnSpc>
                <a:spcPct val="120000"/>
              </a:lnSpc>
            </a:pPr>
            <a:r>
              <a:rPr sz="1100">
                <a:solidFill>
                  <a:srgbClr val="4CC2FF"/>
                </a:solidFill>
                <a:latin typeface="Cascadia Code"/>
              </a:rPr>
              <a:t>    if user@contoso.com is compromised.</a:t>
            </a:r>
          </a:p>
          <a:p>
            <a:pPr>
              <a:lnSpc>
                <a:spcPct val="120000"/>
              </a:lnSpc>
            </a:pPr>
            <a:endParaRPr sz="1100">
              <a:solidFill>
                <a:srgbClr val="4CC2FF"/>
              </a:solidFill>
              <a:latin typeface="Cascadia Code"/>
            </a:endParaRPr>
          </a:p>
          <a:p>
            <a:pPr>
              <a:lnSpc>
                <a:spcPct val="120000"/>
              </a:lnSpc>
            </a:pPr>
            <a:r>
              <a:rPr sz="1100">
                <a:solidFill>
                  <a:srgbClr val="7C5CFF"/>
                </a:solidFill>
                <a:latin typeface="Cascadia Code"/>
              </a:rPr>
              <a:t>🤖  Loading skill: incident-investigation</a:t>
            </a:r>
          </a:p>
          <a:p>
            <a:pPr>
              <a:lnSpc>
                <a:spcPct val="120000"/>
              </a:lnSpc>
            </a:pPr>
            <a:r>
              <a:rPr sz="1100">
                <a:solidFill>
                  <a:srgbClr val="3DDC97"/>
                </a:solidFill>
                <a:latin typeface="Cascadia Code"/>
              </a:rPr>
              <a:t>    → ListIncidents(id=12345)</a:t>
            </a:r>
          </a:p>
          <a:p>
            <a:pPr>
              <a:lnSpc>
                <a:spcPct val="120000"/>
              </a:lnSpc>
            </a:pPr>
            <a:r>
              <a:rPr sz="1100">
                <a:solidFill>
                  <a:srgbClr val="3DDC97"/>
                </a:solidFill>
                <a:latin typeface="Cascadia Code"/>
              </a:rPr>
              <a:t>    → SigninLogs | where UPN =~ ...</a:t>
            </a:r>
          </a:p>
          <a:p>
            <a:pPr>
              <a:lnSpc>
                <a:spcPct val="120000"/>
              </a:lnSpc>
            </a:pPr>
            <a:r>
              <a:rPr sz="1100">
                <a:solidFill>
                  <a:srgbClr val="3DDC97"/>
                </a:solidFill>
                <a:latin typeface="Cascadia Code"/>
              </a:rPr>
              <a:t>    → enrich_ips.py 203.0.113.42</a:t>
            </a:r>
          </a:p>
          <a:p>
            <a:pPr>
              <a:lnSpc>
                <a:spcPct val="120000"/>
              </a:lnSpc>
            </a:pPr>
            <a:r>
              <a:rPr sz="1100">
                <a:solidFill>
                  <a:srgbClr val="3DDC97"/>
                </a:solidFill>
                <a:latin typeface="Cascadia Code"/>
              </a:rPr>
              <a:t>    → SecurityAlert ⨝ SecurityIncident</a:t>
            </a:r>
          </a:p>
          <a:p>
            <a:pPr>
              <a:lnSpc>
                <a:spcPct val="120000"/>
              </a:lnSpc>
            </a:pPr>
            <a:endParaRPr sz="1100">
              <a:solidFill>
                <a:srgbClr val="3DDC97"/>
              </a:solidFill>
              <a:latin typeface="Cascadia Code"/>
            </a:endParaRPr>
          </a:p>
          <a:p>
            <a:pPr>
              <a:lnSpc>
                <a:spcPct val="120000"/>
              </a:lnSpc>
            </a:pPr>
            <a:r>
              <a:rPr sz="1100">
                <a:solidFill>
                  <a:srgbClr val="4CC2FF"/>
                </a:solidFill>
                <a:latin typeface="Cascadia Code"/>
              </a:rPr>
              <a:t>📄  reports-private/investigation_user_</a:t>
            </a:r>
          </a:p>
          <a:p>
            <a:pPr>
              <a:lnSpc>
                <a:spcPct val="120000"/>
              </a:lnSpc>
            </a:pPr>
            <a:r>
              <a:rPr sz="1100">
                <a:solidFill>
                  <a:srgbClr val="4CC2FF"/>
                </a:solidFill>
                <a:latin typeface="Cascadia Code"/>
              </a:rPr>
              <a:t>    2026-04-27.{json,html}</a:t>
            </a:r>
          </a:p>
          <a:p>
            <a:pPr>
              <a:lnSpc>
                <a:spcPct val="120000"/>
              </a:lnSpc>
            </a:pPr>
            <a:endParaRPr sz="1100">
              <a:solidFill>
                <a:srgbClr val="4CC2FF"/>
              </a:solidFill>
              <a:latin typeface="Cascadia Code"/>
            </a:endParaRPr>
          </a:p>
          <a:p>
            <a:pPr>
              <a:lnSpc>
                <a:spcPct val="120000"/>
              </a:lnSpc>
            </a:pPr>
            <a:r>
              <a:rPr sz="1100">
                <a:solidFill>
                  <a:srgbClr val="FFB454"/>
                </a:solidFill>
                <a:latin typeface="Cascadia Code"/>
              </a:rPr>
              <a:t>✅  Verdict: confirmed risky sign-in from</a:t>
            </a:r>
          </a:p>
          <a:p>
            <a:pPr>
              <a:lnSpc>
                <a:spcPct val="120000"/>
              </a:lnSpc>
            </a:pPr>
            <a:r>
              <a:rPr sz="1100">
                <a:solidFill>
                  <a:srgbClr val="FFB454"/>
                </a:solidFill>
                <a:latin typeface="Cascadia Code"/>
              </a:rPr>
              <a:t>    new ASN — MFA satisfied, low confidence</a:t>
            </a:r>
          </a:p>
          <a:p>
            <a:pPr>
              <a:lnSpc>
                <a:spcPct val="120000"/>
              </a:lnSpc>
            </a:pPr>
            <a:r>
              <a:rPr sz="1100">
                <a:solidFill>
                  <a:srgbClr val="FFB454"/>
                </a:solidFill>
                <a:latin typeface="Cascadia Code"/>
              </a:rPr>
              <a:t>    — recommend session revoke + watchlist.</a:t>
            </a:r>
          </a:p>
        </p:txBody>
      </p:sp>
      <p:sp>
        <p:nvSpPr>
          <p:cNvPr id="9" name="TextBox 8"/>
          <p:cNvSpPr txBox="1"/>
          <p:nvPr/>
        </p:nvSpPr>
        <p:spPr>
          <a:xfrm>
            <a:off x="548640" y="6537960"/>
            <a:ext cx="11155680" cy="274320"/>
          </a:xfrm>
          <a:prstGeom prst="rect">
            <a:avLst/>
          </a:prstGeom>
          <a:noFill/>
        </p:spPr>
        <p:txBody>
          <a:bodyPr wrap="square" lIns="73152" tIns="36576" rIns="73152" bIns="36576" anchor="t">
            <a:spAutoFit/>
          </a:bodyPr>
          <a:lstStyle/>
          <a:p>
            <a:pPr algn="l">
              <a:lnSpc>
                <a:spcPct val="120000"/>
              </a:lnSpc>
            </a:pPr>
            <a:r>
              <a:rPr sz="1000" b="0" i="0">
                <a:solidFill>
                  <a:srgbClr val="9AA7BD"/>
                </a:solidFill>
                <a:latin typeface="Segoe UI"/>
              </a:rPr>
              <a:t>04 · Copilot Chat in action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B1020"/>
        </a:solidFill>
        <a:effectLst/>
      </p:bgPr>
    </p:bg>
    <p:spTree>
      <p:nvGrpSpPr>
        <p:cNvPr id="1" name=""/>
        <p:cNvGrpSpPr/>
        <p:nvPr/>
      </p:nvGrpSpPr>
      <p:grpSpPr>
        <a:xfrm>
          <a:off x="0" y="0"/>
          <a:ext cx="0" cy="0"/>
          <a:chOff x="0" y="0"/>
          <a:chExt cx="0" cy="0"/>
        </a:xfrm>
      </p:grpSpPr>
      <p:sp>
        <p:nvSpPr>
          <p:cNvPr id="2" name="TextBox 1"/>
          <p:cNvSpPr txBox="1"/>
          <p:nvPr/>
        </p:nvSpPr>
        <p:spPr>
          <a:xfrm>
            <a:off x="548640" y="91440"/>
            <a:ext cx="10972800" cy="274320"/>
          </a:xfrm>
          <a:prstGeom prst="rect">
            <a:avLst/>
          </a:prstGeom>
          <a:noFill/>
        </p:spPr>
        <p:txBody>
          <a:bodyPr wrap="square" lIns="73152" tIns="36576" rIns="73152" bIns="36576" anchor="t">
            <a:spAutoFit/>
          </a:bodyPr>
          <a:lstStyle/>
          <a:p>
            <a:pPr algn="l">
              <a:lnSpc>
                <a:spcPct val="120000"/>
              </a:lnSpc>
            </a:pPr>
            <a:r>
              <a:rPr sz="1100" b="1" i="0">
                <a:solidFill>
                  <a:srgbClr val="3DDC97"/>
                </a:solidFill>
                <a:latin typeface="Segoe UI"/>
              </a:rPr>
              <a:t>WHY IT MATTERS</a:t>
            </a:r>
          </a:p>
        </p:txBody>
      </p:sp>
      <p:sp>
        <p:nvSpPr>
          <p:cNvPr id="3" name="TextBox 2"/>
          <p:cNvSpPr txBox="1"/>
          <p:nvPr/>
        </p:nvSpPr>
        <p:spPr>
          <a:xfrm>
            <a:off x="548640" y="320040"/>
            <a:ext cx="11155680" cy="731520"/>
          </a:xfrm>
          <a:prstGeom prst="rect">
            <a:avLst/>
          </a:prstGeom>
          <a:noFill/>
        </p:spPr>
        <p:txBody>
          <a:bodyPr wrap="square" lIns="73152" tIns="36576" rIns="73152" bIns="36576" anchor="t">
            <a:spAutoFit/>
          </a:bodyPr>
          <a:lstStyle/>
          <a:p>
            <a:pPr algn="l">
              <a:lnSpc>
                <a:spcPct val="120000"/>
              </a:lnSpc>
            </a:pPr>
            <a:r>
              <a:rPr sz="2800" b="1" i="0">
                <a:solidFill>
                  <a:srgbClr val="FFFFFF"/>
                </a:solidFill>
                <a:latin typeface="Segoe UI"/>
              </a:rPr>
              <a:t>Acceleration is real and measurable</a:t>
            </a:r>
          </a:p>
        </p:txBody>
      </p:sp>
      <p:sp>
        <p:nvSpPr>
          <p:cNvPr id="4" name="Rounded Rectangle 3"/>
          <p:cNvSpPr/>
          <p:nvPr/>
        </p:nvSpPr>
        <p:spPr>
          <a:xfrm>
            <a:off x="548640" y="1280160"/>
            <a:ext cx="11155680" cy="457200"/>
          </a:xfrm>
          <a:prstGeom prst="roundRect">
            <a:avLst>
              <a:gd name="adj" fmla="val 3000"/>
            </a:avLst>
          </a:prstGeom>
          <a:solidFill>
            <a:srgbClr val="111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325880"/>
            <a:ext cx="5029200" cy="365760"/>
          </a:xfrm>
          <a:prstGeom prst="rect">
            <a:avLst/>
          </a:prstGeom>
          <a:noFill/>
        </p:spPr>
        <p:txBody>
          <a:bodyPr wrap="square" lIns="73152" tIns="36576" rIns="73152" bIns="36576" anchor="t">
            <a:spAutoFit/>
          </a:bodyPr>
          <a:lstStyle/>
          <a:p>
            <a:pPr algn="l">
              <a:lnSpc>
                <a:spcPct val="120000"/>
              </a:lnSpc>
            </a:pPr>
            <a:r>
              <a:rPr sz="1300" b="1" i="0">
                <a:solidFill>
                  <a:srgbClr val="4CC2FF"/>
                </a:solidFill>
                <a:latin typeface="Segoe UI"/>
              </a:rPr>
              <a:t>Question</a:t>
            </a:r>
          </a:p>
        </p:txBody>
      </p:sp>
      <p:sp>
        <p:nvSpPr>
          <p:cNvPr id="6" name="TextBox 5"/>
          <p:cNvSpPr txBox="1"/>
          <p:nvPr/>
        </p:nvSpPr>
        <p:spPr>
          <a:xfrm>
            <a:off x="5852160" y="1325880"/>
            <a:ext cx="2377440" cy="365760"/>
          </a:xfrm>
          <a:prstGeom prst="rect">
            <a:avLst/>
          </a:prstGeom>
          <a:noFill/>
        </p:spPr>
        <p:txBody>
          <a:bodyPr wrap="square" lIns="73152" tIns="36576" rIns="73152" bIns="36576" anchor="t">
            <a:spAutoFit/>
          </a:bodyPr>
          <a:lstStyle/>
          <a:p>
            <a:pPr algn="l">
              <a:lnSpc>
                <a:spcPct val="120000"/>
              </a:lnSpc>
            </a:pPr>
            <a:r>
              <a:rPr sz="1300" b="1" i="0">
                <a:solidFill>
                  <a:srgbClr val="9AA7BD"/>
                </a:solidFill>
                <a:latin typeface="Segoe UI"/>
              </a:rPr>
              <a:t>Before</a:t>
            </a:r>
          </a:p>
        </p:txBody>
      </p:sp>
      <p:sp>
        <p:nvSpPr>
          <p:cNvPr id="7" name="TextBox 6"/>
          <p:cNvSpPr txBox="1"/>
          <p:nvPr/>
        </p:nvSpPr>
        <p:spPr>
          <a:xfrm>
            <a:off x="8412480" y="1325880"/>
            <a:ext cx="3291840" cy="365760"/>
          </a:xfrm>
          <a:prstGeom prst="rect">
            <a:avLst/>
          </a:prstGeom>
          <a:noFill/>
        </p:spPr>
        <p:txBody>
          <a:bodyPr wrap="square" lIns="73152" tIns="36576" rIns="73152" bIns="36576" anchor="t">
            <a:spAutoFit/>
          </a:bodyPr>
          <a:lstStyle/>
          <a:p>
            <a:pPr algn="l">
              <a:lnSpc>
                <a:spcPct val="120000"/>
              </a:lnSpc>
            </a:pPr>
            <a:r>
              <a:rPr sz="1300" b="1" i="0">
                <a:solidFill>
                  <a:srgbClr val="4CC2FF"/>
                </a:solidFill>
                <a:latin typeface="Segoe UI"/>
              </a:rPr>
              <a:t>With GitHub Copilot + MCP</a:t>
            </a:r>
          </a:p>
        </p:txBody>
      </p:sp>
      <p:sp>
        <p:nvSpPr>
          <p:cNvPr id="8" name="Rounded Rectangle 7"/>
          <p:cNvSpPr/>
          <p:nvPr/>
        </p:nvSpPr>
        <p:spPr>
          <a:xfrm>
            <a:off x="548640" y="1828800"/>
            <a:ext cx="11155680" cy="640080"/>
          </a:xfrm>
          <a:prstGeom prst="roundRect">
            <a:avLst>
              <a:gd name="adj" fmla="val 3000"/>
            </a:avLst>
          </a:prstGeom>
          <a:solidFill>
            <a:srgbClr val="0B1020"/>
          </a:solidFill>
          <a:ln w="6350">
            <a:solidFill>
              <a:srgbClr val="111A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31520" y="1965960"/>
            <a:ext cx="5029200" cy="457200"/>
          </a:xfrm>
          <a:prstGeom prst="rect">
            <a:avLst/>
          </a:prstGeom>
          <a:noFill/>
        </p:spPr>
        <p:txBody>
          <a:bodyPr wrap="square" lIns="73152" tIns="36576" rIns="73152" bIns="36576" anchor="t">
            <a:spAutoFit/>
          </a:bodyPr>
          <a:lstStyle/>
          <a:p>
            <a:pPr algn="l">
              <a:lnSpc>
                <a:spcPct val="120000"/>
              </a:lnSpc>
            </a:pPr>
            <a:r>
              <a:rPr sz="1300" b="0" i="0">
                <a:solidFill>
                  <a:srgbClr val="E6ECF5"/>
                </a:solidFill>
                <a:latin typeface="Segoe UI"/>
              </a:rPr>
              <a:t>Time to first KQL on a new question</a:t>
            </a:r>
          </a:p>
        </p:txBody>
      </p:sp>
      <p:sp>
        <p:nvSpPr>
          <p:cNvPr id="10" name="TextBox 9"/>
          <p:cNvSpPr txBox="1"/>
          <p:nvPr/>
        </p:nvSpPr>
        <p:spPr>
          <a:xfrm>
            <a:off x="5852160" y="1965960"/>
            <a:ext cx="2377440" cy="457200"/>
          </a:xfrm>
          <a:prstGeom prst="rect">
            <a:avLst/>
          </a:prstGeom>
          <a:noFill/>
        </p:spPr>
        <p:txBody>
          <a:bodyPr wrap="square" lIns="73152" tIns="36576" rIns="73152" bIns="36576" anchor="t">
            <a:spAutoFit/>
          </a:bodyPr>
          <a:lstStyle/>
          <a:p>
            <a:pPr algn="l">
              <a:lnSpc>
                <a:spcPct val="120000"/>
              </a:lnSpc>
            </a:pPr>
            <a:r>
              <a:rPr sz="1300" b="1" i="0">
                <a:solidFill>
                  <a:srgbClr val="FF5C7A"/>
                </a:solidFill>
                <a:latin typeface="Segoe UI"/>
              </a:rPr>
              <a:t>10–30 min</a:t>
            </a:r>
          </a:p>
        </p:txBody>
      </p:sp>
      <p:sp>
        <p:nvSpPr>
          <p:cNvPr id="11" name="TextBox 10"/>
          <p:cNvSpPr txBox="1"/>
          <p:nvPr/>
        </p:nvSpPr>
        <p:spPr>
          <a:xfrm>
            <a:off x="8412480" y="1965960"/>
            <a:ext cx="3291840" cy="457200"/>
          </a:xfrm>
          <a:prstGeom prst="rect">
            <a:avLst/>
          </a:prstGeom>
          <a:noFill/>
        </p:spPr>
        <p:txBody>
          <a:bodyPr wrap="square" lIns="73152" tIns="36576" rIns="73152" bIns="36576" anchor="t">
            <a:spAutoFit/>
          </a:bodyPr>
          <a:lstStyle/>
          <a:p>
            <a:pPr algn="l">
              <a:lnSpc>
                <a:spcPct val="120000"/>
              </a:lnSpc>
            </a:pPr>
            <a:r>
              <a:rPr sz="1300" b="1" i="0">
                <a:solidFill>
                  <a:srgbClr val="3DDC97"/>
                </a:solidFill>
                <a:latin typeface="Segoe UI"/>
              </a:rPr>
              <a:t>30–90 sec</a:t>
            </a:r>
          </a:p>
        </p:txBody>
      </p:sp>
      <p:sp>
        <p:nvSpPr>
          <p:cNvPr id="12" name="Rounded Rectangle 11"/>
          <p:cNvSpPr/>
          <p:nvPr/>
        </p:nvSpPr>
        <p:spPr>
          <a:xfrm>
            <a:off x="548640" y="2542032"/>
            <a:ext cx="11155680" cy="640080"/>
          </a:xfrm>
          <a:prstGeom prst="roundRect">
            <a:avLst>
              <a:gd name="adj" fmla="val 3000"/>
            </a:avLst>
          </a:prstGeom>
          <a:solidFill>
            <a:srgbClr val="0B1020"/>
          </a:solidFill>
          <a:ln w="6350">
            <a:solidFill>
              <a:srgbClr val="111A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31520" y="2679192"/>
            <a:ext cx="5029200" cy="457200"/>
          </a:xfrm>
          <a:prstGeom prst="rect">
            <a:avLst/>
          </a:prstGeom>
          <a:noFill/>
        </p:spPr>
        <p:txBody>
          <a:bodyPr wrap="square" lIns="73152" tIns="36576" rIns="73152" bIns="36576" anchor="t">
            <a:spAutoFit/>
          </a:bodyPr>
          <a:lstStyle/>
          <a:p>
            <a:pPr algn="l">
              <a:lnSpc>
                <a:spcPct val="120000"/>
              </a:lnSpc>
            </a:pPr>
            <a:r>
              <a:rPr sz="1300" b="0" i="0">
                <a:solidFill>
                  <a:srgbClr val="E6ECF5"/>
                </a:solidFill>
                <a:latin typeface="Segoe UI"/>
              </a:rPr>
              <a:t>Incident triage (entities + context)</a:t>
            </a:r>
          </a:p>
        </p:txBody>
      </p:sp>
      <p:sp>
        <p:nvSpPr>
          <p:cNvPr id="14" name="TextBox 13"/>
          <p:cNvSpPr txBox="1"/>
          <p:nvPr/>
        </p:nvSpPr>
        <p:spPr>
          <a:xfrm>
            <a:off x="5852160" y="2679192"/>
            <a:ext cx="2377440" cy="457200"/>
          </a:xfrm>
          <a:prstGeom prst="rect">
            <a:avLst/>
          </a:prstGeom>
          <a:noFill/>
        </p:spPr>
        <p:txBody>
          <a:bodyPr wrap="square" lIns="73152" tIns="36576" rIns="73152" bIns="36576" anchor="t">
            <a:spAutoFit/>
          </a:bodyPr>
          <a:lstStyle/>
          <a:p>
            <a:pPr algn="l">
              <a:lnSpc>
                <a:spcPct val="120000"/>
              </a:lnSpc>
            </a:pPr>
            <a:r>
              <a:rPr sz="1300" b="1" i="0">
                <a:solidFill>
                  <a:srgbClr val="FF5C7A"/>
                </a:solidFill>
                <a:latin typeface="Segoe UI"/>
              </a:rPr>
              <a:t>30–60 min</a:t>
            </a:r>
          </a:p>
        </p:txBody>
      </p:sp>
      <p:sp>
        <p:nvSpPr>
          <p:cNvPr id="15" name="TextBox 14"/>
          <p:cNvSpPr txBox="1"/>
          <p:nvPr/>
        </p:nvSpPr>
        <p:spPr>
          <a:xfrm>
            <a:off x="8412480" y="2679192"/>
            <a:ext cx="3291840" cy="457200"/>
          </a:xfrm>
          <a:prstGeom prst="rect">
            <a:avLst/>
          </a:prstGeom>
          <a:noFill/>
        </p:spPr>
        <p:txBody>
          <a:bodyPr wrap="square" lIns="73152" tIns="36576" rIns="73152" bIns="36576" anchor="t">
            <a:spAutoFit/>
          </a:bodyPr>
          <a:lstStyle/>
          <a:p>
            <a:pPr algn="l">
              <a:lnSpc>
                <a:spcPct val="120000"/>
              </a:lnSpc>
            </a:pPr>
            <a:r>
              <a:rPr sz="1300" b="1" i="0">
                <a:solidFill>
                  <a:srgbClr val="3DDC97"/>
                </a:solidFill>
                <a:latin typeface="Segoe UI"/>
              </a:rPr>
              <a:t>5–10 min</a:t>
            </a:r>
          </a:p>
        </p:txBody>
      </p:sp>
      <p:sp>
        <p:nvSpPr>
          <p:cNvPr id="16" name="Rounded Rectangle 15"/>
          <p:cNvSpPr/>
          <p:nvPr/>
        </p:nvSpPr>
        <p:spPr>
          <a:xfrm>
            <a:off x="548640" y="3255264"/>
            <a:ext cx="11155680" cy="640080"/>
          </a:xfrm>
          <a:prstGeom prst="roundRect">
            <a:avLst>
              <a:gd name="adj" fmla="val 3000"/>
            </a:avLst>
          </a:prstGeom>
          <a:solidFill>
            <a:srgbClr val="0B1020"/>
          </a:solidFill>
          <a:ln w="6350">
            <a:solidFill>
              <a:srgbClr val="111A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31520" y="3392424"/>
            <a:ext cx="5029200" cy="457200"/>
          </a:xfrm>
          <a:prstGeom prst="rect">
            <a:avLst/>
          </a:prstGeom>
          <a:noFill/>
        </p:spPr>
        <p:txBody>
          <a:bodyPr wrap="square" lIns="73152" tIns="36576" rIns="73152" bIns="36576" anchor="t">
            <a:spAutoFit/>
          </a:bodyPr>
          <a:lstStyle/>
          <a:p>
            <a:pPr algn="l">
              <a:lnSpc>
                <a:spcPct val="120000"/>
              </a:lnSpc>
            </a:pPr>
            <a:r>
              <a:rPr sz="1300" b="0" i="0">
                <a:solidFill>
                  <a:srgbClr val="E6ECF5"/>
                </a:solidFill>
                <a:latin typeface="Segoe UI"/>
              </a:rPr>
              <a:t>Sigma → Sentinel analytic rule</a:t>
            </a:r>
          </a:p>
        </p:txBody>
      </p:sp>
      <p:sp>
        <p:nvSpPr>
          <p:cNvPr id="18" name="TextBox 17"/>
          <p:cNvSpPr txBox="1"/>
          <p:nvPr/>
        </p:nvSpPr>
        <p:spPr>
          <a:xfrm>
            <a:off x="5852160" y="3392424"/>
            <a:ext cx="2377440" cy="457200"/>
          </a:xfrm>
          <a:prstGeom prst="rect">
            <a:avLst/>
          </a:prstGeom>
          <a:noFill/>
        </p:spPr>
        <p:txBody>
          <a:bodyPr wrap="square" lIns="73152" tIns="36576" rIns="73152" bIns="36576" anchor="t">
            <a:spAutoFit/>
          </a:bodyPr>
          <a:lstStyle/>
          <a:p>
            <a:pPr algn="l">
              <a:lnSpc>
                <a:spcPct val="120000"/>
              </a:lnSpc>
            </a:pPr>
            <a:r>
              <a:rPr sz="1300" b="1" i="0">
                <a:solidFill>
                  <a:srgbClr val="FF5C7A"/>
                </a:solidFill>
                <a:latin typeface="Segoe UI"/>
              </a:rPr>
              <a:t>1–3 hours</a:t>
            </a:r>
          </a:p>
        </p:txBody>
      </p:sp>
      <p:sp>
        <p:nvSpPr>
          <p:cNvPr id="19" name="TextBox 18"/>
          <p:cNvSpPr txBox="1"/>
          <p:nvPr/>
        </p:nvSpPr>
        <p:spPr>
          <a:xfrm>
            <a:off x="8412480" y="3392424"/>
            <a:ext cx="3291840" cy="457200"/>
          </a:xfrm>
          <a:prstGeom prst="rect">
            <a:avLst/>
          </a:prstGeom>
          <a:noFill/>
        </p:spPr>
        <p:txBody>
          <a:bodyPr wrap="square" lIns="73152" tIns="36576" rIns="73152" bIns="36576" anchor="t">
            <a:spAutoFit/>
          </a:bodyPr>
          <a:lstStyle/>
          <a:p>
            <a:pPr algn="l">
              <a:lnSpc>
                <a:spcPct val="120000"/>
              </a:lnSpc>
            </a:pPr>
            <a:r>
              <a:rPr sz="1300" b="1" i="0">
                <a:solidFill>
                  <a:srgbClr val="3DDC97"/>
                </a:solidFill>
                <a:latin typeface="Segoe UI"/>
              </a:rPr>
              <a:t>10–20 min</a:t>
            </a:r>
          </a:p>
        </p:txBody>
      </p:sp>
      <p:sp>
        <p:nvSpPr>
          <p:cNvPr id="20" name="Rounded Rectangle 19"/>
          <p:cNvSpPr/>
          <p:nvPr/>
        </p:nvSpPr>
        <p:spPr>
          <a:xfrm>
            <a:off x="548640" y="3968496"/>
            <a:ext cx="11155680" cy="640080"/>
          </a:xfrm>
          <a:prstGeom prst="roundRect">
            <a:avLst>
              <a:gd name="adj" fmla="val 3000"/>
            </a:avLst>
          </a:prstGeom>
          <a:solidFill>
            <a:srgbClr val="0B1020"/>
          </a:solidFill>
          <a:ln w="6350">
            <a:solidFill>
              <a:srgbClr val="111A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31520" y="4105656"/>
            <a:ext cx="5029200" cy="457200"/>
          </a:xfrm>
          <a:prstGeom prst="rect">
            <a:avLst/>
          </a:prstGeom>
          <a:noFill/>
        </p:spPr>
        <p:txBody>
          <a:bodyPr wrap="square" lIns="73152" tIns="36576" rIns="73152" bIns="36576" anchor="t">
            <a:spAutoFit/>
          </a:bodyPr>
          <a:lstStyle/>
          <a:p>
            <a:pPr algn="l">
              <a:lnSpc>
                <a:spcPct val="120000"/>
              </a:lnSpc>
            </a:pPr>
            <a:r>
              <a:rPr sz="1300" b="0" i="0">
                <a:solidFill>
                  <a:srgbClr val="E6ECF5"/>
                </a:solidFill>
                <a:latin typeface="Segoe UI"/>
              </a:rPr>
              <a:t>Posture / CTEM exec summary</a:t>
            </a:r>
          </a:p>
        </p:txBody>
      </p:sp>
      <p:sp>
        <p:nvSpPr>
          <p:cNvPr id="22" name="TextBox 21"/>
          <p:cNvSpPr txBox="1"/>
          <p:nvPr/>
        </p:nvSpPr>
        <p:spPr>
          <a:xfrm>
            <a:off x="5852160" y="4105656"/>
            <a:ext cx="2377440" cy="457200"/>
          </a:xfrm>
          <a:prstGeom prst="rect">
            <a:avLst/>
          </a:prstGeom>
          <a:noFill/>
        </p:spPr>
        <p:txBody>
          <a:bodyPr wrap="square" lIns="73152" tIns="36576" rIns="73152" bIns="36576" anchor="t">
            <a:spAutoFit/>
          </a:bodyPr>
          <a:lstStyle/>
          <a:p>
            <a:pPr algn="l">
              <a:lnSpc>
                <a:spcPct val="120000"/>
              </a:lnSpc>
            </a:pPr>
            <a:r>
              <a:rPr sz="1300" b="1" i="0">
                <a:solidFill>
                  <a:srgbClr val="FF5C7A"/>
                </a:solidFill>
                <a:latin typeface="Segoe UI"/>
              </a:rPr>
              <a:t>Half day</a:t>
            </a:r>
          </a:p>
        </p:txBody>
      </p:sp>
      <p:sp>
        <p:nvSpPr>
          <p:cNvPr id="23" name="TextBox 22"/>
          <p:cNvSpPr txBox="1"/>
          <p:nvPr/>
        </p:nvSpPr>
        <p:spPr>
          <a:xfrm>
            <a:off x="8412480" y="4105656"/>
            <a:ext cx="3291840" cy="457200"/>
          </a:xfrm>
          <a:prstGeom prst="rect">
            <a:avLst/>
          </a:prstGeom>
          <a:noFill/>
        </p:spPr>
        <p:txBody>
          <a:bodyPr wrap="square" lIns="73152" tIns="36576" rIns="73152" bIns="36576" anchor="t">
            <a:spAutoFit/>
          </a:bodyPr>
          <a:lstStyle/>
          <a:p>
            <a:pPr algn="l">
              <a:lnSpc>
                <a:spcPct val="120000"/>
              </a:lnSpc>
            </a:pPr>
            <a:r>
              <a:rPr sz="1300" b="1" i="0">
                <a:solidFill>
                  <a:srgbClr val="3DDC97"/>
                </a:solidFill>
                <a:latin typeface="Segoe UI"/>
              </a:rPr>
              <a:t>Minutes</a:t>
            </a:r>
          </a:p>
        </p:txBody>
      </p:sp>
      <p:sp>
        <p:nvSpPr>
          <p:cNvPr id="24" name="Rounded Rectangle 23"/>
          <p:cNvSpPr/>
          <p:nvPr/>
        </p:nvSpPr>
        <p:spPr>
          <a:xfrm>
            <a:off x="548640" y="4681728"/>
            <a:ext cx="11155680" cy="640080"/>
          </a:xfrm>
          <a:prstGeom prst="roundRect">
            <a:avLst>
              <a:gd name="adj" fmla="val 3000"/>
            </a:avLst>
          </a:prstGeom>
          <a:solidFill>
            <a:srgbClr val="0B1020"/>
          </a:solidFill>
          <a:ln w="6350">
            <a:solidFill>
              <a:srgbClr val="111A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31520" y="4818888"/>
            <a:ext cx="5029200" cy="457200"/>
          </a:xfrm>
          <a:prstGeom prst="rect">
            <a:avLst/>
          </a:prstGeom>
          <a:noFill/>
        </p:spPr>
        <p:txBody>
          <a:bodyPr wrap="square" lIns="73152" tIns="36576" rIns="73152" bIns="36576" anchor="t">
            <a:spAutoFit/>
          </a:bodyPr>
          <a:lstStyle/>
          <a:p>
            <a:pPr algn="l">
              <a:lnSpc>
                <a:spcPct val="120000"/>
              </a:lnSpc>
            </a:pPr>
            <a:r>
              <a:rPr sz="1300" b="0" i="0">
                <a:solidFill>
                  <a:srgbClr val="E6ECF5"/>
                </a:solidFill>
                <a:latin typeface="Segoe UI"/>
              </a:rPr>
              <a:t>Reproducibility across analysts</a:t>
            </a:r>
          </a:p>
        </p:txBody>
      </p:sp>
      <p:sp>
        <p:nvSpPr>
          <p:cNvPr id="26" name="TextBox 25"/>
          <p:cNvSpPr txBox="1"/>
          <p:nvPr/>
        </p:nvSpPr>
        <p:spPr>
          <a:xfrm>
            <a:off x="5852160" y="4818888"/>
            <a:ext cx="2377440" cy="457200"/>
          </a:xfrm>
          <a:prstGeom prst="rect">
            <a:avLst/>
          </a:prstGeom>
          <a:noFill/>
        </p:spPr>
        <p:txBody>
          <a:bodyPr wrap="square" lIns="73152" tIns="36576" rIns="73152" bIns="36576" anchor="t">
            <a:spAutoFit/>
          </a:bodyPr>
          <a:lstStyle/>
          <a:p>
            <a:pPr algn="l">
              <a:lnSpc>
                <a:spcPct val="120000"/>
              </a:lnSpc>
            </a:pPr>
            <a:r>
              <a:rPr sz="1300" b="1" i="0">
                <a:solidFill>
                  <a:srgbClr val="FF5C7A"/>
                </a:solidFill>
                <a:latin typeface="Segoe UI"/>
              </a:rPr>
              <a:t>Tribal</a:t>
            </a:r>
          </a:p>
        </p:txBody>
      </p:sp>
      <p:sp>
        <p:nvSpPr>
          <p:cNvPr id="27" name="TextBox 26"/>
          <p:cNvSpPr txBox="1"/>
          <p:nvPr/>
        </p:nvSpPr>
        <p:spPr>
          <a:xfrm>
            <a:off x="8412480" y="4818888"/>
            <a:ext cx="3291840" cy="457200"/>
          </a:xfrm>
          <a:prstGeom prst="rect">
            <a:avLst/>
          </a:prstGeom>
          <a:noFill/>
        </p:spPr>
        <p:txBody>
          <a:bodyPr wrap="square" lIns="73152" tIns="36576" rIns="73152" bIns="36576" anchor="t">
            <a:spAutoFit/>
          </a:bodyPr>
          <a:lstStyle/>
          <a:p>
            <a:pPr algn="l">
              <a:lnSpc>
                <a:spcPct val="120000"/>
              </a:lnSpc>
            </a:pPr>
            <a:r>
              <a:rPr sz="1300" b="1" i="0">
                <a:solidFill>
                  <a:srgbClr val="4CC2FF"/>
                </a:solidFill>
                <a:latin typeface="Segoe UI"/>
              </a:rPr>
              <a:t>Codified</a:t>
            </a:r>
          </a:p>
        </p:txBody>
      </p:sp>
      <p:sp>
        <p:nvSpPr>
          <p:cNvPr id="28" name="TextBox 27"/>
          <p:cNvSpPr txBox="1"/>
          <p:nvPr/>
        </p:nvSpPr>
        <p:spPr>
          <a:xfrm>
            <a:off x="548640" y="5852160"/>
            <a:ext cx="11155680" cy="548640"/>
          </a:xfrm>
          <a:prstGeom prst="rect">
            <a:avLst/>
          </a:prstGeom>
          <a:noFill/>
        </p:spPr>
        <p:txBody>
          <a:bodyPr wrap="square" lIns="73152" tIns="36576" rIns="73152" bIns="36576" anchor="t">
            <a:spAutoFit/>
          </a:bodyPr>
          <a:lstStyle/>
          <a:p>
            <a:pPr algn="l">
              <a:lnSpc>
                <a:spcPct val="120000"/>
              </a:lnSpc>
            </a:pPr>
            <a:r>
              <a:rPr sz="1300" b="0" i="0">
                <a:solidFill>
                  <a:srgbClr val="9AA7BD"/>
                </a:solidFill>
                <a:latin typeface="Segoe UI"/>
              </a:rPr>
              <a:t>Numbers vary by environment — the pattern is consistent: </a:t>
            </a:r>
            <a:r>
              <a:rPr sz="1300" b="0" i="1">
                <a:solidFill>
                  <a:srgbClr val="4CC2FF"/>
                </a:solidFill>
                <a:latin typeface="Segoe UI"/>
              </a:rPr>
              <a:t>expertise compounds, </a:t>
            </a:r>
            <a:r>
              <a:rPr sz="1300" b="0" i="0">
                <a:solidFill>
                  <a:srgbClr val="E6ECF5"/>
                </a:solidFill>
                <a:latin typeface="Segoe UI"/>
              </a:rPr>
              <a:t>and what used to require 3 specialists now takes 1 analyst + Copilot.</a:t>
            </a:r>
          </a:p>
        </p:txBody>
      </p:sp>
      <p:sp>
        <p:nvSpPr>
          <p:cNvPr id="29" name="TextBox 28"/>
          <p:cNvSpPr txBox="1"/>
          <p:nvPr/>
        </p:nvSpPr>
        <p:spPr>
          <a:xfrm>
            <a:off x="548640" y="6537960"/>
            <a:ext cx="11155680" cy="274320"/>
          </a:xfrm>
          <a:prstGeom prst="rect">
            <a:avLst/>
          </a:prstGeom>
          <a:noFill/>
        </p:spPr>
        <p:txBody>
          <a:bodyPr wrap="square" lIns="73152" tIns="36576" rIns="73152" bIns="36576" anchor="t">
            <a:spAutoFit/>
          </a:bodyPr>
          <a:lstStyle/>
          <a:p>
            <a:pPr algn="l">
              <a:lnSpc>
                <a:spcPct val="120000"/>
              </a:lnSpc>
            </a:pPr>
            <a:r>
              <a:rPr sz="1000" b="0" i="0">
                <a:solidFill>
                  <a:srgbClr val="9AA7BD"/>
                </a:solidFill>
                <a:latin typeface="Segoe UI"/>
              </a:rPr>
              <a:t>05 · Outcomes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11A33"/>
        </a:solidFill>
        <a:effectLst/>
      </p:bgPr>
    </p:bg>
    <p:spTree>
      <p:nvGrpSpPr>
        <p:cNvPr id="1" name=""/>
        <p:cNvGrpSpPr/>
        <p:nvPr/>
      </p:nvGrpSpPr>
      <p:grpSpPr>
        <a:xfrm>
          <a:off x="0" y="0"/>
          <a:ext cx="0" cy="0"/>
          <a:chOff x="0" y="0"/>
          <a:chExt cx="0" cy="0"/>
        </a:xfrm>
      </p:grpSpPr>
      <p:sp>
        <p:nvSpPr>
          <p:cNvPr id="2" name="TextBox 1"/>
          <p:cNvSpPr txBox="1"/>
          <p:nvPr/>
        </p:nvSpPr>
        <p:spPr>
          <a:xfrm>
            <a:off x="548640" y="91440"/>
            <a:ext cx="10972800" cy="274320"/>
          </a:xfrm>
          <a:prstGeom prst="rect">
            <a:avLst/>
          </a:prstGeom>
          <a:noFill/>
        </p:spPr>
        <p:txBody>
          <a:bodyPr wrap="square" lIns="73152" tIns="36576" rIns="73152" bIns="36576" anchor="t">
            <a:spAutoFit/>
          </a:bodyPr>
          <a:lstStyle/>
          <a:p>
            <a:pPr algn="l">
              <a:lnSpc>
                <a:spcPct val="120000"/>
              </a:lnSpc>
            </a:pPr>
            <a:r>
              <a:rPr sz="1100" b="1" i="0">
                <a:solidFill>
                  <a:srgbClr val="4CC2FF"/>
                </a:solidFill>
                <a:latin typeface="Segoe UI"/>
              </a:rPr>
              <a:t>TAKE IT HOME</a:t>
            </a:r>
          </a:p>
        </p:txBody>
      </p:sp>
      <p:sp>
        <p:nvSpPr>
          <p:cNvPr id="3" name="TextBox 2"/>
          <p:cNvSpPr txBox="1"/>
          <p:nvPr/>
        </p:nvSpPr>
        <p:spPr>
          <a:xfrm>
            <a:off x="548640" y="320040"/>
            <a:ext cx="11155680" cy="731520"/>
          </a:xfrm>
          <a:prstGeom prst="rect">
            <a:avLst/>
          </a:prstGeom>
          <a:noFill/>
        </p:spPr>
        <p:txBody>
          <a:bodyPr wrap="square" lIns="73152" tIns="36576" rIns="73152" bIns="36576" anchor="t">
            <a:spAutoFit/>
          </a:bodyPr>
          <a:lstStyle/>
          <a:p>
            <a:pPr algn="l">
              <a:lnSpc>
                <a:spcPct val="120000"/>
              </a:lnSpc>
            </a:pPr>
            <a:r>
              <a:rPr sz="3200" b="1" i="0">
                <a:solidFill>
                  <a:srgbClr val="FFFFFF"/>
                </a:solidFill>
                <a:latin typeface="Segoe UI"/>
              </a:rPr>
              <a:t>Key takeaways</a:t>
            </a:r>
          </a:p>
        </p:txBody>
      </p:sp>
      <p:sp>
        <p:nvSpPr>
          <p:cNvPr id="4" name="Rectangle 3"/>
          <p:cNvSpPr/>
          <p:nvPr/>
        </p:nvSpPr>
        <p:spPr>
          <a:xfrm>
            <a:off x="548640" y="1463040"/>
            <a:ext cx="109728" cy="868680"/>
          </a:xfrm>
          <a:prstGeom prst="rect">
            <a:avLst/>
          </a:prstGeom>
          <a:solidFill>
            <a:srgbClr val="4CC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1508760"/>
            <a:ext cx="10972800" cy="411480"/>
          </a:xfrm>
          <a:prstGeom prst="rect">
            <a:avLst/>
          </a:prstGeom>
          <a:noFill/>
        </p:spPr>
        <p:txBody>
          <a:bodyPr wrap="square" lIns="73152" tIns="36576" rIns="73152" bIns="36576" anchor="t">
            <a:spAutoFit/>
          </a:bodyPr>
          <a:lstStyle/>
          <a:p>
            <a:pPr algn="l">
              <a:lnSpc>
                <a:spcPct val="120000"/>
              </a:lnSpc>
            </a:pPr>
            <a:r>
              <a:rPr sz="1600" b="1" i="0">
                <a:solidFill>
                  <a:srgbClr val="4CC2FF"/>
                </a:solidFill>
                <a:latin typeface="Segoe UI"/>
              </a:rPr>
              <a:t>The data is already there.</a:t>
            </a:r>
          </a:p>
        </p:txBody>
      </p:sp>
      <p:sp>
        <p:nvSpPr>
          <p:cNvPr id="6" name="TextBox 5"/>
          <p:cNvSpPr txBox="1"/>
          <p:nvPr/>
        </p:nvSpPr>
        <p:spPr>
          <a:xfrm>
            <a:off x="868680" y="1920240"/>
            <a:ext cx="10972800" cy="457200"/>
          </a:xfrm>
          <a:prstGeom prst="rect">
            <a:avLst/>
          </a:prstGeom>
          <a:noFill/>
        </p:spPr>
        <p:txBody>
          <a:bodyPr wrap="square" lIns="73152" tIns="36576" rIns="73152" bIns="36576" anchor="t">
            <a:spAutoFit/>
          </a:bodyPr>
          <a:lstStyle/>
          <a:p>
            <a:pPr algn="l">
              <a:lnSpc>
                <a:spcPct val="120000"/>
              </a:lnSpc>
            </a:pPr>
            <a:r>
              <a:rPr sz="1250" b="0" i="0">
                <a:solidFill>
                  <a:srgbClr val="E6ECF5"/>
                </a:solidFill>
                <a:latin typeface="Segoe UI"/>
              </a:rPr>
              <a:t>Sentinel, Defender XDR, Graph, logs, posture — coverage isn’t the bottleneck.</a:t>
            </a:r>
          </a:p>
        </p:txBody>
      </p:sp>
      <p:sp>
        <p:nvSpPr>
          <p:cNvPr id="7" name="Rectangle 6"/>
          <p:cNvSpPr/>
          <p:nvPr/>
        </p:nvSpPr>
        <p:spPr>
          <a:xfrm>
            <a:off x="548640" y="2423160"/>
            <a:ext cx="109728" cy="868680"/>
          </a:xfrm>
          <a:prstGeom prst="rect">
            <a:avLst/>
          </a:prstGeom>
          <a:solidFill>
            <a:srgbClr val="7C5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68680" y="2468880"/>
            <a:ext cx="10972800" cy="411480"/>
          </a:xfrm>
          <a:prstGeom prst="rect">
            <a:avLst/>
          </a:prstGeom>
          <a:noFill/>
        </p:spPr>
        <p:txBody>
          <a:bodyPr wrap="square" lIns="73152" tIns="36576" rIns="73152" bIns="36576" anchor="t">
            <a:spAutoFit/>
          </a:bodyPr>
          <a:lstStyle/>
          <a:p>
            <a:pPr algn="l">
              <a:lnSpc>
                <a:spcPct val="120000"/>
              </a:lnSpc>
            </a:pPr>
            <a:r>
              <a:rPr sz="1600" b="1" i="0">
                <a:solidFill>
                  <a:srgbClr val="7C5CFF"/>
                </a:solidFill>
                <a:latin typeface="Segoe UI"/>
              </a:rPr>
              <a:t>Questions are the hard part.</a:t>
            </a:r>
          </a:p>
        </p:txBody>
      </p:sp>
      <p:sp>
        <p:nvSpPr>
          <p:cNvPr id="9" name="TextBox 8"/>
          <p:cNvSpPr txBox="1"/>
          <p:nvPr/>
        </p:nvSpPr>
        <p:spPr>
          <a:xfrm>
            <a:off x="868680" y="2880360"/>
            <a:ext cx="10972800" cy="457200"/>
          </a:xfrm>
          <a:prstGeom prst="rect">
            <a:avLst/>
          </a:prstGeom>
          <a:noFill/>
        </p:spPr>
        <p:txBody>
          <a:bodyPr wrap="square" lIns="73152" tIns="36576" rIns="73152" bIns="36576" anchor="t">
            <a:spAutoFit/>
          </a:bodyPr>
          <a:lstStyle/>
          <a:p>
            <a:pPr algn="l">
              <a:lnSpc>
                <a:spcPct val="120000"/>
              </a:lnSpc>
            </a:pPr>
            <a:r>
              <a:rPr sz="1250" b="0" i="0">
                <a:solidFill>
                  <a:srgbClr val="E6ECF5"/>
                </a:solidFill>
                <a:latin typeface="Segoe UI"/>
              </a:rPr>
              <a:t>Personas need different answers; KQL/SDK gymnastics shouldn’t gate them.</a:t>
            </a:r>
          </a:p>
        </p:txBody>
      </p:sp>
      <p:sp>
        <p:nvSpPr>
          <p:cNvPr id="10" name="Rectangle 9"/>
          <p:cNvSpPr/>
          <p:nvPr/>
        </p:nvSpPr>
        <p:spPr>
          <a:xfrm>
            <a:off x="548640" y="3383280"/>
            <a:ext cx="109728" cy="868680"/>
          </a:xfrm>
          <a:prstGeom prst="rect">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68680" y="3429000"/>
            <a:ext cx="10972800" cy="411480"/>
          </a:xfrm>
          <a:prstGeom prst="rect">
            <a:avLst/>
          </a:prstGeom>
          <a:noFill/>
        </p:spPr>
        <p:txBody>
          <a:bodyPr wrap="square" lIns="73152" tIns="36576" rIns="73152" bIns="36576" anchor="t">
            <a:spAutoFit/>
          </a:bodyPr>
          <a:lstStyle/>
          <a:p>
            <a:pPr algn="l">
              <a:lnSpc>
                <a:spcPct val="120000"/>
              </a:lnSpc>
            </a:pPr>
            <a:r>
              <a:rPr sz="1600" b="1" i="0">
                <a:solidFill>
                  <a:srgbClr val="3DDC97"/>
                </a:solidFill>
                <a:latin typeface="Segoe UI"/>
              </a:rPr>
              <a:t>GitHub Copilot turns intent into action.</a:t>
            </a:r>
          </a:p>
        </p:txBody>
      </p:sp>
      <p:sp>
        <p:nvSpPr>
          <p:cNvPr id="12" name="TextBox 11"/>
          <p:cNvSpPr txBox="1"/>
          <p:nvPr/>
        </p:nvSpPr>
        <p:spPr>
          <a:xfrm>
            <a:off x="868680" y="3840480"/>
            <a:ext cx="10972800" cy="457200"/>
          </a:xfrm>
          <a:prstGeom prst="rect">
            <a:avLst/>
          </a:prstGeom>
          <a:noFill/>
        </p:spPr>
        <p:txBody>
          <a:bodyPr wrap="square" lIns="73152" tIns="36576" rIns="73152" bIns="36576" anchor="t">
            <a:spAutoFit/>
          </a:bodyPr>
          <a:lstStyle/>
          <a:p>
            <a:pPr algn="l">
              <a:lnSpc>
                <a:spcPct val="120000"/>
              </a:lnSpc>
            </a:pPr>
            <a:r>
              <a:rPr sz="1250" b="0" i="0">
                <a:solidFill>
                  <a:srgbClr val="E6ECF5"/>
                </a:solidFill>
                <a:latin typeface="Segoe UI"/>
              </a:rPr>
              <a:t>Natural language → query → evidence → report — with auditability.</a:t>
            </a:r>
          </a:p>
        </p:txBody>
      </p:sp>
      <p:sp>
        <p:nvSpPr>
          <p:cNvPr id="13" name="Rectangle 12"/>
          <p:cNvSpPr/>
          <p:nvPr/>
        </p:nvSpPr>
        <p:spPr>
          <a:xfrm>
            <a:off x="548640" y="4343400"/>
            <a:ext cx="109728" cy="868680"/>
          </a:xfrm>
          <a:prstGeom prst="rect">
            <a:avLst/>
          </a:prstGeom>
          <a:solidFill>
            <a:srgbClr val="FFB4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68680" y="4389120"/>
            <a:ext cx="10972800" cy="411480"/>
          </a:xfrm>
          <a:prstGeom prst="rect">
            <a:avLst/>
          </a:prstGeom>
          <a:noFill/>
        </p:spPr>
        <p:txBody>
          <a:bodyPr wrap="square" lIns="73152" tIns="36576" rIns="73152" bIns="36576" anchor="t">
            <a:spAutoFit/>
          </a:bodyPr>
          <a:lstStyle/>
          <a:p>
            <a:pPr algn="l">
              <a:lnSpc>
                <a:spcPct val="120000"/>
              </a:lnSpc>
            </a:pPr>
            <a:r>
              <a:rPr sz="1600" b="1" i="0">
                <a:solidFill>
                  <a:srgbClr val="FFB454"/>
                </a:solidFill>
                <a:latin typeface="Segoe UI"/>
              </a:rPr>
              <a:t>Skills compound expertise.</a:t>
            </a:r>
          </a:p>
        </p:txBody>
      </p:sp>
      <p:sp>
        <p:nvSpPr>
          <p:cNvPr id="15" name="TextBox 14"/>
          <p:cNvSpPr txBox="1"/>
          <p:nvPr/>
        </p:nvSpPr>
        <p:spPr>
          <a:xfrm>
            <a:off x="868680" y="4800600"/>
            <a:ext cx="10972800" cy="457200"/>
          </a:xfrm>
          <a:prstGeom prst="rect">
            <a:avLst/>
          </a:prstGeom>
          <a:noFill/>
        </p:spPr>
        <p:txBody>
          <a:bodyPr wrap="square" lIns="73152" tIns="36576" rIns="73152" bIns="36576" anchor="t">
            <a:spAutoFit/>
          </a:bodyPr>
          <a:lstStyle/>
          <a:p>
            <a:pPr algn="l">
              <a:lnSpc>
                <a:spcPct val="120000"/>
              </a:lnSpc>
            </a:pPr>
            <a:r>
              <a:rPr sz="1250" b="0" i="0">
                <a:solidFill>
                  <a:srgbClr val="E6ECF5"/>
                </a:solidFill>
                <a:latin typeface="Segoe UI"/>
              </a:rPr>
              <a:t>Every investigation makes the next one faster. SOC knowledge becomes code.</a:t>
            </a:r>
          </a:p>
        </p:txBody>
      </p:sp>
      <p:sp>
        <p:nvSpPr>
          <p:cNvPr id="16" name="Rectangle 15"/>
          <p:cNvSpPr/>
          <p:nvPr/>
        </p:nvSpPr>
        <p:spPr>
          <a:xfrm>
            <a:off x="548640" y="5303520"/>
            <a:ext cx="109728" cy="868680"/>
          </a:xfrm>
          <a:prstGeom prst="rect">
            <a:avLst/>
          </a:prstGeom>
          <a:solidFill>
            <a:srgbClr val="FF5C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68680" y="5349240"/>
            <a:ext cx="10972800" cy="411480"/>
          </a:xfrm>
          <a:prstGeom prst="rect">
            <a:avLst/>
          </a:prstGeom>
          <a:noFill/>
        </p:spPr>
        <p:txBody>
          <a:bodyPr wrap="square" lIns="73152" tIns="36576" rIns="73152" bIns="36576" anchor="t">
            <a:spAutoFit/>
          </a:bodyPr>
          <a:lstStyle/>
          <a:p>
            <a:pPr algn="l">
              <a:lnSpc>
                <a:spcPct val="120000"/>
              </a:lnSpc>
            </a:pPr>
            <a:r>
              <a:rPr sz="1600" b="1" i="0">
                <a:solidFill>
                  <a:srgbClr val="FF5C7A"/>
                </a:solidFill>
                <a:latin typeface="Segoe UI"/>
              </a:rPr>
              <a:t>Humans stay in the loop.</a:t>
            </a:r>
          </a:p>
        </p:txBody>
      </p:sp>
      <p:sp>
        <p:nvSpPr>
          <p:cNvPr id="18" name="TextBox 17"/>
          <p:cNvSpPr txBox="1"/>
          <p:nvPr/>
        </p:nvSpPr>
        <p:spPr>
          <a:xfrm>
            <a:off x="868680" y="5760720"/>
            <a:ext cx="10972800" cy="457200"/>
          </a:xfrm>
          <a:prstGeom prst="rect">
            <a:avLst/>
          </a:prstGeom>
          <a:noFill/>
        </p:spPr>
        <p:txBody>
          <a:bodyPr wrap="square" lIns="73152" tIns="36576" rIns="73152" bIns="36576" anchor="t">
            <a:spAutoFit/>
          </a:bodyPr>
          <a:lstStyle/>
          <a:p>
            <a:pPr algn="l">
              <a:lnSpc>
                <a:spcPct val="120000"/>
              </a:lnSpc>
            </a:pPr>
            <a:r>
              <a:rPr sz="1250" b="0" i="0">
                <a:solidFill>
                  <a:srgbClr val="E6ECF5"/>
                </a:solidFill>
                <a:latin typeface="Segoe UI"/>
              </a:rPr>
              <a:t>Copilot does the gathering and drafting. Decisions remain with people.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B1020"/>
        </a:solidFill>
        <a:effectLst/>
      </p:bgPr>
    </p:bg>
    <p:spTree>
      <p:nvGrpSpPr>
        <p:cNvPr id="1" name=""/>
        <p:cNvGrpSpPr/>
        <p:nvPr/>
      </p:nvGrpSpPr>
      <p:grpSpPr>
        <a:xfrm>
          <a:off x="0" y="0"/>
          <a:ext cx="0" cy="0"/>
          <a:chOff x="0" y="0"/>
          <a:chExt cx="0" cy="0"/>
        </a:xfrm>
      </p:grpSpPr>
      <p:sp>
        <p:nvSpPr>
          <p:cNvPr id="2" name="TextBox 1"/>
          <p:cNvSpPr txBox="1"/>
          <p:nvPr/>
        </p:nvSpPr>
        <p:spPr>
          <a:xfrm>
            <a:off x="548640" y="91440"/>
            <a:ext cx="10972800" cy="274320"/>
          </a:xfrm>
          <a:prstGeom prst="rect">
            <a:avLst/>
          </a:prstGeom>
          <a:noFill/>
        </p:spPr>
        <p:txBody>
          <a:bodyPr wrap="square" lIns="73152" tIns="36576" rIns="73152" bIns="36576" anchor="t">
            <a:spAutoFit/>
          </a:bodyPr>
          <a:lstStyle/>
          <a:p>
            <a:pPr algn="l">
              <a:lnSpc>
                <a:spcPct val="120000"/>
              </a:lnSpc>
            </a:pPr>
            <a:r>
              <a:rPr sz="1100" b="1" i="0">
                <a:solidFill>
                  <a:srgbClr val="9AA7BD"/>
                </a:solidFill>
                <a:latin typeface="Segoe UI"/>
              </a:rPr>
              <a:t>ALTERNATIVE · NOT IN VS CODE?</a:t>
            </a:r>
          </a:p>
        </p:txBody>
      </p:sp>
      <p:sp>
        <p:nvSpPr>
          <p:cNvPr id="3" name="TextBox 2"/>
          <p:cNvSpPr txBox="1"/>
          <p:nvPr/>
        </p:nvSpPr>
        <p:spPr>
          <a:xfrm>
            <a:off x="548640" y="320040"/>
            <a:ext cx="11155680" cy="731520"/>
          </a:xfrm>
          <a:prstGeom prst="rect">
            <a:avLst/>
          </a:prstGeom>
          <a:noFill/>
        </p:spPr>
        <p:txBody>
          <a:bodyPr wrap="square" lIns="73152" tIns="36576" rIns="73152" bIns="36576" anchor="t">
            <a:spAutoFit/>
          </a:bodyPr>
          <a:lstStyle/>
          <a:p>
            <a:pPr algn="l">
              <a:lnSpc>
                <a:spcPct val="120000"/>
              </a:lnSpc>
            </a:pPr>
            <a:r>
              <a:rPr sz="2800" b="1" i="0">
                <a:solidFill>
                  <a:srgbClr val="FFFFFF"/>
                </a:solidFill>
                <a:latin typeface="Segoe UI"/>
              </a:rPr>
              <a:t>Same fabric, from the terminal — GitHub CLI</a:t>
            </a:r>
          </a:p>
        </p:txBody>
      </p:sp>
      <p:sp>
        <p:nvSpPr>
          <p:cNvPr id="4" name="Rounded Rectangle 3"/>
          <p:cNvSpPr/>
          <p:nvPr/>
        </p:nvSpPr>
        <p:spPr>
          <a:xfrm>
            <a:off x="548640" y="1280160"/>
            <a:ext cx="5486400" cy="4846320"/>
          </a:xfrm>
          <a:prstGeom prst="roundRect">
            <a:avLst>
              <a:gd name="adj" fmla="val 8000"/>
            </a:avLst>
          </a:prstGeom>
          <a:solidFill>
            <a:srgbClr val="1A1536"/>
          </a:solidFill>
          <a:ln w="15875">
            <a:solidFill>
              <a:srgbClr val="7C5C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13232" y="1389888"/>
            <a:ext cx="5166360" cy="365760"/>
          </a:xfrm>
          <a:prstGeom prst="rect">
            <a:avLst/>
          </a:prstGeom>
          <a:noFill/>
        </p:spPr>
        <p:txBody>
          <a:bodyPr wrap="square" lIns="73152" tIns="36576" rIns="73152" bIns="36576" anchor="t">
            <a:spAutoFit/>
          </a:bodyPr>
          <a:lstStyle/>
          <a:p>
            <a:pPr algn="l">
              <a:lnSpc>
                <a:spcPct val="120000"/>
              </a:lnSpc>
            </a:pPr>
            <a:r>
              <a:rPr sz="1600" b="1" i="0">
                <a:solidFill>
                  <a:srgbClr val="7C5CFF"/>
                </a:solidFill>
                <a:latin typeface="Segoe UI"/>
              </a:rPr>
              <a:t>When VS Code isn't your home</a:t>
            </a:r>
          </a:p>
        </p:txBody>
      </p:sp>
      <p:sp>
        <p:nvSpPr>
          <p:cNvPr id="6" name="TextBox 5"/>
          <p:cNvSpPr txBox="1"/>
          <p:nvPr/>
        </p:nvSpPr>
        <p:spPr>
          <a:xfrm>
            <a:off x="713232" y="1847088"/>
            <a:ext cx="5166360" cy="4206240"/>
          </a:xfrm>
          <a:prstGeom prst="rect">
            <a:avLst/>
          </a:prstGeom>
          <a:noFill/>
        </p:spPr>
        <p:txBody>
          <a:bodyPr wrap="square" lIns="45720" tIns="27432" rIns="45720" bIns="27432">
            <a:spAutoFit/>
          </a:bodyPr>
          <a:lstStyle/>
          <a:p>
            <a:pPr algn="l">
              <a:lnSpc>
                <a:spcPct val="125000"/>
              </a:lnSpc>
            </a:pPr>
            <a:r>
              <a:rPr sz="1300">
                <a:solidFill>
                  <a:srgbClr val="E6ECF5"/>
                </a:solidFill>
                <a:latin typeface="Segoe UI"/>
              </a:rPr>
              <a:t>• Some analysts live in the terminal — that's fine</a:t>
            </a:r>
          </a:p>
          <a:p>
            <a:pPr algn="l">
              <a:lnSpc>
                <a:spcPct val="125000"/>
              </a:lnSpc>
            </a:pPr>
            <a:r>
              <a:rPr sz="1300">
                <a:solidFill>
                  <a:srgbClr val="E6ECF5"/>
                </a:solidFill>
                <a:latin typeface="Segoe UI"/>
              </a:rPr>
              <a:t>• GitHub CLI brings Copilot to the shell</a:t>
            </a:r>
          </a:p>
          <a:p>
            <a:pPr algn="l">
              <a:lnSpc>
                <a:spcPct val="125000"/>
              </a:lnSpc>
            </a:pPr>
            <a:r>
              <a:rPr sz="1300">
                <a:solidFill>
                  <a:srgbClr val="E6ECF5"/>
                </a:solidFill>
                <a:latin typeface="Segoe UI"/>
              </a:rPr>
              <a:t>• gh copilot suggest — turn questions into commands</a:t>
            </a:r>
          </a:p>
          <a:p>
            <a:pPr algn="l">
              <a:lnSpc>
                <a:spcPct val="125000"/>
              </a:lnSpc>
            </a:pPr>
            <a:r>
              <a:rPr sz="1300">
                <a:solidFill>
                  <a:srgbClr val="E6ECF5"/>
                </a:solidFill>
                <a:latin typeface="Segoe UI"/>
              </a:rPr>
              <a:t>• gh copilot explain — break down a command</a:t>
            </a:r>
          </a:p>
          <a:p>
            <a:pPr algn="l">
              <a:lnSpc>
                <a:spcPct val="125000"/>
              </a:lnSpc>
            </a:pPr>
            <a:r>
              <a:rPr sz="1300">
                <a:solidFill>
                  <a:srgbClr val="E6ECF5"/>
                </a:solidFill>
                <a:latin typeface="Segoe UI"/>
              </a:rPr>
              <a:t>• Pairs naturally with az, kubectl, jq, gh api</a:t>
            </a:r>
          </a:p>
          <a:p>
            <a:pPr algn="l">
              <a:lnSpc>
                <a:spcPct val="125000"/>
              </a:lnSpc>
            </a:pPr>
            <a:r>
              <a:rPr sz="1300">
                <a:solidFill>
                  <a:srgbClr val="E6ECF5"/>
                </a:solidFill>
                <a:latin typeface="Segoe UI"/>
              </a:rPr>
              <a:t>• Repeatable: paste into a runbook or pipeline</a:t>
            </a:r>
          </a:p>
          <a:p>
            <a:pPr algn="l">
              <a:lnSpc>
                <a:spcPct val="125000"/>
              </a:lnSpc>
            </a:pPr>
            <a:r>
              <a:rPr sz="1300">
                <a:solidFill>
                  <a:srgbClr val="E6ECF5"/>
                </a:solidFill>
                <a:latin typeface="Segoe UI"/>
              </a:rPr>
              <a:t>• Same intent → action philosophy, different surface</a:t>
            </a:r>
          </a:p>
        </p:txBody>
      </p:sp>
      <p:sp>
        <p:nvSpPr>
          <p:cNvPr id="7" name="Rounded Rectangle 6"/>
          <p:cNvSpPr/>
          <p:nvPr/>
        </p:nvSpPr>
        <p:spPr>
          <a:xfrm>
            <a:off x="6309360" y="1280160"/>
            <a:ext cx="5394960" cy="4846320"/>
          </a:xfrm>
          <a:prstGeom prst="roundRect">
            <a:avLst>
              <a:gd name="adj" fmla="val 4000"/>
            </a:avLst>
          </a:prstGeom>
          <a:solidFill>
            <a:srgbClr val="0A0F1F"/>
          </a:solidFill>
          <a:ln w="9525">
            <a:solidFill>
              <a:srgbClr val="7C5C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46520" y="1371600"/>
            <a:ext cx="5120640" cy="4663440"/>
          </a:xfrm>
          <a:prstGeom prst="rect">
            <a:avLst/>
          </a:prstGeom>
          <a:noFill/>
        </p:spPr>
        <p:txBody>
          <a:bodyPr wrap="square" lIns="45720" tIns="27432" rIns="45720" bIns="27432">
            <a:spAutoFit/>
          </a:bodyPr>
          <a:lstStyle/>
          <a:p>
            <a:pPr>
              <a:lnSpc>
                <a:spcPct val="120000"/>
              </a:lnSpc>
            </a:pPr>
            <a:r>
              <a:rPr sz="1100">
                <a:solidFill>
                  <a:srgbClr val="4CC2FF"/>
                </a:solidFill>
                <a:latin typeface="Cascadia Code"/>
              </a:rPr>
              <a:t>$ gh copilot suggest \</a:t>
            </a:r>
          </a:p>
          <a:p>
            <a:pPr>
              <a:lnSpc>
                <a:spcPct val="120000"/>
              </a:lnSpc>
            </a:pPr>
            <a:r>
              <a:rPr sz="1100">
                <a:solidFill>
                  <a:srgbClr val="E6ECF5"/>
                </a:solidFill>
                <a:latin typeface="Cascadia Code"/>
              </a:rPr>
              <a:t>    "list closed Sentinel incidents</a:t>
            </a:r>
          </a:p>
          <a:p>
            <a:pPr>
              <a:lnSpc>
                <a:spcPct val="120000"/>
              </a:lnSpc>
            </a:pPr>
            <a:r>
              <a:rPr sz="1100">
                <a:solidFill>
                  <a:srgbClr val="E6ECF5"/>
                </a:solidFill>
                <a:latin typeface="Cascadia Code"/>
              </a:rPr>
              <a:t>     this week"</a:t>
            </a:r>
          </a:p>
          <a:p>
            <a:pPr>
              <a:lnSpc>
                <a:spcPct val="120000"/>
              </a:lnSpc>
            </a:pPr>
            <a:endParaRPr sz="1100">
              <a:solidFill>
                <a:srgbClr val="E6ECF5"/>
              </a:solidFill>
              <a:latin typeface="Cascadia Code"/>
            </a:endParaRPr>
          </a:p>
          <a:p>
            <a:pPr>
              <a:lnSpc>
                <a:spcPct val="120000"/>
              </a:lnSpc>
            </a:pPr>
            <a:r>
              <a:rPr sz="1100">
                <a:solidFill>
                  <a:srgbClr val="3DDC97"/>
                </a:solidFill>
                <a:latin typeface="Cascadia Code"/>
              </a:rPr>
              <a:t>→ az sentinel incident list \</a:t>
            </a:r>
          </a:p>
          <a:p>
            <a:pPr>
              <a:lnSpc>
                <a:spcPct val="120000"/>
              </a:lnSpc>
            </a:pPr>
            <a:r>
              <a:rPr sz="1100">
                <a:solidFill>
                  <a:srgbClr val="E6ECF5"/>
                </a:solidFill>
                <a:latin typeface="Cascadia Code"/>
              </a:rPr>
              <a:t>    --resource-group rg-soc \</a:t>
            </a:r>
          </a:p>
          <a:p>
            <a:pPr>
              <a:lnSpc>
                <a:spcPct val="120000"/>
              </a:lnSpc>
            </a:pPr>
            <a:r>
              <a:rPr sz="1100">
                <a:solidFill>
                  <a:srgbClr val="E6ECF5"/>
                </a:solidFill>
                <a:latin typeface="Cascadia Code"/>
              </a:rPr>
              <a:t>    --workspace-name &lt;ws&gt; \</a:t>
            </a:r>
          </a:p>
          <a:p>
            <a:pPr>
              <a:lnSpc>
                <a:spcPct val="120000"/>
              </a:lnSpc>
            </a:pPr>
            <a:r>
              <a:rPr sz="1100">
                <a:solidFill>
                  <a:srgbClr val="E6ECF5"/>
                </a:solidFill>
                <a:latin typeface="Cascadia Code"/>
              </a:rPr>
              <a:t>    --filter "status eq 'Closed'"</a:t>
            </a:r>
          </a:p>
          <a:p>
            <a:pPr>
              <a:lnSpc>
                <a:spcPct val="120000"/>
              </a:lnSpc>
            </a:pPr>
            <a:endParaRPr sz="1100">
              <a:solidFill>
                <a:srgbClr val="E6ECF5"/>
              </a:solidFill>
              <a:latin typeface="Cascadia Code"/>
            </a:endParaRPr>
          </a:p>
          <a:p>
            <a:pPr>
              <a:lnSpc>
                <a:spcPct val="120000"/>
              </a:lnSpc>
            </a:pPr>
            <a:r>
              <a:rPr sz="1100">
                <a:solidFill>
                  <a:srgbClr val="4CC2FF"/>
                </a:solidFill>
                <a:latin typeface="Cascadia Code"/>
              </a:rPr>
              <a:t>$ gh copilot explain \</a:t>
            </a:r>
          </a:p>
          <a:p>
            <a:pPr>
              <a:lnSpc>
                <a:spcPct val="120000"/>
              </a:lnSpc>
            </a:pPr>
            <a:r>
              <a:rPr sz="1100">
                <a:solidFill>
                  <a:srgbClr val="E6ECF5"/>
                </a:solidFill>
                <a:latin typeface="Cascadia Code"/>
              </a:rPr>
              <a:t>    "az rest --method post …"</a:t>
            </a:r>
          </a:p>
          <a:p>
            <a:pPr>
              <a:lnSpc>
                <a:spcPct val="120000"/>
              </a:lnSpc>
            </a:pPr>
            <a:r>
              <a:rPr sz="1100">
                <a:solidFill>
                  <a:srgbClr val="9AA7BD"/>
                </a:solidFill>
                <a:latin typeface="Cascadia Code"/>
              </a:rPr>
              <a:t>→ plain-language walkthrough</a:t>
            </a:r>
          </a:p>
        </p:txBody>
      </p:sp>
      <p:sp>
        <p:nvSpPr>
          <p:cNvPr id="9" name="TextBox 8"/>
          <p:cNvSpPr txBox="1"/>
          <p:nvPr/>
        </p:nvSpPr>
        <p:spPr>
          <a:xfrm>
            <a:off x="548640" y="6537960"/>
            <a:ext cx="11155680" cy="274320"/>
          </a:xfrm>
          <a:prstGeom prst="rect">
            <a:avLst/>
          </a:prstGeom>
          <a:noFill/>
        </p:spPr>
        <p:txBody>
          <a:bodyPr wrap="square" lIns="73152" tIns="36576" rIns="73152" bIns="36576" anchor="t">
            <a:spAutoFit/>
          </a:bodyPr>
          <a:lstStyle/>
          <a:p>
            <a:pPr algn="l">
              <a:lnSpc>
                <a:spcPct val="120000"/>
              </a:lnSpc>
            </a:pPr>
            <a:r>
              <a:rPr sz="1000" b="0" i="0">
                <a:solidFill>
                  <a:srgbClr val="9AA7BD"/>
                </a:solidFill>
                <a:latin typeface="Segoe UI"/>
              </a:rPr>
              <a:t>Bonus · gh CLI as a terminal-first alternative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B1020"/>
        </a:solidFill>
        <a:effectLst/>
      </p:bgPr>
    </p:bg>
    <p:spTree>
      <p:nvGrpSpPr>
        <p:cNvPr id="1" name=""/>
        <p:cNvGrpSpPr/>
        <p:nvPr/>
      </p:nvGrpSpPr>
      <p:grpSpPr>
        <a:xfrm>
          <a:off x="0" y="0"/>
          <a:ext cx="0" cy="0"/>
          <a:chOff x="0" y="0"/>
          <a:chExt cx="0" cy="0"/>
        </a:xfrm>
      </p:grpSpPr>
      <p:sp>
        <p:nvSpPr>
          <p:cNvPr id="2" name="Oval 1"/>
          <p:cNvSpPr/>
          <p:nvPr/>
        </p:nvSpPr>
        <p:spPr>
          <a:xfrm>
            <a:off x="-1828800" y="3657600"/>
            <a:ext cx="6400800" cy="6400800"/>
          </a:xfrm>
          <a:prstGeom prst="ellipse">
            <a:avLst/>
          </a:prstGeom>
          <a:solidFill>
            <a:srgbClr val="7C5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8229600" y="-1828800"/>
            <a:ext cx="6400800" cy="6400800"/>
          </a:xfrm>
          <a:prstGeom prst="ellipse">
            <a:avLst/>
          </a:prstGeom>
          <a:solidFill>
            <a:srgbClr val="4CC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2011680"/>
            <a:ext cx="10972800" cy="1280160"/>
          </a:xfrm>
          <a:prstGeom prst="rect">
            <a:avLst/>
          </a:prstGeom>
          <a:noFill/>
        </p:spPr>
        <p:txBody>
          <a:bodyPr wrap="square" lIns="73152" tIns="36576" rIns="73152" bIns="36576" anchor="t">
            <a:spAutoFit/>
          </a:bodyPr>
          <a:lstStyle/>
          <a:p>
            <a:pPr algn="l">
              <a:lnSpc>
                <a:spcPct val="110000"/>
              </a:lnSpc>
            </a:pPr>
            <a:r>
              <a:rPr sz="4800" b="1" i="0">
                <a:solidFill>
                  <a:srgbClr val="FFFFFF"/>
                </a:solidFill>
                <a:latin typeface="Segoe UI"/>
              </a:rPr>
              <a:t>Stop opening tabs.
</a:t>
            </a:r>
            <a:r>
              <a:rPr sz="4800" b="1" i="0">
                <a:solidFill>
                  <a:srgbClr val="4CC2FF"/>
                </a:solidFill>
                <a:latin typeface="Segoe UI"/>
              </a:rPr>
              <a:t>Start asking questions.</a:t>
            </a:r>
          </a:p>
        </p:txBody>
      </p:sp>
      <p:sp>
        <p:nvSpPr>
          <p:cNvPr id="5" name="TextBox 4"/>
          <p:cNvSpPr txBox="1"/>
          <p:nvPr/>
        </p:nvSpPr>
        <p:spPr>
          <a:xfrm>
            <a:off x="640080" y="4206240"/>
            <a:ext cx="10972800" cy="548640"/>
          </a:xfrm>
          <a:prstGeom prst="rect">
            <a:avLst/>
          </a:prstGeom>
          <a:noFill/>
        </p:spPr>
        <p:txBody>
          <a:bodyPr wrap="square" lIns="73152" tIns="36576" rIns="73152" bIns="36576" anchor="t">
            <a:spAutoFit/>
          </a:bodyPr>
          <a:lstStyle/>
          <a:p>
            <a:pPr algn="l">
              <a:lnSpc>
                <a:spcPct val="120000"/>
              </a:lnSpc>
            </a:pPr>
            <a:r>
              <a:rPr sz="2200" b="0" i="1">
                <a:solidFill>
                  <a:srgbClr val="7C5CFF"/>
                </a:solidFill>
                <a:latin typeface="Segoe UI"/>
              </a:rPr>
              <a:t>GitHub Copilot + MCP + Skills = the SOC's new fabric.</a:t>
            </a:r>
          </a:p>
        </p:txBody>
      </p:sp>
      <p:sp>
        <p:nvSpPr>
          <p:cNvPr id="6" name="TextBox 5"/>
          <p:cNvSpPr txBox="1"/>
          <p:nvPr/>
        </p:nvSpPr>
        <p:spPr>
          <a:xfrm>
            <a:off x="640080" y="5120640"/>
            <a:ext cx="10972800" cy="548640"/>
          </a:xfrm>
          <a:prstGeom prst="rect">
            <a:avLst/>
          </a:prstGeom>
          <a:noFill/>
        </p:spPr>
        <p:txBody>
          <a:bodyPr wrap="square" lIns="73152" tIns="36576" rIns="73152" bIns="36576" anchor="t">
            <a:spAutoFit/>
          </a:bodyPr>
          <a:lstStyle/>
          <a:p>
            <a:pPr algn="l">
              <a:lnSpc>
                <a:spcPct val="120000"/>
              </a:lnSpc>
            </a:pPr>
            <a:r>
              <a:rPr sz="1400" b="0" i="0">
                <a:solidFill>
                  <a:srgbClr val="9AA7BD"/>
                </a:solidFill>
                <a:latin typeface="Cascadia Code"/>
              </a:rPr>
              <a:t>CyberProbe — open source · MIT</a:t>
            </a:r>
          </a:p>
        </p:txBody>
      </p:sp>
      <p:sp>
        <p:nvSpPr>
          <p:cNvPr id="7" name="TextBox 6"/>
          <p:cNvSpPr txBox="1"/>
          <p:nvPr/>
        </p:nvSpPr>
        <p:spPr>
          <a:xfrm>
            <a:off x="640080" y="6492240"/>
            <a:ext cx="10972800" cy="274320"/>
          </a:xfrm>
          <a:prstGeom prst="rect">
            <a:avLst/>
          </a:prstGeom>
          <a:noFill/>
        </p:spPr>
        <p:txBody>
          <a:bodyPr wrap="square" lIns="73152" tIns="36576" rIns="73152" bIns="36576" anchor="t">
            <a:spAutoFit/>
          </a:bodyPr>
          <a:lstStyle/>
          <a:p>
            <a:pPr algn="l">
              <a:lnSpc>
                <a:spcPct val="120000"/>
              </a:lnSpc>
            </a:pPr>
            <a:r>
              <a:rPr sz="1000" b="0" i="0">
                <a:solidFill>
                  <a:srgbClr val="9AA7BD"/>
                </a:solidFill>
                <a:latin typeface="Segoe UI"/>
              </a:rPr>
              <a:t>Olivier Charron · 2026-04-27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2531</TotalTime>
  <Words>2802</Words>
  <Application>Microsoft Office PowerPoint</Application>
  <PresentationFormat>Widescreen</PresentationFormat>
  <Paragraphs>335</Paragraphs>
  <Slides>11</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Cascadia Code</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Olivier Charron</cp:lastModifiedBy>
  <cp:revision>2</cp:revision>
  <dcterms:created xsi:type="dcterms:W3CDTF">2013-01-27T09:14:16Z</dcterms:created>
  <dcterms:modified xsi:type="dcterms:W3CDTF">2026-04-30T13:04:18Z</dcterms:modified>
  <cp:category/>
</cp:coreProperties>
</file>